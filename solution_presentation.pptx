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20.0</c:v>
                </c:pt>
                <c:pt idx="1">
                  <c:v>16.666700000000002</c:v>
                </c:pt>
                <c:pt idx="2">
                  <c:v>10.0</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16.7%</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0.274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"547.01,289.62"</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Where it breaks, not just how good it is</a:t>
            </a:r>
          </a:p>
        </p:txBody>
      </p:sp>
      <p:sp>
        <p:nvSpPr>
          <p:cNvPr id="21" name="TextBox 20"/>
          <p:cNvSpPr txBox="1"/>
          <p:nvPr/>
        </p:nvSpPr>
        <p:spPr>
          <a:xfrm>
            <a:off x="6583680" y="3776472"/>
            <a:ext cx="4754880" cy="365760"/>
          </a:xfrm>
          <a:prstGeom prst="rect">
            <a:avLst/>
          </a:prstGeom>
          <a:noFill/>
        </p:spPr>
        <p:txBody>
          <a:bodyPr wrap="square" lIns="0" rIns="0" tIns="0" bIns="0" anchor="t">
            <a:spAutoFit/>
          </a:bodyPr>
          <a:lstStyle/>
          <a:p>
            <a:pPr algn="l"/>
            <a:r>
              <a:rPr sz="950" b="0" i="0">
                <a:solidFill>
                  <a:srgbClr val="5A6B78"/>
                </a:solidFill>
                <a:latin typeface="Calibri"/>
              </a:rPr>
              <a:t>The released test data is stated to use parameters we have not seen, so each axis is swept PAST the specified envelope. Validation only — nothing is tuned on these.</a:t>
            </a:r>
          </a:p>
        </p:txBody>
      </p:sp>
      <p:graphicFrame>
        <p:nvGraphicFramePr>
          <p:cNvPr id="22" name="Table 21"/>
          <p:cNvGraphicFramePr>
            <a:graphicFrameLocks noGrp="1"/>
          </p:cNvGraphicFramePr>
          <p:nvPr/>
        </p:nvGraphicFramePr>
        <p:xfrm>
          <a:off x="6583680" y="4224528"/>
          <a:ext cx="4754880" cy="1371600"/>
        </p:xfrm>
        <a:graphic>
          <a:graphicData uri="http://schemas.openxmlformats.org/drawingml/2006/table">
            <a:tbl>
              <a:tblPr firstRow="1" bandRow="1">
                <a:tableStyleId>{5C22544A-7EE6-4342-B048-85BDC9FD1C3A}</a:tableStyleId>
              </a:tblPr>
              <a:tblGrid>
                <a:gridCol w="1371600"/>
                <a:gridCol w="2011680"/>
                <a:gridCol w="1371600"/>
              </a:tblGrid>
              <a:tr h="274320">
                <a:tc>
                  <a:txBody>
                    <a:bodyPr wrap="square"/>
                    <a:lstStyle/>
                    <a:p>
                      <a:pPr algn="l"/>
                      <a:r>
                        <a:rPr sz="1050" b="1">
                          <a:solidFill>
                            <a:srgbClr val="FFFFFF"/>
                          </a:solidFill>
                          <a:latin typeface="Calibri"/>
                        </a:rPr>
                        <a:t>Stress axis</a:t>
                      </a:r>
                    </a:p>
                  </a:txBody>
                  <a:tcPr marL="54864" marR="54864" marT="18288" marB="18288" anchor="ctr">
                    <a:solidFill>
                      <a:srgbClr val="1B3A50"/>
                    </a:solidFill>
                  </a:tcPr>
                </a:tc>
                <a:tc>
                  <a:txBody>
                    <a:bodyPr wrap="square"/>
                    <a:lstStyle/>
                    <a:p>
                      <a:pPr algn="ctr"/>
                      <a:r>
                        <a:rPr sz="1050" b="1">
                          <a:solidFill>
                            <a:srgbClr val="FFFFFF"/>
                          </a:solidFill>
                          <a:latin typeface="Calibri"/>
                        </a:rPr>
                        <a:t>Worst point tested</a:t>
                      </a:r>
                    </a:p>
                  </a:txBody>
                  <a:tcPr marL="54864" marR="54864" marT="18288" marB="18288" anchor="ctr">
                    <a:solidFill>
                      <a:srgbClr val="1B3A50"/>
                    </a:solidFill>
                  </a:tcPr>
                </a:tc>
                <a:tc>
                  <a:txBody>
                    <a:bodyPr wrap="square"/>
                    <a:lstStyle/>
                    <a:p>
                      <a:pPr algn="ctr"/>
                      <a:r>
                        <a:rPr sz="1050" b="1">
                          <a:solidFill>
                            <a:srgbClr val="FFFFFF"/>
                          </a:solidFill>
                          <a:latin typeface="Calibri"/>
                        </a:rPr>
                        <a:t>Mis-lock</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FFFFFF"/>
                    </a:solidFill>
                  </a:tcPr>
                </a:tc>
                <a:tc>
                  <a:txBody>
                    <a:bodyPr wrap="square"/>
                    <a:lstStyle/>
                    <a:p>
                      <a:pPr algn="ctr"/>
                      <a:r>
                        <a:rPr sz="1050" b="0">
                          <a:solidFill>
                            <a:srgbClr val="35424D"/>
                          </a:solidFill>
                          <a:latin typeface="Calibri"/>
                        </a:rPr>
                        <a:t>dose 100</a:t>
                      </a:r>
                    </a:p>
                  </a:txBody>
                  <a:tcPr marL="54864" marR="54864" marT="18288" marB="18288" anchor="ctr">
                    <a:solidFill>
                      <a:srgbClr val="FFFFFF"/>
                    </a:solidFill>
                  </a:tcPr>
                </a:tc>
                <a:tc>
                  <a:txBody>
                    <a:bodyPr wrap="square"/>
                    <a:lstStyle/>
                    <a:p>
                      <a:pPr algn="ctr"/>
                      <a:r>
                        <a:rPr sz="1050" b="0">
                          <a:solidFill>
                            <a:srgbClr val="35424D"/>
                          </a:solidFill>
                          <a:latin typeface="Calibri"/>
                        </a:rPr>
                        <a:t>23.3%</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ECF1F4"/>
                    </a:solidFill>
                  </a:tcPr>
                </a:tc>
                <a:tc>
                  <a:txBody>
                    <a:bodyPr wrap="square"/>
                    <a:lstStyle/>
                    <a:p>
                      <a:pPr algn="ctr"/>
                      <a:r>
                        <a:rPr sz="1050" b="0">
                          <a:solidFill>
                            <a:srgbClr val="35424D"/>
                          </a:solidFill>
                          <a:latin typeface="Calibri"/>
                        </a:rPr>
                        <a:t>sigma 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scale</a:t>
                      </a:r>
                    </a:p>
                  </a:txBody>
                  <a:tcPr marL="54864" marR="54864" marT="18288" marB="18288" anchor="ctr">
                    <a:solidFill>
                      <a:srgbClr val="FFFFFF"/>
                    </a:solidFill>
                  </a:tcPr>
                </a:tc>
                <a:tc>
                  <a:txBody>
                    <a:bodyPr wrap="square"/>
                    <a:lstStyle/>
                    <a:p>
                      <a:pPr algn="ctr"/>
                      <a:r>
                        <a:rPr sz="1050" b="0">
                          <a:solidFill>
                            <a:srgbClr val="35424D"/>
                          </a:solidFill>
                          <a:latin typeface="Calibri"/>
                        </a:rPr>
                        <a:t>8-12:1</a:t>
                      </a:r>
                    </a:p>
                  </a:txBody>
                  <a:tcPr marL="54864" marR="54864" marT="18288" marB="18288" anchor="ctr">
                    <a:solidFill>
                      <a:srgbClr val="FFFFFF"/>
                    </a:solidFill>
                  </a:tcPr>
                </a:tc>
                <a:tc>
                  <a:txBody>
                    <a:bodyPr wrap="square"/>
                    <a:lstStyle/>
                    <a:p>
                      <a:pPr algn="ctr"/>
                      <a:r>
                        <a:rPr sz="1050" b="0">
                          <a:solidFill>
                            <a:srgbClr val="35424D"/>
                          </a:solidFill>
                          <a:latin typeface="Calibri"/>
                        </a:rPr>
                        <a:t>40.0%</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rotation</a:t>
                      </a:r>
                    </a:p>
                  </a:txBody>
                  <a:tcPr marL="54864" marR="54864" marT="18288" marB="18288" anchor="ctr">
                    <a:solidFill>
                      <a:srgbClr val="ECF1F4"/>
                    </a:solidFill>
                  </a:tcPr>
                </a:tc>
                <a:tc>
                  <a:txBody>
                    <a:bodyPr wrap="square"/>
                    <a:lstStyle/>
                    <a:p>
                      <a:pPr algn="ctr"/>
                      <a:r>
                        <a:rPr sz="1050" b="0">
                          <a:solidFill>
                            <a:srgbClr val="35424D"/>
                          </a:solidFill>
                          <a:latin typeface="Calibri"/>
                        </a:rPr>
                        <a:t>+/-5 deg</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r>
            </a:tbl>
          </a:graphicData>
        </a:graphic>
      </p:graphicFrame>
      <p:sp>
        <p:nvSpPr>
          <p:cNvPr id="23" name="TextBox 22"/>
          <p:cNvSpPr txBox="1"/>
          <p:nvPr/>
        </p:nvSpPr>
        <p:spPr>
          <a:xfrm>
            <a:off x="6583680" y="5504688"/>
            <a:ext cx="4754880" cy="310896"/>
          </a:xfrm>
          <a:prstGeom prst="rect">
            <a:avLst/>
          </a:prstGeom>
          <a:noFill/>
        </p:spPr>
        <p:txBody>
          <a:bodyPr wrap="square" lIns="0" rIns="0" tIns="0" bIns="0" anchor="t">
            <a:spAutoFit/>
          </a:bodyPr>
          <a:lstStyle/>
          <a:p>
            <a:pPr algn="l"/>
            <a:r>
              <a:rPr sz="950" b="0" i="1">
                <a:solidFill>
                  <a:srgbClr val="5A6B78"/>
                </a:solidFill>
                <a:latin typeface="Calibri"/>
              </a:rPr>
              <a:t>25 operating points, 16 of them deliberately outside the envelope the problem statement promises.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20.0%</a:t>
                      </a:r>
                    </a:p>
                  </a:txBody>
                  <a:tcPr marL="54864" marR="54864" marT="18288" marB="18288" anchor="ctr">
                    <a:solidFill>
                      <a:srgbClr val="ECF1F4"/>
                    </a:solidFill>
                  </a:tcPr>
                </a:tc>
                <a:tc>
                  <a:txBody>
                    <a:bodyPr wrap="square"/>
                    <a:lstStyle/>
                    <a:p>
                      <a:pPr algn="ctr"/>
                      <a:r>
                        <a:rPr sz="1100" b="0">
                          <a:solidFill>
                            <a:srgbClr val="35424D"/>
                          </a:solidFill>
                          <a:latin typeface="Calibri"/>
                        </a:rPr>
                        <a:t>0.251</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374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0.342</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382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10.0%</a:t>
                      </a:r>
                    </a:p>
                  </a:txBody>
                  <a:tcPr marL="54864" marR="54864" marT="18288" marB="18288" anchor="ctr">
                    <a:solidFill>
                      <a:srgbClr val="ECF1F4"/>
                    </a:solidFill>
                  </a:tcPr>
                </a:tc>
                <a:tc>
                  <a:txBody>
                    <a:bodyPr wrap="square"/>
                    <a:lstStyle/>
                    <a:p>
                      <a:pPr algn="ctr"/>
                      <a:r>
                        <a:rPr sz="1100" b="0">
                          <a:solidFill>
                            <a:srgbClr val="35424D"/>
                          </a:solidFill>
                          <a:latin typeface="Calibri"/>
                        </a:rPr>
                        <a:t>0.220</a:t>
                      </a:r>
                    </a:p>
                  </a:txBody>
                  <a:tcPr marL="54864" marR="54864" marT="18288" marB="18288" anchor="ctr">
                    <a:solidFill>
                      <a:srgbClr val="ECF1F4"/>
                    </a:solidFill>
                  </a:tcPr>
                </a:tc>
                <a:tc>
                  <a:txBody>
                    <a:bodyPr wrap="square"/>
                    <a:lstStyle/>
                    <a:p>
                      <a:pPr algn="ctr"/>
                      <a:r>
                        <a:rPr sz="1100" b="0">
                          <a:solidFill>
                            <a:srgbClr val="35424D"/>
                          </a:solidFill>
                          <a:latin typeface="Calibri"/>
                        </a:rPr>
                        <a:t>90.0%</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411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0.251 px and the sub-pixel pass rate rises from 17.5% to 72.5%.
On our own data — the 9:1–11:1 and ±2° envelope the problem statement says will be tested — the baseline does not work at all (76.7% mis-lock against 16.7%).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0175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FFFFFF"/>
                    </a:solidFill>
                  </a:tcPr>
                </a:tc>
                <a:tc>
                  <a:txBody>
                    <a:bodyPr wrap="square"/>
                    <a:lstStyle/>
                    <a:p>
                      <a:pPr algn="ctr"/>
                      <a:r>
                        <a:rPr sz="1050" b="0">
                          <a:solidFill>
                            <a:srgbClr val="35424D"/>
                          </a:solidFill>
                          <a:latin typeface="Calibri"/>
                        </a:rPr>
                        <a:t>32.5%</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prior absent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46.7%</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27.5%</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46908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504.38 px — a different site entirely</a:t>
            </a:r>
          </a:p>
          <a:p>
            <a:pPr algn="l">
              <a:spcAft>
                <a:spcPts val="500"/>
              </a:spcAft>
            </a:pPr>
            <a:r>
              <a:rPr sz="1200" b="0" i="0">
                <a:solidFill>
                  <a:srgbClr val="7A3A24"/>
                </a:solidFill>
                <a:latin typeface="Calibri"/>
              </a:rPr>
              <a:t>•  The true location WAS a candidate, at rank not in top-K</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across all 16 failures: ranking, not candidate generation (9/16).</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292608"/>
          </a:xfrm>
          <a:prstGeom prst="rect">
            <a:avLst/>
          </a:prstGeom>
          <a:noFill/>
        </p:spPr>
        <p:txBody>
          <a:bodyPr wrap="square" lIns="0" rIns="0" tIns="0" bIns="0" anchor="t">
            <a:spAutoFit/>
          </a:bodyPr>
          <a:lstStyle/>
          <a:p>
            <a:pPr algn="l"/>
            <a:r>
              <a:rPr sz="1450" b="1" i="0">
                <a:solidFill>
                  <a:srgbClr val="0F2233"/>
                </a:solidFill>
                <a:latin typeface="Cambria"/>
              </a:rPr>
              <a:t>Every failure, split by the stage that lost it</a:t>
            </a:r>
          </a:p>
        </p:txBody>
      </p:sp>
      <p:sp>
        <p:nvSpPr>
          <p:cNvPr id="10" name="TextBox 9"/>
          <p:cNvSpPr txBox="1"/>
          <p:nvPr/>
        </p:nvSpPr>
        <p:spPr>
          <a:xfrm>
            <a:off x="6583680" y="1901952"/>
            <a:ext cx="4754880" cy="548640"/>
          </a:xfrm>
          <a:prstGeom prst="rect">
            <a:avLst/>
          </a:prstGeom>
          <a:noFill/>
        </p:spPr>
        <p:txBody>
          <a:bodyPr wrap="square" lIns="0" rIns="0" tIns="0" bIns="0" anchor="t">
            <a:spAutoFit/>
          </a:bodyPr>
          <a:lstStyle/>
          <a:p>
            <a:pPr algn="l"/>
            <a:r>
              <a:rPr sz="950" b="0" i="0">
                <a:solidFill>
                  <a:srgbClr val="5A6B78"/>
                </a:solidFill>
                <a:latin typeface="Calibri"/>
              </a:rPr>
              <a:t>One mis-lock rate hides three different failures with three different fixes. Only the last is something a better ranking rule could ever have addressed — and six ranking criteria were tried and rejected assuming it was the whole story.</a:t>
            </a:r>
          </a:p>
        </p:txBody>
      </p:sp>
      <p:graphicFrame>
        <p:nvGraphicFramePr>
          <p:cNvPr id="11" name="Table 10"/>
          <p:cNvGraphicFramePr>
            <a:graphicFrameLocks noGrp="1"/>
          </p:cNvGraphicFramePr>
          <p:nvPr/>
        </p:nvGraphicFramePr>
        <p:xfrm>
          <a:off x="6583680" y="2523744"/>
          <a:ext cx="4754880" cy="1097280"/>
        </p:xfrm>
        <a:graphic>
          <a:graphicData uri="http://schemas.openxmlformats.org/drawingml/2006/table">
            <a:tbl>
              <a:tblPr firstRow="1" bandRow="1">
                <a:tableStyleId>{5C22544A-7EE6-4342-B048-85BDC9FD1C3A}</a:tableStyleId>
              </a:tblPr>
              <a:tblGrid>
                <a:gridCol w="1097280"/>
                <a:gridCol w="731520"/>
                <a:gridCol w="914400"/>
                <a:gridCol w="1005840"/>
                <a:gridCol w="1005840"/>
              </a:tblGrid>
              <a:tr h="274320">
                <a:tc>
                  <a:txBody>
                    <a:bodyPr wrap="square"/>
                    <a:lstStyle/>
                    <a:p>
                      <a:pPr algn="l"/>
                      <a:r>
                        <a:rPr sz="1050" b="1">
                          <a:solidFill>
                            <a:srgbClr val="FFFFFF"/>
                          </a:solidFill>
                          <a:latin typeface="Calibri"/>
                        </a:rPr>
                        <a:t>Split</a:t>
                      </a:r>
                    </a:p>
                  </a:txBody>
                  <a:tcPr marL="54864" marR="54864" marT="18288" marB="18288" anchor="ctr">
                    <a:solidFill>
                      <a:srgbClr val="1B3A50"/>
                    </a:solidFill>
                  </a:tcPr>
                </a:tc>
                <a:tc>
                  <a:txBody>
                    <a:bodyPr wrap="square"/>
                    <a:lstStyle/>
                    <a:p>
                      <a:pPr algn="ctr"/>
                      <a:r>
                        <a:rPr sz="1050" b="1">
                          <a:solidFill>
                            <a:srgbClr val="FFFFFF"/>
                          </a:solidFill>
                          <a:latin typeface="Calibri"/>
                        </a:rPr>
                        <a:t>OK</a:t>
                      </a:r>
                    </a:p>
                  </a:txBody>
                  <a:tcPr marL="54864" marR="54864" marT="18288" marB="18288" anchor="ctr">
                    <a:solidFill>
                      <a:srgbClr val="1B3A50"/>
                    </a:solidFill>
                  </a:tcPr>
                </a:tc>
                <a:tc>
                  <a:txBody>
                    <a:bodyPr wrap="square"/>
                    <a:lstStyle/>
                    <a:p>
                      <a:pPr algn="ctr"/>
                      <a:r>
                        <a:rPr sz="1050" b="1">
                          <a:solidFill>
                            <a:srgbClr val="FFFFFF"/>
                          </a:solidFill>
                          <a:latin typeface="Calibri"/>
                        </a:rPr>
                        <a:t>Absent</a:t>
                      </a:r>
                    </a:p>
                  </a:txBody>
                  <a:tcPr marL="54864" marR="54864" marT="18288" marB="18288" anchor="ctr">
                    <a:solidFill>
                      <a:srgbClr val="1B3A50"/>
                    </a:solidFill>
                  </a:tcPr>
                </a:tc>
                <a:tc>
                  <a:txBody>
                    <a:bodyPr wrap="square"/>
                    <a:lstStyle/>
                    <a:p>
                      <a:pPr algn="ctr"/>
                      <a:r>
                        <a:rPr sz="1050" b="1">
                          <a:solidFill>
                            <a:srgbClr val="FFFFFF"/>
                          </a:solidFill>
                          <a:latin typeface="Calibri"/>
                        </a:rPr>
                        <a:t>Screened</a:t>
                      </a:r>
                    </a:p>
                  </a:txBody>
                  <a:tcPr marL="54864" marR="54864" marT="18288" marB="18288" anchor="ctr">
                    <a:solidFill>
                      <a:srgbClr val="1B3A50"/>
                    </a:solidFill>
                  </a:tcPr>
                </a:tc>
                <a:tc>
                  <a:txBody>
                    <a:bodyPr wrap="square"/>
                    <a:lstStyle/>
                    <a:p>
                      <a:pPr algn="ctr"/>
                      <a:r>
                        <a:rPr sz="1050" b="1">
                          <a:solidFill>
                            <a:srgbClr val="FFFFFF"/>
                          </a:solidFill>
                          <a:latin typeface="Calibri"/>
                        </a:rPr>
                        <a:t>Outscored</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sponsor</a:t>
                      </a:r>
                    </a:p>
                  </a:txBody>
                  <a:tcPr marL="54864" marR="54864" marT="18288" marB="18288" anchor="ctr">
                    <a:solidFill>
                      <a:srgbClr val="FFFFFF"/>
                    </a:solidFill>
                  </a:tcPr>
                </a:tc>
                <a:tc>
                  <a:txBody>
                    <a:bodyPr wrap="square"/>
                    <a:lstStyle/>
                    <a:p>
                      <a:pPr algn="ctr"/>
                      <a:r>
                        <a:rPr sz="1050" b="0">
                          <a:solidFill>
                            <a:srgbClr val="35424D"/>
                          </a:solidFill>
                          <a:latin typeface="Calibri"/>
                        </a:rPr>
                        <a:t>32</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2</a:t>
                      </a:r>
                    </a:p>
                  </a:txBody>
                  <a:tcPr marL="54864" marR="54864" marT="18288" marB="18288" anchor="ctr">
                    <a:solidFill>
                      <a:srgbClr val="FFFFFF"/>
                    </a:solidFill>
                  </a:tcPr>
                </a:tc>
                <a:tc>
                  <a:txBody>
                    <a:bodyPr wrap="square"/>
                    <a:lstStyle/>
                    <a:p>
                      <a:pPr algn="ctr"/>
                      <a:r>
                        <a:rPr sz="1050" b="0">
                          <a:solidFill>
                            <a:srgbClr val="35424D"/>
                          </a:solidFill>
                          <a:latin typeface="Calibri"/>
                        </a:rPr>
                        <a:t>6</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bench</a:t>
                      </a:r>
                    </a:p>
                  </a:txBody>
                  <a:tcPr marL="54864" marR="54864" marT="18288" marB="18288" anchor="ctr">
                    <a:solidFill>
                      <a:srgbClr val="ECF1F4"/>
                    </a:solidFill>
                  </a:tcPr>
                </a:tc>
                <a:tc>
                  <a:txBody>
                    <a:bodyPr wrap="square"/>
                    <a:lstStyle/>
                    <a:p>
                      <a:pPr algn="ctr"/>
                      <a:r>
                        <a:rPr sz="1050" b="0">
                          <a:solidFill>
                            <a:srgbClr val="35424D"/>
                          </a:solidFill>
                          <a:latin typeface="Calibri"/>
                        </a:rPr>
                        <a:t>25</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c>
                  <a:txBody>
                    <a:bodyPr wrap="square"/>
                    <a:lstStyle/>
                    <a:p>
                      <a:pPr algn="ctr"/>
                      <a:r>
                        <a:rPr sz="1050" b="0">
                          <a:solidFill>
                            <a:srgbClr val="35424D"/>
                          </a:solidFill>
                          <a:latin typeface="Calibri"/>
                        </a:rPr>
                        <a:t>1</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FinFET</a:t>
                      </a:r>
                    </a:p>
                  </a:txBody>
                  <a:tcPr marL="54864" marR="54864" marT="18288" marB="18288" anchor="ctr">
                    <a:solidFill>
                      <a:srgbClr val="FFFFFF"/>
                    </a:solidFill>
                  </a:tcPr>
                </a:tc>
                <a:tc>
                  <a:txBody>
                    <a:bodyPr wrap="square"/>
                    <a:lstStyle/>
                    <a:p>
                      <a:pPr algn="ctr"/>
                      <a:r>
                        <a:rPr sz="1050" b="0">
                          <a:solidFill>
                            <a:srgbClr val="35424D"/>
                          </a:solidFill>
                          <a:latin typeface="Calibri"/>
                        </a:rPr>
                        <a:t>27</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r>
            </a:tbl>
          </a:graphicData>
        </a:graphic>
      </p:graphicFrame>
      <p:sp>
        <p:nvSpPr>
          <p:cNvPr id="12" name="TextBox 11"/>
          <p:cNvSpPr txBox="1"/>
          <p:nvPr/>
        </p:nvSpPr>
        <p:spPr>
          <a:xfrm>
            <a:off x="6583680" y="3547872"/>
            <a:ext cx="4754880" cy="402336"/>
          </a:xfrm>
          <a:prstGeom prst="rect">
            <a:avLst/>
          </a:prstGeom>
          <a:noFill/>
        </p:spPr>
        <p:txBody>
          <a:bodyPr wrap="square" lIns="0" rIns="0" tIns="0" bIns="0" anchor="t">
            <a:spAutoFit/>
          </a:bodyPr>
          <a:lstStyle/>
          <a:p>
            <a:pPr algn="l"/>
            <a:r>
              <a:rPr sz="900" b="0" i="1">
                <a:solidFill>
                  <a:srgbClr val="5A6B78"/>
                </a:solidFill>
                <a:latin typeface="Calibri"/>
              </a:rPr>
              <a:t>Absent = never a candidate, so no selection rule of any kind can recover it. Screened = cut by the cheap screen before the expensive geometry ran. Outscored = reached the final comparison and lost on correlation.</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still the cap</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28/30 pairs (93.3%), so a perfect re-ranker would still have room to roughly halve what remains.</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382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16.7%</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10.0%</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72.5%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the correct answer is still in the candidate set on 28/30 pairs, so selection remains the cap — and the one stage that beat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