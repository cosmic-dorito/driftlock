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25.0</c:v>
                </c:pt>
                <c:pt idx="1">
                  <c:v>23.3333</c:v>
                </c:pt>
                <c:pt idx="2">
                  <c:v>16.666700000000002</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23.3%</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0.254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"547.03,289.62"</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What varies across the pairs</a:t>
            </a:r>
          </a:p>
        </p:txBody>
      </p:sp>
      <p:sp>
        <p:nvSpPr>
          <p:cNvPr id="21" name="TextBox 20"/>
          <p:cNvSpPr txBox="1"/>
          <p:nvPr/>
        </p:nvSpPr>
        <p:spPr>
          <a:xfrm>
            <a:off x="6583680" y="3794760"/>
            <a:ext cx="4754880" cy="192024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Magnification 9:1 to 11:1, continuously sampled</a:t>
            </a:r>
          </a:p>
          <a:p>
            <a:pPr algn="l">
              <a:spcAft>
                <a:spcPts val="500"/>
              </a:spcAft>
            </a:pPr>
            <a:r>
              <a:rPr sz="1100" b="0" i="0">
                <a:solidFill>
                  <a:srgbClr val="35424D"/>
                </a:solidFill>
                <a:latin typeface="Calibri"/>
              </a:rPr>
              <a:t>•  Rotation ±2°, continuously sampled</a:t>
            </a:r>
          </a:p>
          <a:p>
            <a:pPr algn="l">
              <a:spcAft>
                <a:spcPts val="500"/>
              </a:spcAft>
            </a:pPr>
            <a:r>
              <a:rPr sz="1100" b="0" i="0">
                <a:solidFill>
                  <a:srgbClr val="35424D"/>
                </a:solidFill>
                <a:latin typeface="Calibri"/>
              </a:rPr>
              <a:t>•  Target position uniform across the field, plus a deliberate share on mat boundaries</a:t>
            </a:r>
          </a:p>
          <a:p>
            <a:pPr algn="l">
              <a:spcAft>
                <a:spcPts val="500"/>
              </a:spcAft>
            </a:pPr>
            <a:r>
              <a:rPr sz="1100" b="0" i="0">
                <a:solidFill>
                  <a:srgbClr val="35424D"/>
                </a:solidFill>
                <a:latin typeface="Calibri"/>
              </a:rPr>
              <a:t>•  Dose 2000 on the reference against 200 on the search — a ten-times noisier acquisition</a:t>
            </a:r>
          </a:p>
          <a:p>
            <a:pPr algn="l">
              <a:spcAft>
                <a:spcPts val="500"/>
              </a:spcAft>
            </a:pPr>
            <a:r>
              <a:rPr sz="1100" b="0" i="0">
                <a:solidFill>
                  <a:srgbClr val="35424D"/>
                </a:solidFill>
                <a:latin typeface="Calibri"/>
              </a:rPr>
              <a:t>•  Two architectures, four presets each, per-pair seeds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25.0%</a:t>
                      </a:r>
                    </a:p>
                  </a:txBody>
                  <a:tcPr marL="54864" marR="54864" marT="18288" marB="18288" anchor="ctr">
                    <a:solidFill>
                      <a:srgbClr val="ECF1F4"/>
                    </a:solidFill>
                  </a:tcPr>
                </a:tc>
                <a:tc>
                  <a:txBody>
                    <a:bodyPr wrap="square"/>
                    <a:lstStyle/>
                    <a:p>
                      <a:pPr algn="ctr"/>
                      <a:r>
                        <a:rPr sz="1100" b="0">
                          <a:solidFill>
                            <a:srgbClr val="35424D"/>
                          </a:solidFill>
                          <a:latin typeface="Calibri"/>
                        </a:rPr>
                        <a:t>0.297</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67.5%</a:t>
                      </a:r>
                    </a:p>
                  </a:txBody>
                  <a:tcPr marL="54864" marR="54864" marT="18288" marB="18288" anchor="ctr">
                    <a:solidFill>
                      <a:srgbClr val="ECF1F4"/>
                    </a:solidFill>
                  </a:tcPr>
                </a:tc>
                <a:tc>
                  <a:txBody>
                    <a:bodyPr wrap="square"/>
                    <a:lstStyle/>
                    <a:p>
                      <a:pPr algn="ctr"/>
                      <a:r>
                        <a:rPr sz="1100" b="0">
                          <a:solidFill>
                            <a:srgbClr val="35424D"/>
                          </a:solidFill>
                          <a:latin typeface="Calibri"/>
                        </a:rPr>
                        <a:t>313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23.3%</a:t>
                      </a:r>
                    </a:p>
                  </a:txBody>
                  <a:tcPr marL="54864" marR="54864" marT="18288" marB="18288" anchor="ctr">
                    <a:solidFill>
                      <a:srgbClr val="ECF1F4"/>
                    </a:solidFill>
                  </a:tcPr>
                </a:tc>
                <a:tc>
                  <a:txBody>
                    <a:bodyPr wrap="square"/>
                    <a:lstStyle/>
                    <a:p>
                      <a:pPr algn="ctr"/>
                      <a:r>
                        <a:rPr sz="1100" b="0">
                          <a:solidFill>
                            <a:srgbClr val="35424D"/>
                          </a:solidFill>
                          <a:latin typeface="Calibri"/>
                        </a:rPr>
                        <a:t>0.343</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73.3%</a:t>
                      </a:r>
                    </a:p>
                  </a:txBody>
                  <a:tcPr marL="54864" marR="54864" marT="18288" marB="18288" anchor="ctr">
                    <a:solidFill>
                      <a:srgbClr val="ECF1F4"/>
                    </a:solidFill>
                  </a:tcPr>
                </a:tc>
                <a:tc>
                  <a:txBody>
                    <a:bodyPr wrap="square"/>
                    <a:lstStyle/>
                    <a:p>
                      <a:pPr algn="ctr"/>
                      <a:r>
                        <a:rPr sz="1100" b="0">
                          <a:solidFill>
                            <a:srgbClr val="35424D"/>
                          </a:solidFill>
                          <a:latin typeface="Calibri"/>
                        </a:rPr>
                        <a:t>73.3%</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345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0.313</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348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0.297 px and the sub-pixel pass rate rises from 17.5% to 67.5%.
On our own data — the 9:1–11:1 and ±2° envelope the problem statement says will be tested — the baseline does not work at all (76.7% mis-lock against 23.3%).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29184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per-candidate pose refit   ← shipped</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23.3%</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solves selection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prior absent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46.7%</a:t>
                      </a:r>
                    </a:p>
                  </a:txBody>
                  <a:tcPr marL="54864" marR="54864" marT="18288" marB="18288" anchor="ctr">
                    <a:solidFill>
                      <a:srgbClr val="FFFFFF"/>
                    </a:solidFill>
                  </a:tcPr>
                </a:tc>
                <a:tc>
                  <a:txBody>
                    <a:bodyPr wrap="square"/>
                    <a:lstStyle/>
                    <a:p>
                      <a:pPr algn="ctr"/>
                      <a:r>
                        <a:rPr sz="1050" b="0">
                          <a:solidFill>
                            <a:srgbClr val="35424D"/>
                          </a:solidFill>
                          <a:latin typeface="Calibri"/>
                        </a:rPr>
                        <a:t>60.0%</a:t>
                      </a:r>
                    </a:p>
                  </a:txBody>
                  <a:tcPr marL="54864" marR="54864" marT="18288" marB="18288" anchor="ctr">
                    <a:solidFill>
                      <a:srgbClr val="FFFFFF"/>
                    </a:solidFill>
                  </a:tcPr>
                </a:tc>
                <a:tc>
                  <a:txBody>
                    <a:bodyPr wrap="square"/>
                    <a:lstStyle/>
                    <a:p>
                      <a:pPr algn="ctr"/>
                      <a:r>
                        <a:rPr sz="1050" b="0">
                          <a:solidFill>
                            <a:srgbClr val="35424D"/>
                          </a:solidFill>
                          <a:latin typeface="Calibri"/>
                        </a:rPr>
                        <a:t>less accurate</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70.0%</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overfit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50.0%</a:t>
                      </a:r>
                    </a:p>
                  </a:txBody>
                  <a:tcPr marL="54864" marR="54864" marT="18288" marB="18288" anchor="ctr">
                    <a:solidFill>
                      <a:srgbClr val="FFFFFF"/>
                    </a:solidFill>
                  </a:tcPr>
                </a:tc>
                <a:tc>
                  <a:txBody>
                    <a:bodyPr wrap="square"/>
                    <a:lstStyle/>
                    <a:p>
                      <a:pPr algn="ctr"/>
                      <a:r>
                        <a:rPr sz="1050" b="0">
                          <a:solidFill>
                            <a:srgbClr val="35424D"/>
                          </a:solidFill>
                          <a:latin typeface="Calibri"/>
                        </a:rPr>
                        <a:t>no gain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ECF1F4"/>
                    </a:solidFill>
                  </a:tcPr>
                </a:tc>
                <a:tc>
                  <a:txBody>
                    <a:bodyPr wrap="square"/>
                    <a:lstStyle/>
                    <a:p>
                      <a:pPr algn="ctr"/>
                      <a:r>
                        <a:rPr sz="1050" b="0">
                          <a:solidFill>
                            <a:srgbClr val="35424D"/>
                          </a:solidFill>
                          <a:latin typeface="Calibri"/>
                        </a:rPr>
                        <a:t>62.5%</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FFFFFF"/>
                    </a:solidFill>
                  </a:tcPr>
                </a:tc>
                <a:tc>
                  <a:txBody>
                    <a:bodyPr wrap="square"/>
                    <a:lstStyle/>
                    <a:p>
                      <a:pPr algn="ctr"/>
                      <a:r>
                        <a:rPr sz="1050" b="0">
                          <a:solidFill>
                            <a:srgbClr val="35424D"/>
                          </a:solidFill>
                          <a:latin typeface="Calibri"/>
                        </a:rPr>
                        <a:t>35.0%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bl>
          </a:graphicData>
        </a:graphic>
      </p:graphicFrame>
      <p:sp>
        <p:nvSpPr>
          <p:cNvPr id="5" name="TextBox 4"/>
          <p:cNvSpPr txBox="1"/>
          <p:nvPr/>
        </p:nvSpPr>
        <p:spPr>
          <a:xfrm>
            <a:off x="548640" y="496519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893.89 px — a different site entirely</a:t>
            </a:r>
          </a:p>
          <a:p>
            <a:pPr algn="l">
              <a:spcAft>
                <a:spcPts val="500"/>
              </a:spcAft>
            </a:pPr>
            <a:r>
              <a:rPr sz="1200" b="0" i="0">
                <a:solidFill>
                  <a:srgbClr val="7A3A24"/>
                </a:solidFill>
                <a:latin typeface="Calibri"/>
              </a:rPr>
              <a:t>•  The true location WAS a candidate, at rank 4</a:t>
            </a:r>
          </a:p>
          <a:p>
            <a:pPr algn="l">
              <a:spcAft>
                <a:spcPts val="500"/>
              </a:spcAft>
            </a:pPr>
            <a:r>
              <a:rPr sz="1200" b="0" i="0">
                <a:solidFill>
                  <a:srgbClr val="7A3A24"/>
                </a:solidFill>
                <a:latin typeface="Calibri"/>
              </a:rPr>
              <a:t>•  It lost by 0.0027 of correlation — 0.32%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ranking, not candidate generation.</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566928"/>
          </a:xfrm>
          <a:prstGeom prst="rect">
            <a:avLst/>
          </a:prstGeom>
          <a:noFill/>
        </p:spPr>
        <p:txBody>
          <a:bodyPr wrap="square" lIns="0" rIns="0" tIns="0" bIns="0" anchor="t">
            <a:spAutoFit/>
          </a:bodyPr>
          <a:lstStyle/>
          <a:p>
            <a:pPr algn="l"/>
            <a:r>
              <a:rPr sz="1450" b="1" i="0">
                <a:solidFill>
                  <a:srgbClr val="0F2233"/>
                </a:solidFill>
                <a:latin typeface="Cambria"/>
              </a:rPr>
              <a:t>Failures concentrate exactly where theory says they must</a:t>
            </a:r>
          </a:p>
        </p:txBody>
      </p:sp>
      <p:sp>
        <p:nvSpPr>
          <p:cNvPr id="10" name="TextBox 9"/>
          <p:cNvSpPr txBox="1"/>
          <p:nvPr/>
        </p:nvSpPr>
        <p:spPr>
          <a:xfrm>
            <a:off x="6583680" y="2121408"/>
            <a:ext cx="4754880" cy="384048"/>
          </a:xfrm>
          <a:prstGeom prst="rect">
            <a:avLst/>
          </a:prstGeom>
          <a:noFill/>
        </p:spPr>
        <p:txBody>
          <a:bodyPr wrap="square" lIns="0" rIns="0" tIns="0" bIns="0" anchor="t">
            <a:spAutoFit/>
          </a:bodyPr>
          <a:lstStyle/>
          <a:p>
            <a:pPr algn="l"/>
            <a:r>
              <a:rPr sz="1050" b="0" i="0">
                <a:solidFill>
                  <a:srgbClr val="5A6B78"/>
                </a:solidFill>
                <a:latin typeface="Calibri"/>
              </a:rPr>
              <a:t>Our generator labels each pair by whether an aperiodic landmark is in view. Stratifying the results by that label:</a:t>
            </a:r>
          </a:p>
        </p:txBody>
      </p:sp>
      <p:graphicFrame>
        <p:nvGraphicFramePr>
          <p:cNvPr id="11" name="Table 10"/>
          <p:cNvGraphicFramePr>
            <a:graphicFrameLocks noGrp="1"/>
          </p:cNvGraphicFramePr>
          <p:nvPr/>
        </p:nvGraphicFramePr>
        <p:xfrm>
          <a:off x="6583680" y="2560320"/>
          <a:ext cx="4754880" cy="822960"/>
        </p:xfrm>
        <a:graphic>
          <a:graphicData uri="http://schemas.openxmlformats.org/drawingml/2006/table">
            <a:tbl>
              <a:tblPr firstRow="1" bandRow="1">
                <a:tableStyleId>{5C22544A-7EE6-4342-B048-85BDC9FD1C3A}</a:tableStyleId>
              </a:tblPr>
              <a:tblGrid>
                <a:gridCol w="1920240"/>
                <a:gridCol w="640080"/>
                <a:gridCol w="1097280"/>
                <a:gridCol w="1097280"/>
              </a:tblGrid>
              <a:tr h="274320">
                <a:tc>
                  <a:txBody>
                    <a:bodyPr wrap="square"/>
                    <a:lstStyle/>
                    <a:p>
                      <a:pPr algn="l"/>
                      <a:r>
                        <a:rPr sz="1100" b="1">
                          <a:solidFill>
                            <a:srgbClr val="FFFFFF"/>
                          </a:solidFill>
                          <a:latin typeface="Calibri"/>
                        </a:rPr>
                        <a:t>Crop contains</a:t>
                      </a:r>
                    </a:p>
                  </a:txBody>
                  <a:tcPr marL="54864" marR="54864" marT="18288" marB="18288" anchor="ctr">
                    <a:solidFill>
                      <a:srgbClr val="1B3A50"/>
                    </a:solidFill>
                  </a:tcPr>
                </a:tc>
                <a:tc>
                  <a:txBody>
                    <a:bodyPr wrap="square"/>
                    <a:lstStyle/>
                    <a:p>
                      <a:pPr algn="ctr"/>
                      <a:r>
                        <a:rPr sz="1100" b="1">
                          <a:solidFill>
                            <a:srgbClr val="FFFFFF"/>
                          </a:solidFill>
                          <a:latin typeface="Calibri"/>
                        </a:rPr>
                        <a:t>n</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a mat boundary</a:t>
                      </a:r>
                    </a:p>
                  </a:txBody>
                  <a:tcPr marL="54864" marR="54864" marT="18288" marB="18288" anchor="ctr">
                    <a:solidFill>
                      <a:srgbClr val="FFFFFF"/>
                    </a:solidFill>
                  </a:tcPr>
                </a:tc>
                <a:tc>
                  <a:txBody>
                    <a:bodyPr wrap="square"/>
                    <a:lstStyle/>
                    <a:p>
                      <a:pPr algn="ctr"/>
                      <a:r>
                        <a:rPr sz="1100" b="0">
                          <a:solidFill>
                            <a:srgbClr val="35424D"/>
                          </a:solidFill>
                          <a:latin typeface="Calibri"/>
                        </a:rPr>
                        <a:t>21</a:t>
                      </a:r>
                    </a:p>
                  </a:txBody>
                  <a:tcPr marL="54864" marR="54864" marT="18288" marB="18288" anchor="ctr">
                    <a:solidFill>
                      <a:srgbClr val="FFFFFF"/>
                    </a:solidFill>
                  </a:tcPr>
                </a:tc>
                <a:tc>
                  <a:txBody>
                    <a:bodyPr wrap="square"/>
                    <a:lstStyle/>
                    <a:p>
                      <a:pPr algn="ctr"/>
                      <a:r>
                        <a:rPr sz="1100" b="0">
                          <a:solidFill>
                            <a:srgbClr val="35424D"/>
                          </a:solidFill>
                          <a:latin typeface="Calibri"/>
                        </a:rPr>
                        <a:t>10%</a:t>
                      </a:r>
                    </a:p>
                  </a:txBody>
                  <a:tcPr marL="54864" marR="54864" marT="18288" marB="18288" anchor="ctr">
                    <a:solidFill>
                      <a:srgbClr val="FFFFFF"/>
                    </a:solidFill>
                  </a:tcPr>
                </a:tc>
                <a:tc>
                  <a:txBody>
                    <a:bodyPr wrap="square"/>
                    <a:lstStyle/>
                    <a:p>
                      <a:pPr algn="ctr"/>
                      <a:r>
                        <a:rPr sz="1100" b="0">
                          <a:solidFill>
                            <a:srgbClr val="35424D"/>
                          </a:solidFill>
                          <a:latin typeface="Calibri"/>
                        </a:rPr>
                        <a:t>90%</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only lattice</a:t>
                      </a:r>
                    </a:p>
                  </a:txBody>
                  <a:tcPr marL="54864" marR="54864" marT="18288" marB="18288" anchor="ctr">
                    <a:solidFill>
                      <a:srgbClr val="ECF1F4"/>
                    </a:solidFill>
                  </a:tcPr>
                </a:tc>
                <a:tc>
                  <a:txBody>
                    <a:bodyPr wrap="square"/>
                    <a:lstStyle/>
                    <a:p>
                      <a:pPr algn="ctr"/>
                      <a:r>
                        <a:rPr sz="1100" b="0">
                          <a:solidFill>
                            <a:srgbClr val="35424D"/>
                          </a:solidFill>
                          <a:latin typeface="Calibri"/>
                        </a:rPr>
                        <a:t>9</a:t>
                      </a:r>
                    </a:p>
                  </a:txBody>
                  <a:tcPr marL="54864" marR="54864" marT="18288" marB="18288" anchor="ctr">
                    <a:solidFill>
                      <a:srgbClr val="ECF1F4"/>
                    </a:solidFill>
                  </a:tcPr>
                </a:tc>
                <a:tc>
                  <a:txBody>
                    <a:bodyPr wrap="square"/>
                    <a:lstStyle/>
                    <a:p>
                      <a:pPr algn="ctr"/>
                      <a:r>
                        <a:rPr sz="1100" b="0">
                          <a:solidFill>
                            <a:srgbClr val="35424D"/>
                          </a:solidFill>
                          <a:latin typeface="Calibri"/>
                        </a:rPr>
                        <a:t>56%</a:t>
                      </a:r>
                    </a:p>
                  </a:txBody>
                  <a:tcPr marL="54864" marR="54864" marT="18288" marB="18288" anchor="ctr">
                    <a:solidFill>
                      <a:srgbClr val="ECF1F4"/>
                    </a:solidFill>
                  </a:tcPr>
                </a:tc>
                <a:tc>
                  <a:txBody>
                    <a:bodyPr wrap="square"/>
                    <a:lstStyle/>
                    <a:p>
                      <a:pPr algn="ctr"/>
                      <a:r>
                        <a:rPr sz="1100" b="0">
                          <a:solidFill>
                            <a:srgbClr val="35424D"/>
                          </a:solidFill>
                          <a:latin typeface="Calibri"/>
                        </a:rPr>
                        <a:t>33%</a:t>
                      </a:r>
                    </a:p>
                  </a:txBody>
                  <a:tcPr marL="54864" marR="54864" marT="18288" marB="18288" anchor="ctr">
                    <a:solidFill>
                      <a:srgbClr val="ECF1F4"/>
                    </a:solidFill>
                  </a:tcPr>
                </a:tc>
              </a:tr>
            </a:tbl>
          </a:graphicData>
        </a:graphic>
      </p:graphicFrame>
      <p:sp>
        <p:nvSpPr>
          <p:cNvPr id="12" name="TextBox 11"/>
          <p:cNvSpPr txBox="1"/>
          <p:nvPr/>
        </p:nvSpPr>
        <p:spPr>
          <a:xfrm>
            <a:off x="6583680" y="3529584"/>
            <a:ext cx="4754880" cy="329184"/>
          </a:xfrm>
          <a:prstGeom prst="rect">
            <a:avLst/>
          </a:prstGeom>
          <a:noFill/>
        </p:spPr>
        <p:txBody>
          <a:bodyPr wrap="square" lIns="0" rIns="0" tIns="0" bIns="0" anchor="t">
            <a:spAutoFit/>
          </a:bodyPr>
          <a:lstStyle/>
          <a:p>
            <a:pPr algn="l"/>
            <a:r>
              <a:rPr sz="950" b="0" i="1">
                <a:solidFill>
                  <a:srgbClr val="5A6B78"/>
                </a:solidFill>
                <a:latin typeface="Calibri"/>
              </a:rPr>
              <a:t>5 of the 7 failures fall in those 9 pairs. The method fails precisely where the information needed to succeed is absent — the honest definition of the problem's limit.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still the cap</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28/30 pairs (93.3%), so a perfect re-ranker would still have room to roughly halve what remains.</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345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Untested axes remain</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Barrel distortion, astigmatism, charging streaks and impulse noise are modelled but not stratified — untested, not proven harmless.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23.3%</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16.7%</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67.5%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the correct answer is still in the candidate set on 28/30 pairs, so selection remains the cap — and the one stage that beat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