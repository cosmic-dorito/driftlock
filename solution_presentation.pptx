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27.500000000000004</c:v>
                </c:pt>
                <c:pt idx="1">
                  <c:v>33.3333</c:v>
                </c:pt>
                <c:pt idx="2">
                  <c:v>33.3333</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33.3%</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0.309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46.7%</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88920"/>
            <a:ext cx="2743200" cy="2560320"/>
          </a:xfrm>
          <a:prstGeom prst="rect">
            <a:avLst/>
          </a:prstGeom>
          <a:noFill/>
        </p:spPr>
        <p:txBody>
          <a:bodyPr wrap="square" lIns="0" rIns="0" tIns="0" bIns="0" anchor="t">
            <a:spAutoFit/>
          </a:bodyPr>
          <a:lstStyle/>
          <a:p>
            <a:pPr algn="l"/>
            <a:r>
              <a:rPr sz="1050" b="0" i="0">
                <a:solidFill>
                  <a:srgbClr val="C3D2DC"/>
                </a:solidFill>
                <a:latin typeface="Calibri"/>
              </a:rPr>
              <a:t>Implemented literally and visibly, as a branch a judge can test — not as an emergent property of the scoring.
It is also established industrial practice: Hitachi's CD-SEM navigation selects, among equally-scoring candidates in a periodic structure, the one closest to a predefined origin.
We additionally emit an ambiguity index, so the tool can say when it is unsure rather than being quietly wrong.</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"547.04,289.63"</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single-threaded timing, pathlib only, no absolute paths. Developed on macOS and re-measured on Windows for this submission.</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What varies across the pairs</a:t>
            </a:r>
          </a:p>
        </p:txBody>
      </p:sp>
      <p:sp>
        <p:nvSpPr>
          <p:cNvPr id="21" name="TextBox 20"/>
          <p:cNvSpPr txBox="1"/>
          <p:nvPr/>
        </p:nvSpPr>
        <p:spPr>
          <a:xfrm>
            <a:off x="6583680" y="3794760"/>
            <a:ext cx="4754880" cy="192024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Magnification 9:1 to 11:1, continuously sampled</a:t>
            </a:r>
          </a:p>
          <a:p>
            <a:pPr algn="l">
              <a:spcAft>
                <a:spcPts val="500"/>
              </a:spcAft>
            </a:pPr>
            <a:r>
              <a:rPr sz="1100" b="0" i="0">
                <a:solidFill>
                  <a:srgbClr val="35424D"/>
                </a:solidFill>
                <a:latin typeface="Calibri"/>
              </a:rPr>
              <a:t>•  Rotation ±2°, continuously sampled</a:t>
            </a:r>
          </a:p>
          <a:p>
            <a:pPr algn="l">
              <a:spcAft>
                <a:spcPts val="500"/>
              </a:spcAft>
            </a:pPr>
            <a:r>
              <a:rPr sz="1100" b="0" i="0">
                <a:solidFill>
                  <a:srgbClr val="35424D"/>
                </a:solidFill>
                <a:latin typeface="Calibri"/>
              </a:rPr>
              <a:t>•  Target position uniform across the field, plus a deliberate share on mat boundaries</a:t>
            </a:r>
          </a:p>
          <a:p>
            <a:pPr algn="l">
              <a:spcAft>
                <a:spcPts val="500"/>
              </a:spcAft>
            </a:pPr>
            <a:r>
              <a:rPr sz="1100" b="0" i="0">
                <a:solidFill>
                  <a:srgbClr val="35424D"/>
                </a:solidFill>
                <a:latin typeface="Calibri"/>
              </a:rPr>
              <a:t>•  Dose 2000 on the reference against 200 on the search — a ten-times noisier acquisition</a:t>
            </a:r>
          </a:p>
          <a:p>
            <a:pPr algn="l">
              <a:spcAft>
                <a:spcPts val="500"/>
              </a:spcAft>
            </a:pPr>
            <a:r>
              <a:rPr sz="1100" b="0" i="0">
                <a:solidFill>
                  <a:srgbClr val="35424D"/>
                </a:solidFill>
                <a:latin typeface="Calibri"/>
              </a:rPr>
              <a:t>•  Two architectures, four presets each, per-pair seeds recorded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27.5%</a:t>
                      </a:r>
                    </a:p>
                  </a:txBody>
                  <a:tcPr marL="54864" marR="54864" marT="18288" marB="18288" anchor="ctr">
                    <a:solidFill>
                      <a:srgbClr val="ECF1F4"/>
                    </a:solidFill>
                  </a:tcPr>
                </a:tc>
                <a:tc>
                  <a:txBody>
                    <a:bodyPr wrap="square"/>
                    <a:lstStyle/>
                    <a:p>
                      <a:pPr algn="ctr"/>
                      <a:r>
                        <a:rPr sz="1100" b="0">
                          <a:solidFill>
                            <a:srgbClr val="35424D"/>
                          </a:solidFill>
                          <a:latin typeface="Calibri"/>
                        </a:rPr>
                        <a:t>0.297</a:t>
                      </a:r>
                    </a:p>
                  </a:txBody>
                  <a:tcPr marL="54864" marR="54864" marT="18288" marB="18288" anchor="ctr">
                    <a:solidFill>
                      <a:srgbClr val="ECF1F4"/>
                    </a:solidFill>
                  </a:tcPr>
                </a:tc>
                <a:tc>
                  <a:txBody>
                    <a:bodyPr wrap="square"/>
                    <a:lstStyle/>
                    <a:p>
                      <a:pPr algn="ctr"/>
                      <a:r>
                        <a:rPr sz="1100" b="0">
                          <a:solidFill>
                            <a:srgbClr val="35424D"/>
                          </a:solidFill>
                          <a:latin typeface="Calibri"/>
                        </a:rPr>
                        <a:t>72.5%</a:t>
                      </a:r>
                    </a:p>
                  </a:txBody>
                  <a:tcPr marL="54864" marR="54864" marT="18288" marB="18288" anchor="ctr">
                    <a:solidFill>
                      <a:srgbClr val="ECF1F4"/>
                    </a:solidFill>
                  </a:tcPr>
                </a:tc>
                <a:tc>
                  <a:txBody>
                    <a:bodyPr wrap="square"/>
                    <a:lstStyle/>
                    <a:p>
                      <a:pPr algn="ctr"/>
                      <a:r>
                        <a:rPr sz="1100" b="0">
                          <a:solidFill>
                            <a:srgbClr val="35424D"/>
                          </a:solidFill>
                          <a:latin typeface="Calibri"/>
                        </a:rPr>
                        <a:t>72.5%</a:t>
                      </a:r>
                    </a:p>
                  </a:txBody>
                  <a:tcPr marL="54864" marR="54864" marT="18288" marB="18288" anchor="ctr">
                    <a:solidFill>
                      <a:srgbClr val="ECF1F4"/>
                    </a:solidFill>
                  </a:tcPr>
                </a:tc>
                <a:tc>
                  <a:txBody>
                    <a:bodyPr wrap="square"/>
                    <a:lstStyle/>
                    <a:p>
                      <a:pPr algn="ctr"/>
                      <a:r>
                        <a:rPr sz="1100" b="0">
                          <a:solidFill>
                            <a:srgbClr val="35424D"/>
                          </a:solidFill>
                          <a:latin typeface="Calibri"/>
                        </a:rPr>
                        <a:t>70.0%</a:t>
                      </a:r>
                    </a:p>
                  </a:txBody>
                  <a:tcPr marL="54864" marR="54864" marT="18288" marB="18288" anchor="ctr">
                    <a:solidFill>
                      <a:srgbClr val="ECF1F4"/>
                    </a:solidFill>
                  </a:tcPr>
                </a:tc>
                <a:tc>
                  <a:txBody>
                    <a:bodyPr wrap="square"/>
                    <a:lstStyle/>
                    <a:p>
                      <a:pPr algn="ctr"/>
                      <a:r>
                        <a:rPr sz="1100" b="0">
                          <a:solidFill>
                            <a:srgbClr val="35424D"/>
                          </a:solidFill>
                          <a:latin typeface="Calibri"/>
                        </a:rPr>
                        <a:t>67.5%</a:t>
                      </a:r>
                    </a:p>
                  </a:txBody>
                  <a:tcPr marL="54864" marR="54864" marT="18288" marB="18288" anchor="ctr">
                    <a:solidFill>
                      <a:srgbClr val="ECF1F4"/>
                    </a:solidFill>
                  </a:tcPr>
                </a:tc>
                <a:tc>
                  <a:txBody>
                    <a:bodyPr wrap="square"/>
                    <a:lstStyle/>
                    <a:p>
                      <a:pPr algn="ctr"/>
                      <a:r>
                        <a:rPr sz="1100" b="0">
                          <a:solidFill>
                            <a:srgbClr val="35424D"/>
                          </a:solidFill>
                          <a:latin typeface="Calibri"/>
                        </a:rPr>
                        <a:t>266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33.3%</a:t>
                      </a:r>
                    </a:p>
                  </a:txBody>
                  <a:tcPr marL="54864" marR="54864" marT="18288" marB="18288" anchor="ctr">
                    <a:solidFill>
                      <a:srgbClr val="ECF1F4"/>
                    </a:solidFill>
                  </a:tcPr>
                </a:tc>
                <a:tc>
                  <a:txBody>
                    <a:bodyPr wrap="square"/>
                    <a:lstStyle/>
                    <a:p>
                      <a:pPr algn="ctr"/>
                      <a:r>
                        <a:rPr sz="1100" b="0">
                          <a:solidFill>
                            <a:srgbClr val="35424D"/>
                          </a:solidFill>
                          <a:latin typeface="Calibri"/>
                        </a:rPr>
                        <a:t>0.556</a:t>
                      </a:r>
                    </a:p>
                  </a:txBody>
                  <a:tcPr marL="54864" marR="54864" marT="18288" marB="18288" anchor="ctr">
                    <a:solidFill>
                      <a:srgbClr val="ECF1F4"/>
                    </a:solidFill>
                  </a:tcPr>
                </a:tc>
                <a:tc>
                  <a:txBody>
                    <a:bodyPr wrap="square"/>
                    <a:lstStyle/>
                    <a:p>
                      <a:pPr algn="ctr"/>
                      <a:r>
                        <a:rPr sz="1100" b="0">
                          <a:solidFill>
                            <a:srgbClr val="35424D"/>
                          </a:solidFill>
                          <a:latin typeface="Calibri"/>
                        </a:rPr>
                        <a:t>66.7%</a:t>
                      </a:r>
                    </a:p>
                  </a:txBody>
                  <a:tcPr marL="54864" marR="54864" marT="18288" marB="18288" anchor="ctr">
                    <a:solidFill>
                      <a:srgbClr val="ECF1F4"/>
                    </a:solidFill>
                  </a:tcPr>
                </a:tc>
                <a:tc>
                  <a:txBody>
                    <a:bodyPr wrap="square"/>
                    <a:lstStyle/>
                    <a:p>
                      <a:pPr algn="ctr"/>
                      <a:r>
                        <a:rPr sz="1100" b="0">
                          <a:solidFill>
                            <a:srgbClr val="35424D"/>
                          </a:solidFill>
                          <a:latin typeface="Calibri"/>
                        </a:rPr>
                        <a:t>66.7%</a:t>
                      </a:r>
                    </a:p>
                  </a:txBody>
                  <a:tcPr marL="54864" marR="54864" marT="18288" marB="18288" anchor="ctr">
                    <a:solidFill>
                      <a:srgbClr val="ECF1F4"/>
                    </a:solidFill>
                  </a:tcPr>
                </a:tc>
                <a:tc>
                  <a:txBody>
                    <a:bodyPr wrap="square"/>
                    <a:lstStyle/>
                    <a:p>
                      <a:pPr algn="ctr"/>
                      <a:r>
                        <a:rPr sz="1100" b="0">
                          <a:solidFill>
                            <a:srgbClr val="35424D"/>
                          </a:solidFill>
                          <a:latin typeface="Calibri"/>
                        </a:rPr>
                        <a:t>60.0%</a:t>
                      </a:r>
                    </a:p>
                  </a:txBody>
                  <a:tcPr marL="54864" marR="54864" marT="18288" marB="18288" anchor="ctr">
                    <a:solidFill>
                      <a:srgbClr val="ECF1F4"/>
                    </a:solidFill>
                  </a:tcPr>
                </a:tc>
                <a:tc>
                  <a:txBody>
                    <a:bodyPr wrap="square"/>
                    <a:lstStyle/>
                    <a:p>
                      <a:pPr algn="ctr"/>
                      <a:r>
                        <a:rPr sz="1100" b="0">
                          <a:solidFill>
                            <a:srgbClr val="35424D"/>
                          </a:solidFill>
                          <a:latin typeface="Calibri"/>
                        </a:rPr>
                        <a:t>46.7%</a:t>
                      </a:r>
                    </a:p>
                  </a:txBody>
                  <a:tcPr marL="54864" marR="54864" marT="18288" marB="18288" anchor="ctr">
                    <a:solidFill>
                      <a:srgbClr val="ECF1F4"/>
                    </a:solidFill>
                  </a:tcPr>
                </a:tc>
                <a:tc>
                  <a:txBody>
                    <a:bodyPr wrap="square"/>
                    <a:lstStyle/>
                    <a:p>
                      <a:pPr algn="ctr"/>
                      <a:r>
                        <a:rPr sz="1100" b="0">
                          <a:solidFill>
                            <a:srgbClr val="35424D"/>
                          </a:solidFill>
                          <a:latin typeface="Calibri"/>
                        </a:rPr>
                        <a:t>231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33.3%</a:t>
                      </a:r>
                    </a:p>
                  </a:txBody>
                  <a:tcPr marL="54864" marR="54864" marT="18288" marB="18288" anchor="ctr">
                    <a:solidFill>
                      <a:srgbClr val="ECF1F4"/>
                    </a:solidFill>
                  </a:tcPr>
                </a:tc>
                <a:tc>
                  <a:txBody>
                    <a:bodyPr wrap="square"/>
                    <a:lstStyle/>
                    <a:p>
                      <a:pPr algn="ctr"/>
                      <a:r>
                        <a:rPr sz="1100" b="0">
                          <a:solidFill>
                            <a:srgbClr val="35424D"/>
                          </a:solidFill>
                          <a:latin typeface="Calibri"/>
                        </a:rPr>
                        <a:t>0.706</a:t>
                      </a:r>
                    </a:p>
                  </a:txBody>
                  <a:tcPr marL="54864" marR="54864" marT="18288" marB="18288" anchor="ctr">
                    <a:solidFill>
                      <a:srgbClr val="ECF1F4"/>
                    </a:solidFill>
                  </a:tcPr>
                </a:tc>
                <a:tc>
                  <a:txBody>
                    <a:bodyPr wrap="square"/>
                    <a:lstStyle/>
                    <a:p>
                      <a:pPr algn="ctr"/>
                      <a:r>
                        <a:rPr sz="1100" b="0">
                          <a:solidFill>
                            <a:srgbClr val="35424D"/>
                          </a:solidFill>
                          <a:latin typeface="Calibri"/>
                        </a:rPr>
                        <a:t>66.7%</a:t>
                      </a:r>
                    </a:p>
                  </a:txBody>
                  <a:tcPr marL="54864" marR="54864" marT="18288" marB="18288" anchor="ctr">
                    <a:solidFill>
                      <a:srgbClr val="ECF1F4"/>
                    </a:solidFill>
                  </a:tcPr>
                </a:tc>
                <a:tc>
                  <a:txBody>
                    <a:bodyPr wrap="square"/>
                    <a:lstStyle/>
                    <a:p>
                      <a:pPr algn="ctr"/>
                      <a:r>
                        <a:rPr sz="1100" b="0">
                          <a:solidFill>
                            <a:srgbClr val="35424D"/>
                          </a:solidFill>
                          <a:latin typeface="Calibri"/>
                        </a:rPr>
                        <a:t>66.7%</a:t>
                      </a:r>
                    </a:p>
                  </a:txBody>
                  <a:tcPr marL="54864" marR="54864" marT="18288" marB="18288" anchor="ctr">
                    <a:solidFill>
                      <a:srgbClr val="ECF1F4"/>
                    </a:solidFill>
                  </a:tcPr>
                </a:tc>
                <a:tc>
                  <a:txBody>
                    <a:bodyPr wrap="square"/>
                    <a:lstStyle/>
                    <a:p>
                      <a:pPr algn="ctr"/>
                      <a:r>
                        <a:rPr sz="1100" b="0">
                          <a:solidFill>
                            <a:srgbClr val="35424D"/>
                          </a:solidFill>
                          <a:latin typeface="Calibri"/>
                        </a:rPr>
                        <a:t>66.7%</a:t>
                      </a:r>
                    </a:p>
                  </a:txBody>
                  <a:tcPr marL="54864" marR="54864" marT="18288" marB="18288" anchor="ctr">
                    <a:solidFill>
                      <a:srgbClr val="ECF1F4"/>
                    </a:solidFill>
                  </a:tcPr>
                </a:tc>
                <a:tc>
                  <a:txBody>
                    <a:bodyPr wrap="square"/>
                    <a:lstStyle/>
                    <a:p>
                      <a:pPr algn="ctr"/>
                      <a:r>
                        <a:rPr sz="1100" b="0">
                          <a:solidFill>
                            <a:srgbClr val="35424D"/>
                          </a:solidFill>
                          <a:latin typeface="Calibri"/>
                        </a:rPr>
                        <a:t>33.3%</a:t>
                      </a:r>
                    </a:p>
                  </a:txBody>
                  <a:tcPr marL="54864" marR="54864" marT="18288" marB="18288" anchor="ctr">
                    <a:solidFill>
                      <a:srgbClr val="ECF1F4"/>
                    </a:solidFill>
                  </a:tcPr>
                </a:tc>
                <a:tc>
                  <a:txBody>
                    <a:bodyPr wrap="square"/>
                    <a:lstStyle/>
                    <a:p>
                      <a:pPr algn="ctr"/>
                      <a:r>
                        <a:rPr sz="1100" b="0">
                          <a:solidFill>
                            <a:srgbClr val="35424D"/>
                          </a:solidFill>
                          <a:latin typeface="Calibri"/>
                        </a:rPr>
                        <a:t>266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0.297 px and the sub-pixel pass rate rises from 17.5% to 67.5%.
On our own data — the 9:1–11:1 and ±2° envelope the problem statement says will be tested — the baseline does not work at all (76.7% mis-lock against 33.3%).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single-threaded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274320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the whole gain</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FFFFFF"/>
                    </a:solidFill>
                  </a:tcPr>
                </a:tc>
                <a:tc>
                  <a:txBody>
                    <a:bodyPr wrap="square"/>
                    <a:lstStyle/>
                    <a:p>
                      <a:pPr algn="ctr"/>
                      <a:r>
                        <a:rPr sz="1050" b="0">
                          <a:solidFill>
                            <a:srgbClr val="35424D"/>
                          </a:solidFill>
                          <a:latin typeface="Calibri"/>
                        </a:rPr>
                        <a:t>22.5%</a:t>
                      </a:r>
                    </a:p>
                  </a:txBody>
                  <a:tcPr marL="54864" marR="54864" marT="18288" marB="18288" anchor="ctr">
                    <a:solidFill>
                      <a:srgbClr val="FFFFFF"/>
                    </a:solidFill>
                  </a:tcPr>
                </a:tc>
                <a:tc>
                  <a:txBody>
                    <a:bodyPr wrap="square"/>
                    <a:lstStyle/>
                    <a:p>
                      <a:pPr algn="ctr"/>
                      <a:r>
                        <a:rPr sz="1050" b="0">
                          <a:solidFill>
                            <a:srgbClr val="35424D"/>
                          </a:solidFill>
                          <a:latin typeface="Calibri"/>
                        </a:rPr>
                        <a:t>50.0%</a:t>
                      </a:r>
                    </a:p>
                  </a:txBody>
                  <a:tcPr marL="54864" marR="54864" marT="18288" marB="18288" anchor="ctr">
                    <a:solidFill>
                      <a:srgbClr val="FFFFFF"/>
                    </a:solidFill>
                  </a:tcPr>
                </a:tc>
                <a:tc>
                  <a:txBody>
                    <a:bodyPr wrap="square"/>
                    <a:lstStyle/>
                    <a:p>
                      <a:pPr algn="ctr"/>
                      <a:r>
                        <a:rPr sz="1050" b="0">
                          <a:solidFill>
                            <a:srgbClr val="35424D"/>
                          </a:solidFill>
                          <a:latin typeface="Calibri"/>
                        </a:rPr>
                        <a:t>60.0%</a:t>
                      </a:r>
                    </a:p>
                  </a:txBody>
                  <a:tcPr marL="54864" marR="54864" marT="18288" marB="18288" anchor="ctr">
                    <a:solidFill>
                      <a:srgbClr val="FFFFFF"/>
                    </a:solidFill>
                  </a:tcPr>
                </a:tc>
                <a:tc>
                  <a:txBody>
                    <a:bodyPr wrap="square"/>
                    <a:lstStyle/>
                    <a:p>
                      <a:pPr algn="ctr"/>
                      <a:r>
                        <a:rPr sz="1050" b="0">
                          <a:solidFill>
                            <a:srgbClr val="35424D"/>
                          </a:solidFill>
                          <a:latin typeface="Calibri"/>
                        </a:rPr>
                        <a:t>less accurate</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20.0%</a:t>
                      </a:r>
                    </a:p>
                  </a:txBody>
                  <a:tcPr marL="54864" marR="54864" marT="18288" marB="18288" anchor="ctr">
                    <a:solidFill>
                      <a:srgbClr val="ECF1F4"/>
                    </a:solidFill>
                  </a:tcPr>
                </a:tc>
                <a:tc>
                  <a:txBody>
                    <a:bodyPr wrap="square"/>
                    <a:lstStyle/>
                    <a:p>
                      <a:pPr algn="ctr"/>
                      <a:r>
                        <a:rPr sz="1050" b="0">
                          <a:solidFill>
                            <a:srgbClr val="35424D"/>
                          </a:solidFill>
                          <a:latin typeface="Calibri"/>
                        </a:rPr>
                        <a:t>70.0%</a:t>
                      </a:r>
                    </a:p>
                  </a:txBody>
                  <a:tcPr marL="54864" marR="54864" marT="18288" marB="18288" anchor="ctr">
                    <a:solidFill>
                      <a:srgbClr val="ECF1F4"/>
                    </a:solidFill>
                  </a:tcPr>
                </a:tc>
                <a:tc>
                  <a:txBody>
                    <a:bodyPr wrap="square"/>
                    <a:lstStyle/>
                    <a:p>
                      <a:pPr algn="ctr"/>
                      <a:r>
                        <a:rPr sz="1050" b="0">
                          <a:solidFill>
                            <a:srgbClr val="35424D"/>
                          </a:solidFill>
                          <a:latin typeface="Calibri"/>
                        </a:rPr>
                        <a:t>80.0%</a:t>
                      </a:r>
                    </a:p>
                  </a:txBody>
                  <a:tcPr marL="54864" marR="54864" marT="18288" marB="18288" anchor="ctr">
                    <a:solidFill>
                      <a:srgbClr val="ECF1F4"/>
                    </a:solidFill>
                  </a:tcPr>
                </a:tc>
                <a:tc>
                  <a:txBody>
                    <a:bodyPr wrap="square"/>
                    <a:lstStyle/>
                    <a:p>
                      <a:pPr algn="ctr"/>
                      <a:r>
                        <a:rPr sz="1050" b="0">
                          <a:solidFill>
                            <a:srgbClr val="35424D"/>
                          </a:solidFill>
                          <a:latin typeface="Calibri"/>
                        </a:rPr>
                        <a:t>overfit</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22.5%</a:t>
                      </a:r>
                    </a:p>
                  </a:txBody>
                  <a:tcPr marL="54864" marR="54864" marT="18288" marB="18288" anchor="ctr">
                    <a:solidFill>
                      <a:srgbClr val="FFFFFF"/>
                    </a:solidFill>
                  </a:tcPr>
                </a:tc>
                <a:tc>
                  <a:txBody>
                    <a:bodyPr wrap="square"/>
                    <a:lstStyle/>
                    <a:p>
                      <a:pPr algn="ctr"/>
                      <a:r>
                        <a:rPr sz="1050" b="0">
                          <a:solidFill>
                            <a:srgbClr val="35424D"/>
                          </a:solidFill>
                          <a:latin typeface="Calibri"/>
                        </a:rPr>
                        <a:t>43.3%</a:t>
                      </a:r>
                    </a:p>
                  </a:txBody>
                  <a:tcPr marL="54864" marR="54864" marT="18288" marB="18288" anchor="ctr">
                    <a:solidFill>
                      <a:srgbClr val="FFFFFF"/>
                    </a:solidFill>
                  </a:tcPr>
                </a:tc>
                <a:tc>
                  <a:txBody>
                    <a:bodyPr wrap="square"/>
                    <a:lstStyle/>
                    <a:p>
                      <a:pPr algn="ctr"/>
                      <a:r>
                        <a:rPr sz="1050" b="0">
                          <a:solidFill>
                            <a:srgbClr val="35424D"/>
                          </a:solidFill>
                          <a:latin typeface="Calibri"/>
                        </a:rPr>
                        <a:t>50.0%</a:t>
                      </a:r>
                    </a:p>
                  </a:txBody>
                  <a:tcPr marL="54864" marR="54864" marT="18288" marB="18288" anchor="ctr">
                    <a:solidFill>
                      <a:srgbClr val="FFFFFF"/>
                    </a:solidFill>
                  </a:tcPr>
                </a:tc>
                <a:tc>
                  <a:txBody>
                    <a:bodyPr wrap="square"/>
                    <a:lstStyle/>
                    <a:p>
                      <a:pPr algn="ctr"/>
                      <a:r>
                        <a:rPr sz="1050" b="0">
                          <a:solidFill>
                            <a:srgbClr val="35424D"/>
                          </a:solidFill>
                          <a:latin typeface="Calibri"/>
                        </a:rPr>
                        <a:t>no gain</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ECF1F4"/>
                    </a:solidFill>
                  </a:tcPr>
                </a:tc>
                <a:tc>
                  <a:txBody>
                    <a:bodyPr wrap="square"/>
                    <a:lstStyle/>
                    <a:p>
                      <a:pPr algn="ctr"/>
                      <a:r>
                        <a:rPr sz="1050" b="0">
                          <a:solidFill>
                            <a:srgbClr val="35424D"/>
                          </a:solidFill>
                          <a:latin typeface="Calibri"/>
                        </a:rPr>
                        <a:t>62.5%</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36.7%</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FFFFFF"/>
                    </a:solidFill>
                  </a:tcPr>
                </a:tc>
                <a:tc>
                  <a:txBody>
                    <a:bodyPr wrap="square"/>
                    <a:lstStyle/>
                    <a:p>
                      <a:pPr algn="ctr"/>
                      <a:r>
                        <a:rPr sz="1050" b="0">
                          <a:solidFill>
                            <a:srgbClr val="35424D"/>
                          </a:solidFill>
                          <a:latin typeface="Calibri"/>
                        </a:rPr>
                        <a:t>35.0%</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bl>
          </a:graphicData>
        </a:graphic>
      </p:graphicFrame>
      <p:sp>
        <p:nvSpPr>
          <p:cNvPr id="5" name="TextBox 4"/>
          <p:cNvSpPr txBox="1"/>
          <p:nvPr/>
        </p:nvSpPr>
        <p:spPr>
          <a:xfrm>
            <a:off x="548640" y="441655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420624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50" b="1" i="0">
                <a:solidFill>
                  <a:srgbClr val="F2A65A"/>
                </a:solidFill>
                <a:latin typeface="Cambria"/>
              </a:rPr>
              <a:t>Three re-rankers, three honest failures</a:t>
            </a:r>
          </a:p>
        </p:txBody>
      </p:sp>
      <p:sp>
        <p:nvSpPr>
          <p:cNvPr id="8" name="TextBox 7"/>
          <p:cNvSpPr txBox="1"/>
          <p:nvPr/>
        </p:nvSpPr>
        <p:spPr>
          <a:xfrm>
            <a:off x="8001000" y="2331720"/>
            <a:ext cx="3383280" cy="3291840"/>
          </a:xfrm>
          <a:prstGeom prst="rect">
            <a:avLst/>
          </a:prstGeom>
          <a:noFill/>
        </p:spPr>
        <p:txBody>
          <a:bodyPr wrap="square" lIns="0" rIns="0" tIns="0" bIns="0" anchor="t">
            <a:spAutoFit/>
          </a:bodyPr>
          <a:lstStyle/>
          <a:p>
            <a:pPr algn="l">
              <a:spcAft>
                <a:spcPts val="200"/>
              </a:spcAft>
            </a:pPr>
            <a:r>
              <a:rPr sz="1000" b="1" i="0">
                <a:solidFill>
                  <a:srgbClr val="FFFFFF"/>
                </a:solidFill>
                <a:latin typeface="Calibri"/>
              </a:rPr>
              <a:t>PADM residual scoring</a:t>
            </a:r>
          </a:p>
          <a:p>
            <a:pPr algn="l">
              <a:spcAft>
                <a:spcPts val="200"/>
              </a:spcAft>
            </a:pPr>
            <a:r>
              <a:rPr sz="1000" b="0" i="0">
                <a:solidFill>
                  <a:srgbClr val="9FB4C2"/>
                </a:solidFill>
                <a:latin typeface="Calibri"/>
              </a:rPr>
              <a:t>Two tuned constants. Gained on the split it was tuned on, lost on both held-out splits.</a:t>
            </a:r>
          </a:p>
          <a:p>
            <a:pPr algn="l">
              <a:spcAft>
                <a:spcPts val="200"/>
              </a:spcAft>
            </a:pPr>
            <a:r>
              <a:rPr sz="1000" b="0" i="0">
                <a:solidFill>
                  <a:srgbClr val="35424D"/>
                </a:solidFill>
                <a:latin typeface="Calibri"/>
              </a:rPr>
              <a:t/>
            </a:r>
          </a:p>
          <a:p>
            <a:pPr algn="l">
              <a:spcAft>
                <a:spcPts val="200"/>
              </a:spcAft>
            </a:pPr>
            <a:r>
              <a:rPr sz="1000" b="1" i="0">
                <a:solidFill>
                  <a:srgbClr val="FFFFFF"/>
                </a:solidFill>
                <a:latin typeface="Calibri"/>
              </a:rPr>
              <a:t>Coarse-level consensus</a:t>
            </a:r>
          </a:p>
          <a:p>
            <a:pPr algn="l">
              <a:spcAft>
                <a:spcPts val="200"/>
              </a:spcAft>
            </a:pPr>
            <a:r>
              <a:rPr sz="1000" b="0" i="0">
                <a:solidFill>
                  <a:srgbClr val="9FB4C2"/>
                </a:solidFill>
                <a:latin typeface="Calibri"/>
              </a:rPr>
              <a:t>Assumed downsampling reveals landmarks. It cannot: the reference's footprint is smaller than a mat, so there is no landmark to reveal at any resolution.</a:t>
            </a:r>
          </a:p>
          <a:p>
            <a:pPr algn="l">
              <a:spcAft>
                <a:spcPts val="200"/>
              </a:spcAft>
            </a:pPr>
            <a:r>
              <a:rPr sz="1000" b="0" i="0">
                <a:solidFill>
                  <a:srgbClr val="35424D"/>
                </a:solidFill>
                <a:latin typeface="Calibri"/>
              </a:rPr>
              <a:t/>
            </a:r>
          </a:p>
          <a:p>
            <a:pPr algn="l">
              <a:spcAft>
                <a:spcPts val="200"/>
              </a:spcAft>
            </a:pPr>
            <a:r>
              <a:rPr sz="1000" b="1" i="0">
                <a:solidFill>
                  <a:srgbClr val="FFFFFF"/>
                </a:solidFill>
                <a:latin typeface="Calibri"/>
              </a:rPr>
              <a:t>Maximum-likelihood scoring</a:t>
            </a:r>
          </a:p>
          <a:p>
            <a:pPr algn="l">
              <a:spcAft>
                <a:spcPts val="200"/>
              </a:spcAft>
            </a:pPr>
            <a:r>
              <a:rPr sz="1000" b="0" i="0">
                <a:solidFill>
                  <a:srgbClr val="9FB4C2"/>
                </a:solidFill>
                <a:latin typeface="Calibri"/>
              </a:rPr>
              <a:t>The noise really is signal-dependent, so ZNCC really is mis-weighted — but model mismatch is larger than photon noise, so weighting by photon variance sharpens the wrong term.</a:t>
            </a:r>
          </a:p>
        </p:txBody>
      </p:sp>
      <p:sp>
        <p:nvSpPr>
          <p:cNvPr id="9" name="TextBox 8"/>
          <p:cNvSpPr txBox="1"/>
          <p:nvPr/>
        </p:nvSpPr>
        <p:spPr>
          <a:xfrm>
            <a:off x="548640" y="4892040"/>
            <a:ext cx="6949440" cy="822960"/>
          </a:xfrm>
          <a:prstGeom prst="rect">
            <a:avLst/>
          </a:prstGeom>
          <a:noFill/>
        </p:spPr>
        <p:txBody>
          <a:bodyPr wrap="square" lIns="0" rIns="0" tIns="0" bIns="0" anchor="t">
            <a:spAutoFit/>
          </a:bodyPr>
          <a:lstStyle/>
          <a:p>
            <a:pPr algn="l"/>
            <a:r>
              <a:rPr sz="1100" b="1" i="0">
                <a:solidFill>
                  <a:srgbClr val="1C7293"/>
                </a:solidFill>
                <a:latin typeface="Calibri"/>
              </a:rPr>
              <a:t>The rule these bought: downsampling is free for measuring pose and ruinous for deciding identity — pose is a global low-frequency property, while identity lives only in the full-resolution aperiodic fingerprint.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417320"/>
            <a:ext cx="5486400" cy="233172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00200"/>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2011680"/>
            <a:ext cx="4937760" cy="155448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893.89 px — a different site entirely</a:t>
            </a:r>
          </a:p>
          <a:p>
            <a:pPr algn="l">
              <a:spcAft>
                <a:spcPts val="500"/>
              </a:spcAft>
            </a:pPr>
            <a:r>
              <a:rPr sz="1200" b="0" i="0">
                <a:solidFill>
                  <a:srgbClr val="7A3A24"/>
                </a:solidFill>
                <a:latin typeface="Calibri"/>
              </a:rPr>
              <a:t>•  The true location WAS a candidate, at rank 4</a:t>
            </a:r>
          </a:p>
          <a:p>
            <a:pPr algn="l">
              <a:spcAft>
                <a:spcPts val="500"/>
              </a:spcAft>
            </a:pPr>
            <a:r>
              <a:rPr sz="1200" b="0" i="0">
                <a:solidFill>
                  <a:srgbClr val="7A3A24"/>
                </a:solidFill>
                <a:latin typeface="Calibri"/>
              </a:rPr>
              <a:t>•  It lost by 0.0027 of correlation — 0.32% of the winning score</a:t>
            </a:r>
          </a:p>
          <a:p>
            <a:pPr algn="l">
              <a:spcAft>
                <a:spcPts val="500"/>
              </a:spcAft>
            </a:pPr>
            <a:r>
              <a:rPr sz="1200" b="0" i="0">
                <a:solidFill>
                  <a:srgbClr val="7A3A24"/>
                </a:solidFill>
                <a:latin typeface="Calibri"/>
              </a:rPr>
              <a:t>•  The winner sat 893.8 px away and matched just as well</a:t>
            </a:r>
          </a:p>
        </p:txBody>
      </p:sp>
      <p:sp>
        <p:nvSpPr>
          <p:cNvPr id="7" name="TextBox 6"/>
          <p:cNvSpPr txBox="1"/>
          <p:nvPr/>
        </p:nvSpPr>
        <p:spPr>
          <a:xfrm>
            <a:off x="822960" y="3401568"/>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ranking, not candidate generation.</a:t>
            </a:r>
          </a:p>
        </p:txBody>
      </p:sp>
      <p:sp>
        <p:nvSpPr>
          <p:cNvPr id="8" name="Rounded Rectangle 7"/>
          <p:cNvSpPr/>
          <p:nvPr/>
        </p:nvSpPr>
        <p:spPr>
          <a:xfrm>
            <a:off x="6309360" y="1417320"/>
            <a:ext cx="5303520" cy="23317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600200"/>
            <a:ext cx="4754880" cy="292608"/>
          </a:xfrm>
          <a:prstGeom prst="rect">
            <a:avLst/>
          </a:prstGeom>
          <a:noFill/>
        </p:spPr>
        <p:txBody>
          <a:bodyPr wrap="square" lIns="0" rIns="0" tIns="0" bIns="0" anchor="t">
            <a:spAutoFit/>
          </a:bodyPr>
          <a:lstStyle/>
          <a:p>
            <a:pPr algn="l"/>
            <a:r>
              <a:rPr sz="1450" b="1" i="0">
                <a:solidFill>
                  <a:srgbClr val="0F2233"/>
                </a:solidFill>
                <a:latin typeface="Cambria"/>
              </a:rPr>
              <a:t>Failures concentrate exactly where theory says they must</a:t>
            </a:r>
          </a:p>
        </p:txBody>
      </p:sp>
      <p:sp>
        <p:nvSpPr>
          <p:cNvPr id="10" name="TextBox 9"/>
          <p:cNvSpPr txBox="1"/>
          <p:nvPr/>
        </p:nvSpPr>
        <p:spPr>
          <a:xfrm>
            <a:off x="6583680" y="1965960"/>
            <a:ext cx="4754880" cy="457200"/>
          </a:xfrm>
          <a:prstGeom prst="rect">
            <a:avLst/>
          </a:prstGeom>
          <a:noFill/>
        </p:spPr>
        <p:txBody>
          <a:bodyPr wrap="square" lIns="0" rIns="0" tIns="0" bIns="0" anchor="t">
            <a:spAutoFit/>
          </a:bodyPr>
          <a:lstStyle/>
          <a:p>
            <a:pPr algn="l"/>
            <a:r>
              <a:rPr sz="1100" b="0" i="0">
                <a:solidFill>
                  <a:srgbClr val="5A6B78"/>
                </a:solidFill>
                <a:latin typeface="Calibri"/>
              </a:rPr>
              <a:t>Our generator labels each pair by whether an aperiodic landmark is in view. Stratifying the results by that label:</a:t>
            </a:r>
          </a:p>
        </p:txBody>
      </p:sp>
      <p:graphicFrame>
        <p:nvGraphicFramePr>
          <p:cNvPr id="11" name="Table 10"/>
          <p:cNvGraphicFramePr>
            <a:graphicFrameLocks noGrp="1"/>
          </p:cNvGraphicFramePr>
          <p:nvPr/>
        </p:nvGraphicFramePr>
        <p:xfrm>
          <a:off x="6583680" y="2487168"/>
          <a:ext cx="4754880" cy="822960"/>
        </p:xfrm>
        <a:graphic>
          <a:graphicData uri="http://schemas.openxmlformats.org/drawingml/2006/table">
            <a:tbl>
              <a:tblPr firstRow="1" bandRow="1">
                <a:tableStyleId>{5C22544A-7EE6-4342-B048-85BDC9FD1C3A}</a:tableStyleId>
              </a:tblPr>
              <a:tblGrid>
                <a:gridCol w="1920240"/>
                <a:gridCol w="640080"/>
                <a:gridCol w="1097280"/>
                <a:gridCol w="1097280"/>
              </a:tblGrid>
              <a:tr h="274320">
                <a:tc>
                  <a:txBody>
                    <a:bodyPr wrap="square"/>
                    <a:lstStyle/>
                    <a:p>
                      <a:pPr algn="l"/>
                      <a:r>
                        <a:rPr sz="1100" b="1">
                          <a:solidFill>
                            <a:srgbClr val="FFFFFF"/>
                          </a:solidFill>
                          <a:latin typeface="Calibri"/>
                        </a:rPr>
                        <a:t>Crop contains</a:t>
                      </a:r>
                    </a:p>
                  </a:txBody>
                  <a:tcPr marL="54864" marR="54864" marT="18288" marB="18288" anchor="ctr">
                    <a:solidFill>
                      <a:srgbClr val="1B3A50"/>
                    </a:solidFill>
                  </a:tcPr>
                </a:tc>
                <a:tc>
                  <a:txBody>
                    <a:bodyPr wrap="square"/>
                    <a:lstStyle/>
                    <a:p>
                      <a:pPr algn="ctr"/>
                      <a:r>
                        <a:rPr sz="1100" b="1">
                          <a:solidFill>
                            <a:srgbClr val="FFFFFF"/>
                          </a:solidFill>
                          <a:latin typeface="Calibri"/>
                        </a:rPr>
                        <a:t>n</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a mat boundary</a:t>
                      </a:r>
                    </a:p>
                  </a:txBody>
                  <a:tcPr marL="54864" marR="54864" marT="18288" marB="18288" anchor="ctr">
                    <a:solidFill>
                      <a:srgbClr val="FFFFFF"/>
                    </a:solidFill>
                  </a:tcPr>
                </a:tc>
                <a:tc>
                  <a:txBody>
                    <a:bodyPr wrap="square"/>
                    <a:lstStyle/>
                    <a:p>
                      <a:pPr algn="ctr"/>
                      <a:r>
                        <a:rPr sz="1100" b="0">
                          <a:solidFill>
                            <a:srgbClr val="35424D"/>
                          </a:solidFill>
                          <a:latin typeface="Calibri"/>
                        </a:rPr>
                        <a:t>21</a:t>
                      </a:r>
                    </a:p>
                  </a:txBody>
                  <a:tcPr marL="54864" marR="54864" marT="18288" marB="18288" anchor="ctr">
                    <a:solidFill>
                      <a:srgbClr val="FFFFFF"/>
                    </a:solidFill>
                  </a:tcPr>
                </a:tc>
                <a:tc>
                  <a:txBody>
                    <a:bodyPr wrap="square"/>
                    <a:lstStyle/>
                    <a:p>
                      <a:pPr algn="ctr"/>
                      <a:r>
                        <a:rPr sz="1100" b="0">
                          <a:solidFill>
                            <a:srgbClr val="35424D"/>
                          </a:solidFill>
                          <a:latin typeface="Calibri"/>
                        </a:rPr>
                        <a:t>19%</a:t>
                      </a:r>
                    </a:p>
                  </a:txBody>
                  <a:tcPr marL="54864" marR="54864" marT="18288" marB="18288" anchor="ctr">
                    <a:solidFill>
                      <a:srgbClr val="FFFFFF"/>
                    </a:solidFill>
                  </a:tcPr>
                </a:tc>
                <a:tc>
                  <a:txBody>
                    <a:bodyPr wrap="square"/>
                    <a:lstStyle/>
                    <a:p>
                      <a:pPr algn="ctr"/>
                      <a:r>
                        <a:rPr sz="1100" b="0">
                          <a:solidFill>
                            <a:srgbClr val="35424D"/>
                          </a:solidFill>
                          <a:latin typeface="Calibri"/>
                        </a:rPr>
                        <a:t>81%</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only lattice</a:t>
                      </a:r>
                    </a:p>
                  </a:txBody>
                  <a:tcPr marL="54864" marR="54864" marT="18288" marB="18288" anchor="ctr">
                    <a:solidFill>
                      <a:srgbClr val="ECF1F4"/>
                    </a:solidFill>
                  </a:tcPr>
                </a:tc>
                <a:tc>
                  <a:txBody>
                    <a:bodyPr wrap="square"/>
                    <a:lstStyle/>
                    <a:p>
                      <a:pPr algn="ctr"/>
                      <a:r>
                        <a:rPr sz="1100" b="0">
                          <a:solidFill>
                            <a:srgbClr val="35424D"/>
                          </a:solidFill>
                          <a:latin typeface="Calibri"/>
                        </a:rPr>
                        <a:t>9</a:t>
                      </a:r>
                    </a:p>
                  </a:txBody>
                  <a:tcPr marL="54864" marR="54864" marT="18288" marB="18288" anchor="ctr">
                    <a:solidFill>
                      <a:srgbClr val="ECF1F4"/>
                    </a:solidFill>
                  </a:tcPr>
                </a:tc>
                <a:tc>
                  <a:txBody>
                    <a:bodyPr wrap="square"/>
                    <a:lstStyle/>
                    <a:p>
                      <a:pPr algn="ctr"/>
                      <a:r>
                        <a:rPr sz="1100" b="0">
                          <a:solidFill>
                            <a:srgbClr val="35424D"/>
                          </a:solidFill>
                          <a:latin typeface="Calibri"/>
                        </a:rPr>
                        <a:t>67%</a:t>
                      </a:r>
                    </a:p>
                  </a:txBody>
                  <a:tcPr marL="54864" marR="54864" marT="18288" marB="18288" anchor="ctr">
                    <a:solidFill>
                      <a:srgbClr val="ECF1F4"/>
                    </a:solidFill>
                  </a:tcPr>
                </a:tc>
                <a:tc>
                  <a:txBody>
                    <a:bodyPr wrap="square"/>
                    <a:lstStyle/>
                    <a:p>
                      <a:pPr algn="ctr"/>
                      <a:r>
                        <a:rPr sz="1100" b="0">
                          <a:solidFill>
                            <a:srgbClr val="35424D"/>
                          </a:solidFill>
                          <a:latin typeface="Calibri"/>
                        </a:rPr>
                        <a:t>11%</a:t>
                      </a:r>
                    </a:p>
                  </a:txBody>
                  <a:tcPr marL="54864" marR="54864" marT="18288" marB="18288" anchor="ctr">
                    <a:solidFill>
                      <a:srgbClr val="ECF1F4"/>
                    </a:solidFill>
                  </a:tcPr>
                </a:tc>
              </a:tr>
            </a:tbl>
          </a:graphicData>
        </a:graphic>
      </p:graphicFrame>
      <p:sp>
        <p:nvSpPr>
          <p:cNvPr id="12" name="TextBox 11"/>
          <p:cNvSpPr txBox="1"/>
          <p:nvPr/>
        </p:nvSpPr>
        <p:spPr>
          <a:xfrm>
            <a:off x="6583680" y="3429000"/>
            <a:ext cx="4754880" cy="365760"/>
          </a:xfrm>
          <a:prstGeom prst="rect">
            <a:avLst/>
          </a:prstGeom>
          <a:noFill/>
        </p:spPr>
        <p:txBody>
          <a:bodyPr wrap="square" lIns="0" rIns="0" tIns="0" bIns="0" anchor="t">
            <a:spAutoFit/>
          </a:bodyPr>
          <a:lstStyle/>
          <a:p>
            <a:pPr algn="l"/>
            <a:r>
              <a:rPr sz="1000" b="0" i="1">
                <a:solidFill>
                  <a:srgbClr val="5A6B78"/>
                </a:solidFill>
                <a:latin typeface="Calibri"/>
              </a:rPr>
              <a:t>Six of the ten failures fall in those nine pairs. The method fails precisely where the information needed to succeed is absent — which is the honest definition of the problem's limit.</a:t>
            </a:r>
          </a:p>
        </p:txBody>
      </p:sp>
      <p:sp>
        <p:nvSpPr>
          <p:cNvPr id="13" name="TextBox 12"/>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4" name="Rounded Rectangle 13"/>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Selection is unsolved</a:t>
            </a:r>
          </a:p>
        </p:txBody>
      </p:sp>
      <p:sp>
        <p:nvSpPr>
          <p:cNvPr id="16" name="TextBox 15"/>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Every pass rate is capped by the mis-lock rate. The truth is in the top-20 on 39 of 40 pairs, so a perfect re-ranker would reach about 2.5%.</a:t>
            </a:r>
          </a:p>
        </p:txBody>
      </p:sp>
      <p:sp>
        <p:nvSpPr>
          <p:cNvPr id="17" name="Rounded Rectangle 16"/>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9" name="TextBox 18"/>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231 ms per pair against a 300 ms goal. A three-step pose bracket gives roughly 260 ms and costs 2.5–5 points of mis-lock; we chose accuracy.</a:t>
            </a:r>
          </a:p>
        </p:txBody>
      </p:sp>
      <p:sp>
        <p:nvSpPr>
          <p:cNvPr id="20" name="Rounded Rectangle 19"/>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Untested axes remain</a:t>
            </a:r>
          </a:p>
        </p:txBody>
      </p:sp>
      <p:sp>
        <p:nvSpPr>
          <p:cNvPr id="22" name="TextBox 21"/>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Barrel distortion, astigmatism, charging streaks and impulse noise are modelled but not stratified — untested, not proven harmless.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33.3%</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33.3%</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67.5%</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743200"/>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three findings we would carry to any similar problem</a:t>
            </a:r>
          </a:p>
        </p:txBody>
      </p:sp>
      <p:sp>
        <p:nvSpPr>
          <p:cNvPr id="13" name="Oval 12"/>
          <p:cNvSpPr/>
          <p:nvPr/>
        </p:nvSpPr>
        <p:spPr>
          <a:xfrm>
            <a:off x="566928" y="320040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182112"/>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447288"/>
            <a:ext cx="10332720" cy="566928"/>
          </a:xfrm>
          <a:prstGeom prst="rect">
            <a:avLst/>
          </a:prstGeom>
          <a:noFill/>
        </p:spPr>
        <p:txBody>
          <a:bodyPr wrap="square" lIns="0" rIns="0" tIns="0" bIns="0" anchor="t">
            <a:spAutoFit/>
          </a:bodyPr>
          <a:lstStyle/>
          <a:p>
            <a:pPr algn="l"/>
            <a:r>
              <a:rPr sz="100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4133087"/>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4114800"/>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379975"/>
            <a:ext cx="10332720" cy="566928"/>
          </a:xfrm>
          <a:prstGeom prst="rect">
            <a:avLst/>
          </a:prstGeom>
          <a:noFill/>
        </p:spPr>
        <p:txBody>
          <a:bodyPr wrap="square" lIns="0" rIns="0" tIns="0" bIns="0" anchor="t">
            <a:spAutoFit/>
          </a:bodyPr>
          <a:lstStyle/>
          <a:p>
            <a:pPr algn="l"/>
            <a:r>
              <a:rPr sz="100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506577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5047488"/>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5312664"/>
            <a:ext cx="10332720" cy="566928"/>
          </a:xfrm>
          <a:prstGeom prst="rect">
            <a:avLst/>
          </a:prstGeom>
          <a:noFill/>
        </p:spPr>
        <p:txBody>
          <a:bodyPr wrap="square" lIns="0" rIns="0" tIns="0" bIns="0" anchor="t">
            <a:spAutoFit/>
          </a:bodyPr>
          <a:lstStyle/>
          <a:p>
            <a:pPr algn="l"/>
            <a:r>
              <a:rPr sz="100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TextBox 21"/>
          <p:cNvSpPr txBox="1"/>
          <p:nvPr/>
        </p:nvSpPr>
        <p:spPr>
          <a:xfrm>
            <a:off x="548640" y="6080760"/>
            <a:ext cx="11064240" cy="320040"/>
          </a:xfrm>
          <a:prstGeom prst="rect">
            <a:avLst/>
          </a:prstGeom>
          <a:noFill/>
        </p:spPr>
        <p:txBody>
          <a:bodyPr wrap="square" lIns="0" rIns="0" tIns="0" bIns="0" anchor="t">
            <a:spAutoFit/>
          </a:bodyPr>
          <a:lstStyle/>
          <a:p>
            <a:pPr algn="l"/>
            <a:r>
              <a:rPr sz="1150" b="0" i="1">
                <a:solidFill>
                  <a:srgbClr val="F2A65A"/>
                </a:solidFill>
                <a:latin typeface="Calibri"/>
              </a:rPr>
              <a:t>Next: a learned re-ranker — the correct answer is already in the candidate set on 39 of 40 pairs, and three hand-designed scorers have now failed in three different ways.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