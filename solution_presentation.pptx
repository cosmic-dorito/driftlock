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0.0</c:v>
                </c:pt>
                <c:pt idx="1">
                  <c:v>13.333300000000001</c:v>
                </c:pt>
                <c:pt idx="2">
                  <c:v>3.33333</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13.3%</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0.216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66.7%</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13.3%</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23.3%</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0.0%</a:t>
                      </a:r>
                    </a:p>
                  </a:txBody>
                  <a:tcPr marL="54864" marR="54864" marT="18288" marB="18288" anchor="ctr">
                    <a:solidFill>
                      <a:srgbClr val="ECF1F4"/>
                    </a:solidFill>
                  </a:tcPr>
                </a:tc>
                <a:tc>
                  <a:txBody>
                    <a:bodyPr wrap="square"/>
                    <a:lstStyle/>
                    <a:p>
                      <a:pPr algn="ctr"/>
                      <a:r>
                        <a:rPr sz="1100" b="0">
                          <a:solidFill>
                            <a:srgbClr val="35424D"/>
                          </a:solidFill>
                          <a:latin typeface="Calibri"/>
                        </a:rPr>
                        <a:t>0.179</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97.5%</a:t>
                      </a:r>
                    </a:p>
                  </a:txBody>
                  <a:tcPr marL="54864" marR="54864" marT="18288" marB="18288" anchor="ctr">
                    <a:solidFill>
                      <a:srgbClr val="ECF1F4"/>
                    </a:solidFill>
                  </a:tcPr>
                </a:tc>
                <a:tc>
                  <a:txBody>
                    <a:bodyPr wrap="square"/>
                    <a:lstStyle/>
                    <a:p>
                      <a:pPr algn="ctr"/>
                      <a:r>
                        <a:rPr sz="1100" b="0">
                          <a:solidFill>
                            <a:srgbClr val="35424D"/>
                          </a:solidFill>
                          <a:latin typeface="Calibri"/>
                        </a:rPr>
                        <a:t>92.5%</a:t>
                      </a:r>
                    </a:p>
                  </a:txBody>
                  <a:tcPr marL="54864" marR="54864" marT="18288" marB="18288" anchor="ctr">
                    <a:solidFill>
                      <a:srgbClr val="ECF1F4"/>
                    </a:solidFill>
                  </a:tcPr>
                </a:tc>
                <a:tc>
                  <a:txBody>
                    <a:bodyPr wrap="square"/>
                    <a:lstStyle/>
                    <a:p>
                      <a:pPr algn="ctr"/>
                      <a:r>
                        <a:rPr sz="1100" b="0">
                          <a:solidFill>
                            <a:srgbClr val="35424D"/>
                          </a:solidFill>
                          <a:latin typeface="Calibri"/>
                        </a:rPr>
                        <a:t>1008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13.3%</a:t>
                      </a:r>
                    </a:p>
                  </a:txBody>
                  <a:tcPr marL="54864" marR="54864" marT="18288" marB="18288" anchor="ctr">
                    <a:solidFill>
                      <a:srgbClr val="ECF1F4"/>
                    </a:solidFill>
                  </a:tcPr>
                </a:tc>
                <a:tc>
                  <a:txBody>
                    <a:bodyPr wrap="square"/>
                    <a:lstStyle/>
                    <a:p>
                      <a:pPr algn="ctr"/>
                      <a:r>
                        <a:rPr sz="1100" b="0">
                          <a:solidFill>
                            <a:srgbClr val="35424D"/>
                          </a:solidFill>
                          <a:latin typeface="Calibri"/>
                        </a:rPr>
                        <a:t>0.300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66.7%</a:t>
                      </a:r>
                    </a:p>
                  </a:txBody>
                  <a:tcPr marL="54864" marR="54864" marT="18288" marB="18288" anchor="ctr">
                    <a:solidFill>
                      <a:srgbClr val="ECF1F4"/>
                    </a:solidFill>
                  </a:tcPr>
                </a:tc>
                <a:tc>
                  <a:txBody>
                    <a:bodyPr wrap="square"/>
                    <a:lstStyle/>
                    <a:p>
                      <a:pPr algn="ctr"/>
                      <a:r>
                        <a:rPr sz="1100" b="0">
                          <a:solidFill>
                            <a:srgbClr val="35424D"/>
                          </a:solidFill>
                          <a:latin typeface="Calibri"/>
                        </a:rPr>
                        <a:t>1063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3.3%</a:t>
                      </a:r>
                    </a:p>
                  </a:txBody>
                  <a:tcPr marL="54864" marR="54864" marT="18288" marB="18288" anchor="ctr">
                    <a:solidFill>
                      <a:srgbClr val="ECF1F4"/>
                    </a:solidFill>
                  </a:tcPr>
                </a:tc>
                <a:tc>
                  <a:txBody>
                    <a:bodyPr wrap="square"/>
                    <a:lstStyle/>
                    <a:p>
                      <a:pPr algn="ctr"/>
                      <a:r>
                        <a:rPr sz="1100" b="0">
                          <a:solidFill>
                            <a:srgbClr val="35424D"/>
                          </a:solidFill>
                          <a:latin typeface="Calibri"/>
                        </a:rPr>
                        <a:t>0.214</a:t>
                      </a:r>
                    </a:p>
                  </a:txBody>
                  <a:tcPr marL="54864" marR="54864" marT="18288" marB="18288" anchor="ctr">
                    <a:solidFill>
                      <a:srgbClr val="ECF1F4"/>
                    </a:solidFill>
                  </a:tcPr>
                </a:tc>
                <a:tc>
                  <a:txBody>
                    <a:bodyPr wrap="square"/>
                    <a:lstStyle/>
                    <a:p>
                      <a:pPr algn="ctr"/>
                      <a:r>
                        <a:rPr sz="1100" b="0">
                          <a:solidFill>
                            <a:srgbClr val="35424D"/>
                          </a:solidFill>
                          <a:latin typeface="Calibri"/>
                        </a:rPr>
                        <a:t>96.7%</a:t>
                      </a:r>
                    </a:p>
                  </a:txBody>
                  <a:tcPr marL="54864" marR="54864" marT="18288" marB="18288" anchor="ctr">
                    <a:solidFill>
                      <a:srgbClr val="ECF1F4"/>
                    </a:solidFill>
                  </a:tcPr>
                </a:tc>
                <a:tc>
                  <a:txBody>
                    <a:bodyPr wrap="square"/>
                    <a:lstStyle/>
                    <a:p>
                      <a:pPr algn="ctr"/>
                      <a:r>
                        <a:rPr sz="1100" b="0">
                          <a:solidFill>
                            <a:srgbClr val="35424D"/>
                          </a:solidFill>
                          <a:latin typeface="Calibri"/>
                        </a:rPr>
                        <a:t>93.3%</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1118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0.179 px and the sub-pixel pass rate rises from 17.5% to 92.5%.
On our own data — the 9:1–11:1 and ±2° envelope the problem statement says will be tested — the baseline does not work at all (76.7% mis-lock against 13.3%).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126480"/>
            <a:ext cx="11064240" cy="274320"/>
          </a:xfrm>
          <a:prstGeom prst="rect">
            <a:avLst/>
          </a:prstGeom>
          <a:noFill/>
        </p:spPr>
        <p:txBody>
          <a:bodyPr wrap="square" lIns="0" rIns="0" tIns="0" bIns="0" anchor="t">
            <a:spAutoFit/>
          </a:bodyPr>
          <a:lstStyle/>
          <a:p>
            <a:pPr algn="l"/>
            <a:r>
              <a:rPr sz="950" b="1" i="0">
                <a:solidFill>
                  <a:srgbClr val="C4462F"/>
                </a:solidFill>
                <a:latin typeface="Calibri"/>
              </a:rPr>
              <a:t>Runtime p50 was measured on a throttled machine — the benchmark's baseline control read far above its quiet value — so those milliseconds are not representative. Accuracy is unaffected; re-run scripts/benchmark_runtime.py on a rested machine.</a:t>
            </a:r>
          </a:p>
        </p:txBody>
      </p:sp>
      <p:sp>
        <p:nvSpPr>
          <p:cNvPr id="9" name="TextBox 8"/>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438912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13.3%</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solves geometry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grid as evidence   ← shipped</a:t>
                      </a:r>
                    </a:p>
                  </a:txBody>
                  <a:tcPr marL="54864" marR="54864" marT="18288" marB="18288" anchor="ctr">
                    <a:solidFill>
                      <a:srgbClr val="ECF1F4"/>
                    </a:solidFill>
                  </a:tcPr>
                </a:tc>
                <a:tc>
                  <a:txBody>
                    <a:bodyPr wrap="square"/>
                    <a:lstStyle/>
                    <a:p>
                      <a:pPr algn="ctr"/>
                      <a:r>
                        <a:rPr sz="1050" b="0">
                          <a:solidFill>
                            <a:srgbClr val="35424D"/>
                          </a:solidFill>
                          <a:latin typeface="Calibri"/>
                        </a:rPr>
                        <a:t>5.0%</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3.3%</a:t>
                      </a:r>
                    </a:p>
                  </a:txBody>
                  <a:tcPr marL="54864" marR="54864" marT="18288" marB="18288" anchor="ctr">
                    <a:solidFill>
                      <a:srgbClr val="ECF1F4"/>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wider screen (top 30)   ← shipped</a:t>
                      </a:r>
                    </a:p>
                  </a:txBody>
                  <a:tcPr marL="54864" marR="54864" marT="18288" marB="18288" anchor="ctr">
                    <a:solidFill>
                      <a:srgbClr val="FFFFFF"/>
                    </a:solidFill>
                  </a:tcPr>
                </a:tc>
                <a:tc>
                  <a:txBody>
                    <a:bodyPr wrap="square"/>
                    <a:lstStyle/>
                    <a:p>
                      <a:pPr algn="ctr"/>
                      <a:r>
                        <a:rPr sz="1050" b="0">
                          <a:solidFill>
                            <a:srgbClr val="35424D"/>
                          </a:solidFill>
                          <a:latin typeface="Calibri"/>
                        </a:rPr>
                        <a:t>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recovers candidates</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residual proposals   ← shipped</a:t>
                      </a:r>
                    </a:p>
                  </a:txBody>
                  <a:tcPr marL="54864" marR="54864" marT="18288" marB="18288" anchor="ctr">
                    <a:solidFill>
                      <a:srgbClr val="ECF1F4"/>
                    </a:solidFill>
                  </a:tcPr>
                </a:tc>
                <a:tc>
                  <a:txBody>
                    <a:bodyPr wrap="square"/>
                    <a:lstStyle/>
                    <a:p>
                      <a:pPr algn="ctr"/>
                      <a:r>
                        <a:rPr sz="1050" b="0">
                          <a:solidFill>
                            <a:srgbClr val="35424D"/>
                          </a:solidFill>
                          <a:latin typeface="Calibri"/>
                        </a:rPr>
                        <a:t>0.0%</a:t>
                      </a:r>
                    </a:p>
                  </a:txBody>
                  <a:tcPr marL="54864" marR="54864" marT="18288" marB="18288" anchor="ctr">
                    <a:solidFill>
                      <a:srgbClr val="ECF1F4"/>
                    </a:solidFill>
                  </a:tcPr>
                </a:tc>
                <a:tc>
                  <a:txBody>
                    <a:bodyPr wrap="square"/>
                    <a:lstStyle/>
                    <a:p>
                      <a:pPr algn="ctr"/>
                      <a:r>
                        <a:rPr sz="1050" b="0">
                          <a:solidFill>
                            <a:srgbClr val="35424D"/>
                          </a:solidFill>
                          <a:latin typeface="Calibri"/>
                        </a:rPr>
                        <a:t>16.7%</a:t>
                      </a:r>
                    </a:p>
                  </a:txBody>
                  <a:tcPr marL="54864" marR="54864" marT="18288" marB="18288" anchor="ctr">
                    <a:solidFill>
                      <a:srgbClr val="ECF1F4"/>
                    </a:solidFill>
                  </a:tcPr>
                </a:tc>
                <a:tc>
                  <a:txBody>
                    <a:bodyPr wrap="square"/>
                    <a:lstStyle/>
                    <a:p>
                      <a:pPr algn="ctr"/>
                      <a:r>
                        <a:rPr sz="1050" b="0">
                          <a:solidFill>
                            <a:srgbClr val="35424D"/>
                          </a:solidFill>
                          <a:latin typeface="Calibri"/>
                        </a:rPr>
                        <a:t>3.3%</a:t>
                      </a:r>
                    </a:p>
                  </a:txBody>
                  <a:tcPr marL="54864" marR="54864" marT="18288" marB="18288" anchor="ctr">
                    <a:solidFill>
                      <a:srgbClr val="ECF1F4"/>
                    </a:solidFill>
                  </a:tcPr>
                </a:tc>
                <a:tc>
                  <a:txBody>
                    <a:bodyPr wrap="square"/>
                    <a:lstStyle/>
                    <a:p>
                      <a:pPr algn="ctr"/>
                      <a:r>
                        <a:rPr sz="1050" b="0">
                          <a:solidFill>
                            <a:srgbClr val="35424D"/>
                          </a:solidFill>
                          <a:latin typeface="Calibri"/>
                        </a:rPr>
                        <a:t>solves coverage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drift guard   ← shipped</a:t>
                      </a:r>
                    </a:p>
                  </a:txBody>
                  <a:tcPr marL="54864" marR="54864" marT="18288" marB="18288" anchor="ctr">
                    <a:solidFill>
                      <a:srgbClr val="FFFFFF"/>
                    </a:solidFill>
                  </a:tcPr>
                </a:tc>
                <a:tc>
                  <a:txBody>
                    <a:bodyPr wrap="square"/>
                    <a:lstStyle/>
                    <a:p>
                      <a:pPr algn="ctr"/>
                      <a:r>
                        <a:rPr sz="1050" b="0">
                          <a:solidFill>
                            <a:srgbClr val="35424D"/>
                          </a:solidFill>
                          <a:latin typeface="Calibri"/>
                        </a:rPr>
                        <a:t>0.0%</a:t>
                      </a:r>
                    </a:p>
                  </a:txBody>
                  <a:tcPr marL="54864" marR="54864" marT="18288" marB="18288" anchor="ctr">
                    <a:solidFill>
                      <a:srgbClr val="FFFFFF"/>
                    </a:solidFill>
                  </a:tcPr>
                </a:tc>
                <a:tc>
                  <a:txBody>
                    <a:bodyPr wrap="square"/>
                    <a:lstStyle/>
                    <a:p>
                      <a:pPr algn="ctr"/>
                      <a:r>
                        <a:rPr sz="1050" b="0">
                          <a:solidFill>
                            <a:srgbClr val="35424D"/>
                          </a:solidFill>
                          <a:latin typeface="Calibri"/>
                        </a:rPr>
                        <a:t>13.3%</a:t>
                      </a:r>
                    </a:p>
                  </a:txBody>
                  <a:tcPr marL="54864" marR="54864" marT="18288" marB="18288" anchor="ctr">
                    <a:solidFill>
                      <a:srgbClr val="FFFFFF"/>
                    </a:solidFill>
                  </a:tcPr>
                </a:tc>
                <a:tc>
                  <a:txBody>
                    <a:bodyPr wrap="square"/>
                    <a:lstStyle/>
                    <a:p>
                      <a:pPr algn="ctr"/>
                      <a:r>
                        <a:rPr sz="1050" b="0">
                          <a:solidFill>
                            <a:srgbClr val="35424D"/>
                          </a:solidFill>
                          <a:latin typeface="Calibri"/>
                        </a:rPr>
                        <a:t>3.3%</a:t>
                      </a:r>
                    </a:p>
                  </a:txBody>
                  <a:tcPr marL="54864" marR="54864" marT="18288" marB="18288" anchor="ctr">
                    <a:solidFill>
                      <a:srgbClr val="FFFFFF"/>
                    </a:solidFill>
                  </a:tcPr>
                </a:tc>
                <a:tc>
                  <a:txBody>
                    <a:bodyPr wrap="square"/>
                    <a:lstStyle/>
                    <a:p>
                      <a:pPr algn="ctr"/>
                      <a:r>
                        <a:rPr sz="1050" b="0">
                          <a:solidFill>
                            <a:srgbClr val="35424D"/>
                          </a:solidFill>
                          <a:latin typeface="Calibri"/>
                        </a:rPr>
                        <a:t>guards refinement</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ECF1F4"/>
                    </a:solidFill>
                  </a:tcPr>
                </a:tc>
                <a:tc>
                  <a:txBody>
                    <a:bodyPr wrap="square"/>
                    <a:lstStyle/>
                    <a:p>
                      <a:pPr algn="ctr"/>
                      <a:r>
                        <a:rPr sz="1050" b="0">
                          <a:solidFill>
                            <a:srgbClr val="35424D"/>
                          </a:solidFill>
                          <a:latin typeface="Calibri"/>
                        </a:rPr>
                        <a:t>32.5%</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16.7%</a:t>
                      </a:r>
                    </a:p>
                  </a:txBody>
                  <a:tcPr marL="54864" marR="54864" marT="18288" marB="18288" anchor="ctr">
                    <a:solidFill>
                      <a:srgbClr val="ECF1F4"/>
                    </a:solidFill>
                  </a:tcPr>
                </a:tc>
                <a:tc>
                  <a:txBody>
                    <a:bodyPr wrap="square"/>
                    <a:lstStyle/>
                    <a:p>
                      <a:pPr algn="ctr"/>
                      <a:r>
                        <a:rPr sz="1050" b="0">
                          <a:solidFill>
                            <a:srgbClr val="35424D"/>
                          </a:solidFill>
                          <a:latin typeface="Calibri"/>
                        </a:rPr>
                        <a:t>prior absent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46.7%</a:t>
                      </a:r>
                    </a:p>
                  </a:txBody>
                  <a:tcPr marL="54864" marR="54864" marT="18288" marB="18288" anchor="ctr">
                    <a:solidFill>
                      <a:srgbClr val="FFFFFF"/>
                    </a:solidFill>
                  </a:tcPr>
                </a:tc>
                <a:tc>
                  <a:txBody>
                    <a:bodyPr wrap="square"/>
                    <a:lstStyle/>
                    <a:p>
                      <a:pPr algn="ctr"/>
                      <a:r>
                        <a:rPr sz="1050" b="0">
                          <a:solidFill>
                            <a:srgbClr val="35424D"/>
                          </a:solidFill>
                          <a:latin typeface="Calibri"/>
                        </a:rPr>
                        <a:t>60.0%</a:t>
                      </a:r>
                    </a:p>
                  </a:txBody>
                  <a:tcPr marL="54864" marR="54864" marT="18288" marB="18288" anchor="ctr">
                    <a:solidFill>
                      <a:srgbClr val="FFFFFF"/>
                    </a:solidFill>
                  </a:tcPr>
                </a:tc>
                <a:tc>
                  <a:txBody>
                    <a:bodyPr wrap="square"/>
                    <a:lstStyle/>
                    <a:p>
                      <a:pPr algn="ctr"/>
                      <a:r>
                        <a:rPr sz="1050" b="0">
                          <a:solidFill>
                            <a:srgbClr val="35424D"/>
                          </a:solidFill>
                          <a:latin typeface="Calibri"/>
                        </a:rPr>
                        <a:t>less accurate</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70.0%</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overfit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no gain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ECF1F4"/>
                    </a:solidFill>
                  </a:tcPr>
                </a:tc>
                <a:tc>
                  <a:txBody>
                    <a:bodyPr wrap="square"/>
                    <a:lstStyle/>
                    <a:p>
                      <a:pPr algn="ctr"/>
                      <a:r>
                        <a:rPr sz="1050" b="0">
                          <a:solidFill>
                            <a:srgbClr val="35424D"/>
                          </a:solidFill>
                          <a:latin typeface="Calibri"/>
                        </a:rPr>
                        <a:t>62.5%</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FFFFFF"/>
                    </a:solidFill>
                  </a:tcPr>
                </a:tc>
                <a:tc>
                  <a:txBody>
                    <a:bodyPr wrap="square"/>
                    <a:lstStyle/>
                    <a:p>
                      <a:pPr algn="ctr"/>
                      <a:r>
                        <a:rPr sz="1050" b="0">
                          <a:solidFill>
                            <a:srgbClr val="35424D"/>
                          </a:solidFill>
                          <a:latin typeface="Calibri"/>
                        </a:rPr>
                        <a:t>35.0%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bl>
          </a:graphicData>
        </a:graphic>
      </p:graphicFrame>
      <p:sp>
        <p:nvSpPr>
          <p:cNvPr id="5" name="TextBox 4"/>
          <p:cNvSpPr txBox="1"/>
          <p:nvPr/>
        </p:nvSpPr>
        <p:spPr>
          <a:xfrm>
            <a:off x="548640" y="606247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5138928"/>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Six attempts at selection, and the two that worked</a:t>
            </a:r>
          </a:p>
        </p:txBody>
      </p:sp>
      <p:sp>
        <p:nvSpPr>
          <p:cNvPr id="8" name="TextBox 7"/>
          <p:cNvSpPr txBox="1"/>
          <p:nvPr/>
        </p:nvSpPr>
        <p:spPr>
          <a:xfrm>
            <a:off x="8001000" y="2267712"/>
            <a:ext cx="3383280" cy="3383280"/>
          </a:xfrm>
          <a:prstGeom prst="rect">
            <a:avLst/>
          </a:prstGeom>
          <a:noFill/>
        </p:spPr>
        <p:txBody>
          <a:bodyPr wrap="square" lIns="0" rIns="0" tIns="0" bIns="0" anchor="t">
            <a:spAutoFit/>
          </a:bodyPr>
          <a:lstStyle/>
          <a:p>
            <a:pPr algn="l">
              <a:spcAft>
                <a:spcPts val="200"/>
              </a:spcAft>
            </a:pPr>
            <a:r>
              <a:rPr sz="900" b="1" i="0">
                <a:solidFill>
                  <a:srgbClr val="FFFFFF"/>
                </a:solidFill>
                <a:latin typeface="Calibri"/>
              </a:rPr>
              <a:t>PADM residual scoring — overfit</a:t>
            </a:r>
          </a:p>
          <a:p>
            <a:pPr algn="l">
              <a:spcAft>
                <a:spcPts val="200"/>
              </a:spcAft>
            </a:pPr>
            <a:r>
              <a:rPr sz="900" b="0" i="0">
                <a:solidFill>
                  <a:srgbClr val="9FB4C2"/>
                </a:solidFill>
                <a:latin typeface="Calibri"/>
              </a:rPr>
              <a:t>Two tuned constants. Gained on the split it was tuned on, lost on both held-out splits.</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Coarse consensus — harmful</a:t>
            </a:r>
          </a:p>
          <a:p>
            <a:pPr algn="l">
              <a:spcAft>
                <a:spcPts val="200"/>
              </a:spcAft>
            </a:pPr>
            <a:r>
              <a:rPr sz="90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Maximum-likelihood — no gain</a:t>
            </a:r>
          </a:p>
          <a:p>
            <a:pPr algn="l">
              <a:spcAft>
                <a:spcPts val="200"/>
              </a:spcAft>
            </a:pPr>
            <a:r>
              <a:rPr sz="90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Per-candidate pose refit — WORKS</a:t>
            </a:r>
          </a:p>
          <a:p>
            <a:pPr algn="l">
              <a:spcAft>
                <a:spcPts val="200"/>
              </a:spcAft>
            </a:pPr>
            <a:r>
              <a:rPr sz="900" b="0" i="0">
                <a:solidFill>
                  <a:srgbClr val="9FB4C2"/>
                </a:solidFill>
                <a:latin typeface="Calibri"/>
              </a:rPr>
              <a:t>Follows the line above: if mismatch dominates, reduce mismatch. Each candidate is re-SCORED at its own best pose — no new criterion, so it cannot invent a preference.</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Pose grid as evidence — WORKS</a:t>
            </a:r>
          </a:p>
          <a:p>
            <a:pPr algn="l">
              <a:spcAft>
                <a:spcPts val="200"/>
              </a:spcAft>
            </a:pPr>
            <a:r>
              <a:rPr sz="900" b="0" i="0">
                <a:solidFill>
                  <a:srgbClr val="9FB4C2"/>
                </a:solidFill>
                <a:latin typeface="Calibri"/>
              </a:rPr>
              <a:t>The same principle again. The MAXIMUM over 25 poses rewards a candidate that got lucky once; reading the whole grid rewards one that was consistently good. Same score, same grid, no extra work.</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Global scanner calibration — fair, and useless</a:t>
            </a:r>
          </a:p>
          <a:p>
            <a:pPr algn="l">
              <a:spcAft>
                <a:spcPts val="200"/>
              </a:spcAft>
            </a:pPr>
            <a:r>
              <a:rPr sz="900" b="0" i="0">
                <a:solidFill>
                  <a:srgbClr val="9FB4C2"/>
                </a:solidFill>
                <a:latin typeface="Calibri"/>
              </a:rPr>
              <a:t>Measured from the array itself and applied to the whole image before any candidate existed. It lifted the true site by +0.0297 and the impostor by +0.0301 — fair by construction, which is exactly why it cannot break a tie.</a:t>
            </a:r>
          </a:p>
        </p:txBody>
      </p:sp>
      <p:sp>
        <p:nvSpPr>
          <p:cNvPr id="9" name="TextBox 8"/>
          <p:cNvSpPr txBox="1"/>
          <p:nvPr/>
        </p:nvSpPr>
        <p:spPr>
          <a:xfrm>
            <a:off x="548640" y="6373368"/>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628.24 px — a different site entirely</a:t>
            </a:r>
          </a:p>
          <a:p>
            <a:pPr algn="l">
              <a:spcAft>
                <a:spcPts val="500"/>
              </a:spcAft>
            </a:pPr>
            <a:r>
              <a:rPr sz="1200" b="0" i="0">
                <a:solidFill>
                  <a:srgbClr val="7A3A24"/>
                </a:solidFill>
                <a:latin typeface="Calibri"/>
              </a:rPr>
              <a:t>•  The true location WAS a candidate, at rank 2 — it was outscored</a:t>
            </a:r>
          </a:p>
          <a:p>
            <a:pPr algn="l">
              <a:spcAft>
                <a:spcPts val="500"/>
              </a:spcAft>
            </a:pPr>
            <a:r>
              <a:rPr sz="1200" b="0" i="0">
                <a:solidFill>
                  <a:srgbClr val="7A3A24"/>
                </a:solidFill>
                <a:latin typeface="Calibri"/>
              </a:rPr>
              <a:t>•  It lost by 0.0013 of correlation — 0.15%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5 failures: ranking, not candidate generation (3/5).</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487168"/>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40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26</a:t>
                      </a:r>
                    </a:p>
                  </a:txBody>
                  <a:tcPr marL="54864" marR="54864" marT="18288" marB="18288" anchor="ctr">
                    <a:solidFill>
                      <a:srgbClr val="ECF1F4"/>
                    </a:solidFill>
                  </a:tcPr>
                </a:tc>
                <a:tc>
                  <a:txBody>
                    <a:bodyPr wrap="square"/>
                    <a:lstStyle/>
                    <a:p>
                      <a:pPr algn="ctr"/>
                      <a:r>
                        <a:rPr sz="1050" b="0">
                          <a:solidFill>
                            <a:srgbClr val="35424D"/>
                          </a:solidFill>
                          <a:latin typeface="Calibri"/>
                        </a:rPr>
                        <a:t>1</a:t>
                      </a:r>
                    </a:p>
                  </a:txBody>
                  <a:tcPr marL="54864" marR="54864" marT="18288" marB="18288" anchor="ctr">
                    <a:solidFill>
                      <a:srgbClr val="ECF1F4"/>
                    </a:solidFill>
                  </a:tcPr>
                </a:tc>
                <a:tc>
                  <a:txBody>
                    <a:bodyPr wrap="square"/>
                    <a:lstStyle/>
                    <a:p>
                      <a:pPr algn="ctr"/>
                      <a:r>
                        <a:rPr sz="1050" b="0">
                          <a:solidFill>
                            <a:srgbClr val="35424D"/>
                          </a:solidFill>
                          <a:latin typeface="Calibri"/>
                        </a:rPr>
                        <a:t>0</a:t>
                      </a:r>
                    </a:p>
                  </a:txBody>
                  <a:tcPr marL="54864" marR="54864" marT="18288" marB="18288" anchor="ctr">
                    <a:solidFill>
                      <a:srgbClr val="ECF1F4"/>
                    </a:solidFill>
                  </a:tcPr>
                </a:tc>
                <a:tc>
                  <a:txBody>
                    <a:bodyPr wrap="square"/>
                    <a:lstStyle/>
                    <a:p>
                      <a:pPr algn="ctr"/>
                      <a:r>
                        <a:rPr sz="1050" b="0">
                          <a:solidFill>
                            <a:srgbClr val="35424D"/>
                          </a:solidFill>
                          <a:latin typeface="Calibri"/>
                        </a:rPr>
                        <a:t>3</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29</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r>
            </a:tbl>
          </a:graphicData>
        </a:graphic>
      </p:graphicFrame>
      <p:sp>
        <p:nvSpPr>
          <p:cNvPr id="12" name="TextBox 11"/>
          <p:cNvSpPr txBox="1"/>
          <p:nvPr/>
        </p:nvSpPr>
        <p:spPr>
          <a:xfrm>
            <a:off x="6583680" y="3639312"/>
            <a:ext cx="4754880" cy="274320"/>
          </a:xfrm>
          <a:prstGeom prst="rect">
            <a:avLst/>
          </a:prstGeom>
          <a:noFill/>
        </p:spPr>
        <p:txBody>
          <a:bodyPr wrap="square" lIns="0" rIns="0" tIns="0" bIns="0" anchor="t">
            <a:spAutoFit/>
          </a:bodyPr>
          <a:lstStyle/>
          <a:p>
            <a:pPr algn="l"/>
            <a:r>
              <a:rPr sz="850" b="0" i="1">
                <a:solidFill>
                  <a:srgbClr val="5A6B78"/>
                </a:solidFill>
                <a:latin typeface="Calibri"/>
              </a:rPr>
              <a:t>Absent = never a candidate, so nothing downstream can recover it.  Screened = cut before the expensive geometry ran.  Outscored = reached the final comparison and lost.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margin itself is tiny</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Given the generator's exact pose, the true site scores 0.7181 and the winner 0.6759 — the truth is AHEAD in 7 of 15. The two are indistinguishable, so our six re-ranking criteria were resolving a margin of 0.0001.</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1063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13.3%</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3.3%</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92.5%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615184"/>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five findings we would carry to any similar problem</a:t>
            </a:r>
          </a:p>
        </p:txBody>
      </p:sp>
      <p:sp>
        <p:nvSpPr>
          <p:cNvPr id="13" name="Oval 12"/>
          <p:cNvSpPr/>
          <p:nvPr/>
        </p:nvSpPr>
        <p:spPr>
          <a:xfrm>
            <a:off x="566928" y="305409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035808"/>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291839"/>
            <a:ext cx="10332720" cy="512064"/>
          </a:xfrm>
          <a:prstGeom prst="rect">
            <a:avLst/>
          </a:prstGeom>
          <a:noFill/>
        </p:spPr>
        <p:txBody>
          <a:bodyPr wrap="square" lIns="0" rIns="0" tIns="0" bIns="0" anchor="t">
            <a:spAutoFit/>
          </a:bodyPr>
          <a:lstStyle/>
          <a:p>
            <a:pPr algn="l"/>
            <a:r>
              <a:rPr sz="95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3776472"/>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3758184"/>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014215"/>
            <a:ext cx="10332720" cy="512064"/>
          </a:xfrm>
          <a:prstGeom prst="rect">
            <a:avLst/>
          </a:prstGeom>
          <a:noFill/>
        </p:spPr>
        <p:txBody>
          <a:bodyPr wrap="square" lIns="0" rIns="0" tIns="0" bIns="0" anchor="t">
            <a:spAutoFit/>
          </a:bodyPr>
          <a:lstStyle/>
          <a:p>
            <a:pPr algn="l"/>
            <a:r>
              <a:rPr sz="95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4498848"/>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4480560"/>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4736592"/>
            <a:ext cx="10332720" cy="512064"/>
          </a:xfrm>
          <a:prstGeom prst="rect">
            <a:avLst/>
          </a:prstGeom>
          <a:noFill/>
        </p:spPr>
        <p:txBody>
          <a:bodyPr wrap="square" lIns="0" rIns="0" tIns="0" bIns="0" anchor="t">
            <a:spAutoFit/>
          </a:bodyPr>
          <a:lstStyle/>
          <a:p>
            <a:pPr algn="l"/>
            <a:r>
              <a:rPr sz="95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Oval 21"/>
          <p:cNvSpPr/>
          <p:nvPr/>
        </p:nvSpPr>
        <p:spPr>
          <a:xfrm>
            <a:off x="566928" y="5221224"/>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23" name="TextBox 22"/>
          <p:cNvSpPr txBox="1"/>
          <p:nvPr/>
        </p:nvSpPr>
        <p:spPr>
          <a:xfrm>
            <a:off x="1097280" y="5202936"/>
            <a:ext cx="10332720" cy="274320"/>
          </a:xfrm>
          <a:prstGeom prst="rect">
            <a:avLst/>
          </a:prstGeom>
          <a:noFill/>
        </p:spPr>
        <p:txBody>
          <a:bodyPr wrap="square" lIns="0" rIns="0" tIns="0" bIns="0" anchor="t">
            <a:spAutoFit/>
          </a:bodyPr>
          <a:lstStyle/>
          <a:p>
            <a:pPr algn="l"/>
            <a:r>
              <a:rPr sz="1250" b="1" i="0">
                <a:solidFill>
                  <a:srgbClr val="F2A65A"/>
                </a:solidFill>
                <a:latin typeface="Calibri"/>
              </a:rPr>
              <a:t>A result with no script is not a result — including our own headline.</a:t>
            </a:r>
          </a:p>
        </p:txBody>
      </p:sp>
      <p:sp>
        <p:nvSpPr>
          <p:cNvPr id="24" name="TextBox 23"/>
          <p:cNvSpPr txBox="1"/>
          <p:nvPr/>
        </p:nvSpPr>
        <p:spPr>
          <a:xfrm>
            <a:off x="1097280" y="5458968"/>
            <a:ext cx="10332720" cy="512064"/>
          </a:xfrm>
          <a:prstGeom prst="rect">
            <a:avLst/>
          </a:prstGeom>
          <a:noFill/>
        </p:spPr>
        <p:txBody>
          <a:bodyPr wrap="square" lIns="0" rIns="0" tIns="0" bIns="0" anchor="t">
            <a:spAutoFit/>
          </a:bodyPr>
          <a:lstStyle/>
          <a:p>
            <a:pPr algn="l"/>
            <a:r>
              <a:rPr sz="950" b="0" i="0">
                <a:solidFill>
                  <a:srgbClr val="9FB4C2"/>
                </a:solidFill>
                <a:latin typeface="Calibri"/>
              </a:rPr>
              <a:t>Our strongest claim was measured once by hand and never written into results/, so the verifier that checks every number in this deck never saw it. Writing it down properly refuted it: it had compared a score at one location against the MAXIMUM over the whole image, which is upward-biased by construction. Retracted, corrected, and now regenerated by a committed script.</a:t>
            </a:r>
          </a:p>
        </p:txBody>
      </p:sp>
      <p:sp>
        <p:nvSpPr>
          <p:cNvPr id="25" name="Oval 24"/>
          <p:cNvSpPr/>
          <p:nvPr/>
        </p:nvSpPr>
        <p:spPr>
          <a:xfrm>
            <a:off x="566928" y="594360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6" name="TextBox 25"/>
          <p:cNvSpPr txBox="1"/>
          <p:nvPr/>
        </p:nvSpPr>
        <p:spPr>
          <a:xfrm>
            <a:off x="1097280" y="5925312"/>
            <a:ext cx="10332720" cy="274320"/>
          </a:xfrm>
          <a:prstGeom prst="rect">
            <a:avLst/>
          </a:prstGeom>
          <a:noFill/>
        </p:spPr>
        <p:txBody>
          <a:bodyPr wrap="square" lIns="0" rIns="0" tIns="0" bIns="0" anchor="t">
            <a:spAutoFit/>
          </a:bodyPr>
          <a:lstStyle/>
          <a:p>
            <a:pPr algn="l"/>
            <a:r>
              <a:rPr sz="1250" b="1" i="0">
                <a:solidFill>
                  <a:srgbClr val="F2A65A"/>
                </a:solidFill>
                <a:latin typeface="Calibri"/>
              </a:rPr>
              <a:t>The maximum of many tries is not a measurement of quality.</a:t>
            </a:r>
          </a:p>
        </p:txBody>
      </p:sp>
      <p:sp>
        <p:nvSpPr>
          <p:cNvPr id="27" name="TextBox 26"/>
          <p:cNvSpPr txBox="1"/>
          <p:nvPr/>
        </p:nvSpPr>
        <p:spPr>
          <a:xfrm>
            <a:off x="1097280" y="6181344"/>
            <a:ext cx="10332720" cy="512064"/>
          </a:xfrm>
          <a:prstGeom prst="rect">
            <a:avLst/>
          </a:prstGeom>
          <a:noFill/>
        </p:spPr>
        <p:txBody>
          <a:bodyPr wrap="square" lIns="0" rIns="0" tIns="0" bIns="0" anchor="t">
            <a:spAutoFit/>
          </a:bodyPr>
          <a:lstStyle/>
          <a:p>
            <a:pPr algn="l"/>
            <a:r>
              <a:rPr sz="950" b="0" i="0">
                <a:solidFill>
                  <a:srgbClr val="9FB4C2"/>
                </a:solidFill>
                <a:latin typeface="Calibri"/>
              </a:rPr>
              <a:t>The same mistake one level down, and worth more than any physics we added. Each candidate gets ~25 attempts at a flattering pose, so the one with the roughest score surface wins most often — not the best one. Reading the whole surface instead of its peak fixed 17 pairs and broke 3 across five splits, for no extra work.</a:t>
            </a:r>
          </a:p>
        </p:txBody>
      </p:sp>
      <p:sp>
        <p:nvSpPr>
          <p:cNvPr id="28" name="TextBox 27"/>
          <p:cNvSpPr txBox="1"/>
          <p:nvPr/>
        </p:nvSpPr>
        <p:spPr>
          <a:xfrm>
            <a:off x="548640" y="6492240"/>
            <a:ext cx="11064240" cy="320040"/>
          </a:xfrm>
          <a:prstGeom prst="rect">
            <a:avLst/>
          </a:prstGeom>
          <a:noFill/>
        </p:spPr>
        <p:txBody>
          <a:bodyPr wrap="square" lIns="0" rIns="0" tIns="0" bIns="0" anchor="t">
            <a:spAutoFit/>
          </a:bodyPr>
          <a:lstStyle/>
          <a:p>
            <a:pPr algn="l"/>
            <a:r>
              <a:rPr sz="1100" b="0" i="1">
                <a:solidFill>
                  <a:srgbClr val="F2A65A"/>
                </a:solidFill>
                <a:latin typeface="Calibri"/>
              </a:rPr>
              <a:t>Next: at the generator's exact pose the truth and its impostor score 0.7181 against 0.6759 — so what is left is not a ranking problem but a margin problem, and the only stage that ever moved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