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22.5</c:v>
                </c:pt>
                <c:pt idx="1">
                  <c:v>16.666700000000002</c:v>
                </c:pt>
                <c:pt idx="2">
                  <c:v>13.333300000000001</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16.7%</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0.254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63.3%</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"547.04,289.63"</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What varies across the pairs</a:t>
            </a:r>
          </a:p>
        </p:txBody>
      </p:sp>
      <p:sp>
        <p:nvSpPr>
          <p:cNvPr id="21" name="TextBox 20"/>
          <p:cNvSpPr txBox="1"/>
          <p:nvPr/>
        </p:nvSpPr>
        <p:spPr>
          <a:xfrm>
            <a:off x="6583680" y="3794760"/>
            <a:ext cx="4754880" cy="192024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Magnification 9:1 to 11:1, continuously sampled</a:t>
            </a:r>
          </a:p>
          <a:p>
            <a:pPr algn="l">
              <a:spcAft>
                <a:spcPts val="500"/>
              </a:spcAft>
            </a:pPr>
            <a:r>
              <a:rPr sz="1100" b="0" i="0">
                <a:solidFill>
                  <a:srgbClr val="35424D"/>
                </a:solidFill>
                <a:latin typeface="Calibri"/>
              </a:rPr>
              <a:t>•  Rotation ±2°, continuously sampled</a:t>
            </a:r>
          </a:p>
          <a:p>
            <a:pPr algn="l">
              <a:spcAft>
                <a:spcPts val="500"/>
              </a:spcAft>
            </a:pPr>
            <a:r>
              <a:rPr sz="1100" b="0" i="0">
                <a:solidFill>
                  <a:srgbClr val="35424D"/>
                </a:solidFill>
                <a:latin typeface="Calibri"/>
              </a:rPr>
              <a:t>•  Target position uniform across the field, plus a deliberate share on mat boundaries</a:t>
            </a:r>
          </a:p>
          <a:p>
            <a:pPr algn="l">
              <a:spcAft>
                <a:spcPts val="500"/>
              </a:spcAft>
            </a:pPr>
            <a:r>
              <a:rPr sz="1100" b="0" i="0">
                <a:solidFill>
                  <a:srgbClr val="35424D"/>
                </a:solidFill>
                <a:latin typeface="Calibri"/>
              </a:rPr>
              <a:t>•  Dose 2000 on the reference against 200 on the search — a ten-times noisier acquisition</a:t>
            </a:r>
          </a:p>
          <a:p>
            <a:pPr algn="l">
              <a:spcAft>
                <a:spcPts val="500"/>
              </a:spcAft>
            </a:pPr>
            <a:r>
              <a:rPr sz="1100" b="0" i="0">
                <a:solidFill>
                  <a:srgbClr val="35424D"/>
                </a:solidFill>
                <a:latin typeface="Calibri"/>
              </a:rPr>
              <a:t>•  Two architectures, four presets each, per-pair seeds recorded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22.5%</a:t>
                      </a:r>
                    </a:p>
                  </a:txBody>
                  <a:tcPr marL="54864" marR="54864" marT="18288" marB="18288" anchor="ctr">
                    <a:solidFill>
                      <a:srgbClr val="ECF1F4"/>
                    </a:solidFill>
                  </a:tcPr>
                </a:tc>
                <a:tc>
                  <a:txBody>
                    <a:bodyPr wrap="square"/>
                    <a:lstStyle/>
                    <a:p>
                      <a:pPr algn="ctr"/>
                      <a:r>
                        <a:rPr sz="1100" b="0">
                          <a:solidFill>
                            <a:srgbClr val="35424D"/>
                          </a:solidFill>
                          <a:latin typeface="Calibri"/>
                        </a:rPr>
                        <a:t>0.275</a:t>
                      </a:r>
                    </a:p>
                  </a:txBody>
                  <a:tcPr marL="54864" marR="54864" marT="18288" marB="18288" anchor="ctr">
                    <a:solidFill>
                      <a:srgbClr val="ECF1F4"/>
                    </a:solidFill>
                  </a:tcPr>
                </a:tc>
                <a:tc>
                  <a:txBody>
                    <a:bodyPr wrap="square"/>
                    <a:lstStyle/>
                    <a:p>
                      <a:pPr algn="ctr"/>
                      <a:r>
                        <a:rPr sz="1100" b="0">
                          <a:solidFill>
                            <a:srgbClr val="35424D"/>
                          </a:solidFill>
                          <a:latin typeface="Calibri"/>
                        </a:rPr>
                        <a:t>77.5%</a:t>
                      </a:r>
                    </a:p>
                  </a:txBody>
                  <a:tcPr marL="54864" marR="54864" marT="18288" marB="18288" anchor="ctr">
                    <a:solidFill>
                      <a:srgbClr val="ECF1F4"/>
                    </a:solidFill>
                  </a:tcPr>
                </a:tc>
                <a:tc>
                  <a:txBody>
                    <a:bodyPr wrap="square"/>
                    <a:lstStyle/>
                    <a:p>
                      <a:pPr algn="ctr"/>
                      <a:r>
                        <a:rPr sz="1100" b="0">
                          <a:solidFill>
                            <a:srgbClr val="35424D"/>
                          </a:solidFill>
                          <a:latin typeface="Calibri"/>
                        </a:rPr>
                        <a:t>77.5%</a:t>
                      </a:r>
                    </a:p>
                  </a:txBody>
                  <a:tcPr marL="54864" marR="54864" marT="18288" marB="18288" anchor="ctr">
                    <a:solidFill>
                      <a:srgbClr val="ECF1F4"/>
                    </a:solidFill>
                  </a:tcPr>
                </a:tc>
                <a:tc>
                  <a:txBody>
                    <a:bodyPr wrap="square"/>
                    <a:lstStyle/>
                    <a:p>
                      <a:pPr algn="ctr"/>
                      <a:r>
                        <a:rPr sz="1100" b="0">
                          <a:solidFill>
                            <a:srgbClr val="35424D"/>
                          </a:solidFill>
                          <a:latin typeface="Calibri"/>
                        </a:rPr>
                        <a:t>75.0%</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370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0.337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63.3%</a:t>
                      </a:r>
                    </a:p>
                  </a:txBody>
                  <a:tcPr marL="54864" marR="54864" marT="18288" marB="18288" anchor="ctr">
                    <a:solidFill>
                      <a:srgbClr val="ECF1F4"/>
                    </a:solidFill>
                  </a:tcPr>
                </a:tc>
                <a:tc>
                  <a:txBody>
                    <a:bodyPr wrap="square"/>
                    <a:lstStyle/>
                    <a:p>
                      <a:pPr algn="ctr"/>
                      <a:r>
                        <a:rPr sz="1100" b="0">
                          <a:solidFill>
                            <a:srgbClr val="35424D"/>
                          </a:solidFill>
                          <a:latin typeface="Calibri"/>
                        </a:rPr>
                        <a:t>393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13.3%</a:t>
                      </a:r>
                    </a:p>
                  </a:txBody>
                  <a:tcPr marL="54864" marR="54864" marT="18288" marB="18288" anchor="ctr">
                    <a:solidFill>
                      <a:srgbClr val="ECF1F4"/>
                    </a:solidFill>
                  </a:tcPr>
                </a:tc>
                <a:tc>
                  <a:txBody>
                    <a:bodyPr wrap="square"/>
                    <a:lstStyle/>
                    <a:p>
                      <a:pPr algn="ctr"/>
                      <a:r>
                        <a:rPr sz="1100" b="0">
                          <a:solidFill>
                            <a:srgbClr val="35424D"/>
                          </a:solidFill>
                          <a:latin typeface="Calibri"/>
                        </a:rPr>
                        <a:t>0.201</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400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0.275 px and the sub-pixel pass rate rises from 17.5% to 70.0%.
On our own data — the 9:1–11:1 and ±2° envelope the problem statement says will be tested — the baseline does not work at all (76.7% mis-lock against 16.7%).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01752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FFFFFF"/>
                    </a:solidFill>
                  </a:tcPr>
                </a:tc>
                <a:tc>
                  <a:txBody>
                    <a:bodyPr wrap="square"/>
                    <a:lstStyle/>
                    <a:p>
                      <a:pPr algn="ctr"/>
                      <a:r>
                        <a:rPr sz="1050" b="0">
                          <a:solidFill>
                            <a:srgbClr val="35424D"/>
                          </a:solidFill>
                          <a:latin typeface="Calibri"/>
                        </a:rPr>
                        <a:t>32.5%</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prior absent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46.7%</a:t>
                      </a:r>
                    </a:p>
                  </a:txBody>
                  <a:tcPr marL="54864" marR="54864" marT="18288" marB="18288" anchor="ctr">
                    <a:solidFill>
                      <a:srgbClr val="ECF1F4"/>
                    </a:solidFill>
                  </a:tcPr>
                </a:tc>
                <a:tc>
                  <a:txBody>
                    <a:bodyPr wrap="square"/>
                    <a:lstStyle/>
                    <a:p>
                      <a:pPr algn="ctr"/>
                      <a:r>
                        <a:rPr sz="1050" b="0">
                          <a:solidFill>
                            <a:srgbClr val="35424D"/>
                          </a:solidFill>
                          <a:latin typeface="Calibri"/>
                        </a:rPr>
                        <a:t>60.0%</a:t>
                      </a:r>
                    </a:p>
                  </a:txBody>
                  <a:tcPr marL="54864" marR="54864" marT="18288" marB="18288" anchor="ctr">
                    <a:solidFill>
                      <a:srgbClr val="ECF1F4"/>
                    </a:solidFill>
                  </a:tcPr>
                </a:tc>
                <a:tc>
                  <a:txBody>
                    <a:bodyPr wrap="square"/>
                    <a:lstStyle/>
                    <a:p>
                      <a:pPr algn="ctr"/>
                      <a:r>
                        <a:rPr sz="1050" b="0">
                          <a:solidFill>
                            <a:srgbClr val="35424D"/>
                          </a:solidFill>
                          <a:latin typeface="Calibri"/>
                        </a:rPr>
                        <a:t>less accurate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27.5%</a:t>
                      </a:r>
                    </a:p>
                  </a:txBody>
                  <a:tcPr marL="54864" marR="54864" marT="18288" marB="18288" anchor="ctr">
                    <a:solidFill>
                      <a:srgbClr val="FFFFFF"/>
                    </a:solidFill>
                  </a:tcPr>
                </a:tc>
                <a:tc>
                  <a:txBody>
                    <a:bodyPr wrap="square"/>
                    <a:lstStyle/>
                    <a:p>
                      <a:pPr algn="ctr"/>
                      <a:r>
                        <a:rPr sz="1050" b="0">
                          <a:solidFill>
                            <a:srgbClr val="35424D"/>
                          </a:solidFill>
                          <a:latin typeface="Calibri"/>
                        </a:rPr>
                        <a:t>70.0%</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overfit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50.0%</a:t>
                      </a:r>
                    </a:p>
                  </a:txBody>
                  <a:tcPr marL="54864" marR="54864" marT="18288" marB="18288" anchor="ctr">
                    <a:solidFill>
                      <a:srgbClr val="ECF1F4"/>
                    </a:solidFill>
                  </a:tcPr>
                </a:tc>
                <a:tc>
                  <a:txBody>
                    <a:bodyPr wrap="square"/>
                    <a:lstStyle/>
                    <a:p>
                      <a:pPr algn="ctr"/>
                      <a:r>
                        <a:rPr sz="1050" b="0">
                          <a:solidFill>
                            <a:srgbClr val="35424D"/>
                          </a:solidFill>
                          <a:latin typeface="Calibri"/>
                        </a:rPr>
                        <a:t>no gain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FFFFFF"/>
                    </a:solidFill>
                  </a:tcPr>
                </a:tc>
                <a:tc>
                  <a:txBody>
                    <a:bodyPr wrap="square"/>
                    <a:lstStyle/>
                    <a:p>
                      <a:pPr algn="ctr"/>
                      <a:r>
                        <a:rPr sz="1050" b="0">
                          <a:solidFill>
                            <a:srgbClr val="35424D"/>
                          </a:solidFill>
                          <a:latin typeface="Calibri"/>
                        </a:rPr>
                        <a:t>62.5%</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bl>
          </a:graphicData>
        </a:graphic>
      </p:graphicFrame>
      <p:sp>
        <p:nvSpPr>
          <p:cNvPr id="5" name="TextBox 4"/>
          <p:cNvSpPr txBox="1"/>
          <p:nvPr/>
        </p:nvSpPr>
        <p:spPr>
          <a:xfrm>
            <a:off x="548640" y="469087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20624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Four attempts at selection, and why the fourth worked</a:t>
            </a:r>
          </a:p>
        </p:txBody>
      </p:sp>
      <p:sp>
        <p:nvSpPr>
          <p:cNvPr id="8" name="TextBox 7"/>
          <p:cNvSpPr txBox="1"/>
          <p:nvPr/>
        </p:nvSpPr>
        <p:spPr>
          <a:xfrm>
            <a:off x="8001000" y="2331720"/>
            <a:ext cx="3383280" cy="3383280"/>
          </a:xfrm>
          <a:prstGeom prst="rect">
            <a:avLst/>
          </a:prstGeom>
          <a:noFill/>
        </p:spPr>
        <p:txBody>
          <a:bodyPr wrap="square" lIns="0" rIns="0" tIns="0" bIns="0" anchor="t">
            <a:spAutoFit/>
          </a:bodyPr>
          <a:lstStyle/>
          <a:p>
            <a:pPr algn="l">
              <a:spcAft>
                <a:spcPts val="200"/>
              </a:spcAft>
            </a:pPr>
            <a:r>
              <a:rPr sz="950" b="1" i="0">
                <a:solidFill>
                  <a:srgbClr val="FFFFFF"/>
                </a:solidFill>
                <a:latin typeface="Calibri"/>
              </a:rPr>
              <a:t>PADM residual scoring — overfit</a:t>
            </a:r>
          </a:p>
          <a:p>
            <a:pPr algn="l">
              <a:spcAft>
                <a:spcPts val="200"/>
              </a:spcAft>
            </a:pPr>
            <a:r>
              <a:rPr sz="950" b="0" i="0">
                <a:solidFill>
                  <a:srgbClr val="9FB4C2"/>
                </a:solidFill>
                <a:latin typeface="Calibri"/>
              </a:rPr>
              <a:t>Two tuned constants. Gained on the split it was tuned on, lost on both held-out splits.</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Coarse consensus — harmful</a:t>
            </a:r>
          </a:p>
          <a:p>
            <a:pPr algn="l">
              <a:spcAft>
                <a:spcPts val="200"/>
              </a:spcAft>
            </a:pPr>
            <a:r>
              <a:rPr sz="95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Maximum-likelihood — no gain</a:t>
            </a:r>
          </a:p>
          <a:p>
            <a:pPr algn="l">
              <a:spcAft>
                <a:spcPts val="200"/>
              </a:spcAft>
            </a:pPr>
            <a:r>
              <a:rPr sz="95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50" b="0" i="0">
                <a:solidFill>
                  <a:srgbClr val="35424D"/>
                </a:solidFill>
                <a:latin typeface="Calibri"/>
              </a:rPr>
              <a:t/>
            </a:r>
          </a:p>
          <a:p>
            <a:pPr algn="l">
              <a:spcAft>
                <a:spcPts val="200"/>
              </a:spcAft>
            </a:pPr>
            <a:r>
              <a:rPr sz="950" b="1" i="0">
                <a:solidFill>
                  <a:srgbClr val="F2A65A"/>
                </a:solidFill>
                <a:latin typeface="Calibri"/>
              </a:rPr>
              <a:t>Per-candidate pose refit — WORKS</a:t>
            </a:r>
          </a:p>
          <a:p>
            <a:pPr algn="l">
              <a:spcAft>
                <a:spcPts val="200"/>
              </a:spcAft>
            </a:pPr>
            <a:r>
              <a:rPr sz="950" b="0" i="0">
                <a:solidFill>
                  <a:srgbClr val="9FB4C2"/>
                </a:solidFill>
                <a:latin typeface="Calibri"/>
              </a:rPr>
              <a:t>Follows the line above: if mismatch dominates, reduce mismatch. Each candidate is re-SCORED at its own best pose — no new criterion, so it cannot invent a preference.</a:t>
            </a:r>
          </a:p>
        </p:txBody>
      </p:sp>
      <p:sp>
        <p:nvSpPr>
          <p:cNvPr id="9" name="TextBox 8"/>
          <p:cNvSpPr txBox="1"/>
          <p:nvPr/>
        </p:nvSpPr>
        <p:spPr>
          <a:xfrm>
            <a:off x="548640" y="4846320"/>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511.68 px — a different site entirely</a:t>
            </a:r>
          </a:p>
          <a:p>
            <a:pPr algn="l">
              <a:spcAft>
                <a:spcPts val="500"/>
              </a:spcAft>
            </a:pPr>
            <a:r>
              <a:rPr sz="1200" b="0" i="0">
                <a:solidFill>
                  <a:srgbClr val="7A3A24"/>
                </a:solidFill>
                <a:latin typeface="Calibri"/>
              </a:rPr>
              <a:t>•  The true location WAS a candidate, at rank 16</a:t>
            </a:r>
          </a:p>
          <a:p>
            <a:pPr algn="l">
              <a:spcAft>
                <a:spcPts val="500"/>
              </a:spcAft>
            </a:pPr>
            <a:r>
              <a:rPr sz="1200" b="0" i="0">
                <a:solidFill>
                  <a:srgbClr val="7A3A24"/>
                </a:solidFill>
                <a:latin typeface="Calibri"/>
              </a:rPr>
              <a:t>•  It lost by 0.0228 of correlation — 2.58% of the winning score</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ranking, not candidate generation.</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566928"/>
          </a:xfrm>
          <a:prstGeom prst="rect">
            <a:avLst/>
          </a:prstGeom>
          <a:noFill/>
        </p:spPr>
        <p:txBody>
          <a:bodyPr wrap="square" lIns="0" rIns="0" tIns="0" bIns="0" anchor="t">
            <a:spAutoFit/>
          </a:bodyPr>
          <a:lstStyle/>
          <a:p>
            <a:pPr algn="l"/>
            <a:r>
              <a:rPr sz="1450" b="1" i="0">
                <a:solidFill>
                  <a:srgbClr val="0F2233"/>
                </a:solidFill>
                <a:latin typeface="Cambria"/>
              </a:rPr>
              <a:t>Failures concentrate exactly where theory says they must</a:t>
            </a:r>
          </a:p>
        </p:txBody>
      </p:sp>
      <p:sp>
        <p:nvSpPr>
          <p:cNvPr id="10" name="TextBox 9"/>
          <p:cNvSpPr txBox="1"/>
          <p:nvPr/>
        </p:nvSpPr>
        <p:spPr>
          <a:xfrm>
            <a:off x="6583680" y="2121408"/>
            <a:ext cx="4754880" cy="384048"/>
          </a:xfrm>
          <a:prstGeom prst="rect">
            <a:avLst/>
          </a:prstGeom>
          <a:noFill/>
        </p:spPr>
        <p:txBody>
          <a:bodyPr wrap="square" lIns="0" rIns="0" tIns="0" bIns="0" anchor="t">
            <a:spAutoFit/>
          </a:bodyPr>
          <a:lstStyle/>
          <a:p>
            <a:pPr algn="l"/>
            <a:r>
              <a:rPr sz="1050" b="0" i="0">
                <a:solidFill>
                  <a:srgbClr val="5A6B78"/>
                </a:solidFill>
                <a:latin typeface="Calibri"/>
              </a:rPr>
              <a:t>Our generator labels each pair by whether an aperiodic landmark is in view. Stratifying the results by that label:</a:t>
            </a:r>
          </a:p>
        </p:txBody>
      </p:sp>
      <p:graphicFrame>
        <p:nvGraphicFramePr>
          <p:cNvPr id="11" name="Table 10"/>
          <p:cNvGraphicFramePr>
            <a:graphicFrameLocks noGrp="1"/>
          </p:cNvGraphicFramePr>
          <p:nvPr/>
        </p:nvGraphicFramePr>
        <p:xfrm>
          <a:off x="6583680" y="2560320"/>
          <a:ext cx="4754880" cy="822960"/>
        </p:xfrm>
        <a:graphic>
          <a:graphicData uri="http://schemas.openxmlformats.org/drawingml/2006/table">
            <a:tbl>
              <a:tblPr firstRow="1" bandRow="1">
                <a:tableStyleId>{5C22544A-7EE6-4342-B048-85BDC9FD1C3A}</a:tableStyleId>
              </a:tblPr>
              <a:tblGrid>
                <a:gridCol w="1920240"/>
                <a:gridCol w="640080"/>
                <a:gridCol w="1097280"/>
                <a:gridCol w="1097280"/>
              </a:tblGrid>
              <a:tr h="274320">
                <a:tc>
                  <a:txBody>
                    <a:bodyPr wrap="square"/>
                    <a:lstStyle/>
                    <a:p>
                      <a:pPr algn="l"/>
                      <a:r>
                        <a:rPr sz="1100" b="1">
                          <a:solidFill>
                            <a:srgbClr val="FFFFFF"/>
                          </a:solidFill>
                          <a:latin typeface="Calibri"/>
                        </a:rPr>
                        <a:t>Crop contains</a:t>
                      </a:r>
                    </a:p>
                  </a:txBody>
                  <a:tcPr marL="54864" marR="54864" marT="18288" marB="18288" anchor="ctr">
                    <a:solidFill>
                      <a:srgbClr val="1B3A50"/>
                    </a:solidFill>
                  </a:tcPr>
                </a:tc>
                <a:tc>
                  <a:txBody>
                    <a:bodyPr wrap="square"/>
                    <a:lstStyle/>
                    <a:p>
                      <a:pPr algn="ctr"/>
                      <a:r>
                        <a:rPr sz="1100" b="1">
                          <a:solidFill>
                            <a:srgbClr val="FFFFFF"/>
                          </a:solidFill>
                          <a:latin typeface="Calibri"/>
                        </a:rPr>
                        <a:t>n</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a mat boundary</a:t>
                      </a:r>
                    </a:p>
                  </a:txBody>
                  <a:tcPr marL="54864" marR="54864" marT="18288" marB="18288" anchor="ctr">
                    <a:solidFill>
                      <a:srgbClr val="FFFFFF"/>
                    </a:solidFill>
                  </a:tcPr>
                </a:tc>
                <a:tc>
                  <a:txBody>
                    <a:bodyPr wrap="square"/>
                    <a:lstStyle/>
                    <a:p>
                      <a:pPr algn="ctr"/>
                      <a:r>
                        <a:rPr sz="1100" b="0">
                          <a:solidFill>
                            <a:srgbClr val="35424D"/>
                          </a:solidFill>
                          <a:latin typeface="Calibri"/>
                        </a:rPr>
                        <a:t>21</a:t>
                      </a:r>
                    </a:p>
                  </a:txBody>
                  <a:tcPr marL="54864" marR="54864" marT="18288" marB="18288" anchor="ctr">
                    <a:solidFill>
                      <a:srgbClr val="FFFFFF"/>
                    </a:solidFill>
                  </a:tcPr>
                </a:tc>
                <a:tc>
                  <a:txBody>
                    <a:bodyPr wrap="square"/>
                    <a:lstStyle/>
                    <a:p>
                      <a:pPr algn="ctr"/>
                      <a:r>
                        <a:rPr sz="1100" b="0">
                          <a:solidFill>
                            <a:srgbClr val="35424D"/>
                          </a:solidFill>
                          <a:latin typeface="Calibri"/>
                        </a:rPr>
                        <a:t>5%</a:t>
                      </a:r>
                    </a:p>
                  </a:txBody>
                  <a:tcPr marL="54864" marR="54864" marT="18288" marB="18288" anchor="ctr">
                    <a:solidFill>
                      <a:srgbClr val="FFFFFF"/>
                    </a:solidFill>
                  </a:tcPr>
                </a:tc>
                <a:tc>
                  <a:txBody>
                    <a:bodyPr wrap="square"/>
                    <a:lstStyle/>
                    <a:p>
                      <a:pPr algn="ctr"/>
                      <a:r>
                        <a:rPr sz="1100" b="0">
                          <a:solidFill>
                            <a:srgbClr val="35424D"/>
                          </a:solidFill>
                          <a:latin typeface="Calibri"/>
                        </a:rPr>
                        <a:t>95%</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only lattice</a:t>
                      </a:r>
                    </a:p>
                  </a:txBody>
                  <a:tcPr marL="54864" marR="54864" marT="18288" marB="18288" anchor="ctr">
                    <a:solidFill>
                      <a:srgbClr val="ECF1F4"/>
                    </a:solidFill>
                  </a:tcPr>
                </a:tc>
                <a:tc>
                  <a:txBody>
                    <a:bodyPr wrap="square"/>
                    <a:lstStyle/>
                    <a:p>
                      <a:pPr algn="ctr"/>
                      <a:r>
                        <a:rPr sz="1100" b="0">
                          <a:solidFill>
                            <a:srgbClr val="35424D"/>
                          </a:solidFill>
                          <a:latin typeface="Calibri"/>
                        </a:rPr>
                        <a:t>9</a:t>
                      </a:r>
                    </a:p>
                  </a:txBody>
                  <a:tcPr marL="54864" marR="54864" marT="18288" marB="18288" anchor="ctr">
                    <a:solidFill>
                      <a:srgbClr val="ECF1F4"/>
                    </a:solidFill>
                  </a:tcPr>
                </a:tc>
                <a:tc>
                  <a:txBody>
                    <a:bodyPr wrap="square"/>
                    <a:lstStyle/>
                    <a:p>
                      <a:pPr algn="ctr"/>
                      <a:r>
                        <a:rPr sz="1100" b="0">
                          <a:solidFill>
                            <a:srgbClr val="35424D"/>
                          </a:solidFill>
                          <a:latin typeface="Calibri"/>
                        </a:rPr>
                        <a:t>44%</a:t>
                      </a:r>
                    </a:p>
                  </a:txBody>
                  <a:tcPr marL="54864" marR="54864" marT="18288" marB="18288" anchor="ctr">
                    <a:solidFill>
                      <a:srgbClr val="ECF1F4"/>
                    </a:solidFill>
                  </a:tcPr>
                </a:tc>
                <a:tc>
                  <a:txBody>
                    <a:bodyPr wrap="square"/>
                    <a:lstStyle/>
                    <a:p>
                      <a:pPr algn="ctr"/>
                      <a:r>
                        <a:rPr sz="1100" b="0">
                          <a:solidFill>
                            <a:srgbClr val="35424D"/>
                          </a:solidFill>
                          <a:latin typeface="Calibri"/>
                        </a:rPr>
                        <a:t>33%</a:t>
                      </a:r>
                    </a:p>
                  </a:txBody>
                  <a:tcPr marL="54864" marR="54864" marT="18288" marB="18288" anchor="ctr">
                    <a:solidFill>
                      <a:srgbClr val="ECF1F4"/>
                    </a:solidFill>
                  </a:tcPr>
                </a:tc>
              </a:tr>
            </a:tbl>
          </a:graphicData>
        </a:graphic>
      </p:graphicFrame>
      <p:sp>
        <p:nvSpPr>
          <p:cNvPr id="12" name="TextBox 11"/>
          <p:cNvSpPr txBox="1"/>
          <p:nvPr/>
        </p:nvSpPr>
        <p:spPr>
          <a:xfrm>
            <a:off x="6583680" y="3529584"/>
            <a:ext cx="4754880" cy="329184"/>
          </a:xfrm>
          <a:prstGeom prst="rect">
            <a:avLst/>
          </a:prstGeom>
          <a:noFill/>
        </p:spPr>
        <p:txBody>
          <a:bodyPr wrap="square" lIns="0" rIns="0" tIns="0" bIns="0" anchor="t">
            <a:spAutoFit/>
          </a:bodyPr>
          <a:lstStyle/>
          <a:p>
            <a:pPr algn="l"/>
            <a:r>
              <a:rPr sz="950" b="0" i="1">
                <a:solidFill>
                  <a:srgbClr val="5A6B78"/>
                </a:solidFill>
                <a:latin typeface="Calibri"/>
              </a:rPr>
              <a:t>4 of the 5 failures fall in those 9 pairs. The method fails precisely where the information needed to succeed is absent — the honest definition of the problem's limit.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Selection is still the cap</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Every pass rate is capped by the mis-lock rate. The truth is in the top-20 on 28/30 pairs (93.3%), so a perfect re-ranker would still have room to roughly halve what remains.</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393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Untested axes remain</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Barrel distortion, astigmatism, charging streaks and impulse noise are modelled but not stratified — untested, not proven harmless.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16.7%</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13.3%</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70.0%</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743200"/>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three findings we would carry to any similar problem</a:t>
            </a:r>
          </a:p>
        </p:txBody>
      </p:sp>
      <p:sp>
        <p:nvSpPr>
          <p:cNvPr id="13" name="Oval 12"/>
          <p:cNvSpPr/>
          <p:nvPr/>
        </p:nvSpPr>
        <p:spPr>
          <a:xfrm>
            <a:off x="566928" y="320040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82112"/>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447288"/>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4133087"/>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4114800"/>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379975"/>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506577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5047488"/>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312664"/>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TextBox 21"/>
          <p:cNvSpPr txBox="1"/>
          <p:nvPr/>
        </p:nvSpPr>
        <p:spPr>
          <a:xfrm>
            <a:off x="548640" y="608076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the correct answer is still in the candidate set on 28/30 pairs, so selection remains the cap — and the one stage that beat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