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22.5</c:v>
                </c:pt>
                <c:pt idx="1">
                  <c:v>16.666700000000002</c:v>
                </c:pt>
                <c:pt idx="2">
                  <c:v>13.333300000000001</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0.254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"547.04,289.63"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share on mat boundaries</a:t>
            </a:r>
          </a:p>
          <a:p>
            <a:pPr algn="l">
              <a:spcAft>
                <a:spcPts val="500"/>
              </a:spcAft>
            </a:pPr>
            <a:r>
              <a:rPr sz="1100" b="0" i="0">
                <a:solidFill>
                  <a:srgbClr val="35424D"/>
                </a:solidFill>
                <a:latin typeface="Calibri"/>
              </a:rPr>
              <a:t>•  Dose 2000 on the reference against 200 on the search</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22.5%</a:t>
                      </a:r>
                    </a:p>
                  </a:txBody>
                  <a:tcPr marL="54864" marR="54864" marT="18288" marB="18288" anchor="ctr">
                    <a:solidFill>
                      <a:srgbClr val="ECF1F4"/>
                    </a:solidFill>
                  </a:tcPr>
                </a:tc>
                <a:tc>
                  <a:txBody>
                    <a:bodyPr wrap="square"/>
                    <a:lstStyle/>
                    <a:p>
                      <a:pPr algn="ctr"/>
                      <a:r>
                        <a:rPr sz="1100" b="0">
                          <a:solidFill>
                            <a:srgbClr val="35424D"/>
                          </a:solidFill>
                          <a:latin typeface="Calibri"/>
                        </a:rPr>
                        <a:t>0.275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370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0.337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393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13.3%</a:t>
                      </a:r>
                    </a:p>
                  </a:txBody>
                  <a:tcPr marL="54864" marR="54864" marT="18288" marB="18288" anchor="ctr">
                    <a:solidFill>
                      <a:srgbClr val="ECF1F4"/>
                    </a:solidFill>
                  </a:tcPr>
                </a:tc>
                <a:tc>
                  <a:txBody>
                    <a:bodyPr wrap="square"/>
                    <a:lstStyle/>
                    <a:p>
                      <a:pPr algn="ctr"/>
                      <a:r>
                        <a:rPr sz="1100" b="0">
                          <a:solidFill>
                            <a:srgbClr val="35424D"/>
                          </a:solidFill>
                          <a:latin typeface="Calibri"/>
                        </a:rPr>
                        <a:t>0.201</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400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0.275 px and the sub-pixel pass rate rises from 17.5% to 70.0%.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511.68 px — a different site entirely</a:t>
            </a:r>
          </a:p>
          <a:p>
            <a:pPr algn="l">
              <a:spcAft>
                <a:spcPts val="500"/>
              </a:spcAft>
            </a:pPr>
            <a:r>
              <a:rPr sz="1200" b="0" i="0">
                <a:solidFill>
                  <a:srgbClr val="7A3A24"/>
                </a:solidFill>
                <a:latin typeface="Calibri"/>
              </a:rPr>
              <a:t>•  The true location WAS a candidate, at rank 16</a:t>
            </a:r>
          </a:p>
          <a:p>
            <a:pPr algn="l">
              <a:spcAft>
                <a:spcPts val="500"/>
              </a:spcAft>
            </a:pPr>
            <a:r>
              <a:rPr sz="1200" b="0" i="0">
                <a:solidFill>
                  <a:srgbClr val="7A3A24"/>
                </a:solidFill>
                <a:latin typeface="Calibri"/>
              </a:rPr>
              <a:t>•  It lost by 0.0228 of correlation — 2.58%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graphicFrame>
        <p:nvGraphicFramePr>
          <p:cNvPr id="10" name="Table 9"/>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5%</a:t>
                      </a:r>
                    </a:p>
                  </a:txBody>
                  <a:tcPr marL="54864" marR="54864" marT="18288" marB="18288" anchor="ctr">
                    <a:solidFill>
                      <a:srgbClr val="FFFFFF"/>
                    </a:solidFill>
                  </a:tcPr>
                </a:tc>
                <a:tc>
                  <a:txBody>
                    <a:bodyPr wrap="square"/>
                    <a:lstStyle/>
                    <a:p>
                      <a:pPr algn="ctr"/>
                      <a:r>
                        <a:rPr sz="1100" b="0">
                          <a:solidFill>
                            <a:srgbClr val="35424D"/>
                          </a:solidFill>
                          <a:latin typeface="Calibri"/>
                        </a:rPr>
                        <a:t>95%</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44%</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r>
            </a:tbl>
          </a:graphicData>
        </a:graphic>
      </p:graphicFrame>
      <p:sp>
        <p:nvSpPr>
          <p:cNvPr id="11" name="TextBox 10"/>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2" name="Rounded Rectangle 11"/>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4" name="TextBox 13"/>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5" name="Rounded Rectangle 14"/>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7" name="TextBox 16"/>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393 ms per pair against a 300 ms goal. The per-candidate refit is most of it; top_k is the dial. We took 9 points of mis-lock for the time.</a:t>
            </a:r>
          </a:p>
        </p:txBody>
      </p:sp>
      <p:sp>
        <p:nvSpPr>
          <p:cNvPr id="18" name="Rounded Rectangle 17"/>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0" name="TextBox 19"/>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70.0%</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