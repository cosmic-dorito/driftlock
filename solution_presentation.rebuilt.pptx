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solidFill>
                  <a:srgbClr val="0F2233"/>
                </a:solidFill>
              </a:rPr>
              <a:t>Mis-lock rate (%) — lower is better</a:t>
            </a:r>
          </a:p>
        </c:rich>
      </c:tx>
      <c:layout/>
      <c:overlay val="0"/>
    </c:title>
    <c:autoTitleDeleted val="0"/>
    <c:plotArea>
      <c:barChart>
        <c:barDir val="col"/>
        <c:grouping val="clustered"/>
        <c:ser>
          <c:idx val="0"/>
          <c:order val="0"/>
          <c:tx>
            <c:strRef>
              <c:f>Sheet1!$B$1</c:f>
              <c:strCache>
                <c:ptCount val="1"/>
                <c:pt idx="0">
                  <c:v>Baseline</c:v>
                </c:pt>
              </c:strCache>
            </c:strRef>
          </c:tx>
          <c:spPr>
            <a:solidFill>
              <a:srgbClr val="5A6B78"/>
            </a:solidFill>
          </c:spPr>
          <c:cat>
            <c:strRef>
              <c:f>Sheet1!$A$2:$A$4</c:f>
              <c:strCache>
                <c:ptCount val="3"/>
                <c:pt idx="0">
                  <c:v>sponsor</c:v>
                </c:pt>
                <c:pt idx="1">
                  <c:v>bench</c:v>
                </c:pt>
                <c:pt idx="2">
                  <c:v>FinFET</c:v>
                </c:pt>
              </c:strCache>
            </c:strRef>
          </c:cat>
          <c:val>
            <c:numRef>
              <c:f>Sheet1!$B$2:$B$4</c:f>
              <c:numCache>
                <c:formatCode>General</c:formatCode>
                <c:ptCount val="3"/>
                <c:pt idx="0">
                  <c:v>25.0</c:v>
                </c:pt>
                <c:pt idx="1">
                  <c:v>76.66669999999999</c:v>
                </c:pt>
                <c:pt idx="2">
                  <c:v>90.0</c:v>
                </c:pt>
              </c:numCache>
            </c:numRef>
          </c:val>
        </c:ser>
        <c:ser>
          <c:idx val="1"/>
          <c:order val="1"/>
          <c:tx>
            <c:strRef>
              <c:f>Sheet1!$C$1</c:f>
              <c:strCache>
                <c:ptCount val="1"/>
                <c:pt idx="0">
                  <c:v>DriftLock</c:v>
                </c:pt>
              </c:strCache>
            </c:strRef>
          </c:tx>
          <c:spPr>
            <a:solidFill>
              <a:srgbClr val="1C7293"/>
            </a:solidFill>
          </c:spPr>
          <c:cat>
            <c:strRef>
              <c:f>Sheet1!$A$2:$A$4</c:f>
              <c:strCache>
                <c:ptCount val="3"/>
                <c:pt idx="0">
                  <c:v>sponsor</c:v>
                </c:pt>
                <c:pt idx="1">
                  <c:v>bench</c:v>
                </c:pt>
                <c:pt idx="2">
                  <c:v>FinFET</c:v>
                </c:pt>
              </c:strCache>
            </c:strRef>
          </c:cat>
          <c:val>
            <c:numRef>
              <c:f>Sheet1!$C$2:$C$4</c:f>
              <c:numCache>
                <c:formatCode>General</c:formatCode>
                <c:ptCount val="3"/>
                <c:pt idx="0">
                  <c:v>25.0</c:v>
                </c:pt>
                <c:pt idx="1">
                  <c:v>23.3333</c:v>
                </c:pt>
                <c:pt idx="2">
                  <c:v>16.666700000000002</c:v>
                </c:pt>
              </c:numCache>
            </c:numRef>
          </c:val>
        </c:ser>
        <c:dLbls>
          <c:numFmt formatCode="0.0" sourceLinked="0"/>
          <c:txPr>
            <a:bodyPr/>
            <a:lstStyle/>
            <a:p>
              <a:pPr>
                <a:defRPr sz="9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0.0"/>
        </c:scaling>
        <c:delete val="0"/>
        <c:axPos val="l"/>
        <c:majorGridlines/>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DriftLock locates a 100x reference pattern inside a 10x search image. The thesis: we know the forward model, so localization is a maximum-likelihood inverse problem, not a similarity 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mis-lock rate is reported separately because the error distribution is bimodal - a pair is either located to about a pixel, or lost by hundreds.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R1: a citation nobody opened is not a citation. REFERENCES.md records who verified each row and on what date.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results/ is regenerated by `make bench`; scripts/verify_submission.py fails the build on any deck number not found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233"/>
        </a:solidFill>
        <a:effectLst/>
      </p:bgPr>
    </p:bg>
    <p:spTree>
      <p:nvGrpSpPr>
        <p:cNvPr id="1" name=""/>
        <p:cNvGrpSpPr/>
        <p:nvPr/>
      </p:nvGrpSpPr>
      <p:grpSpPr/>
      <p:sp>
        <p:nvSpPr>
          <p:cNvPr id="2" name="TextBox 1"/>
          <p:cNvSpPr txBox="1"/>
          <p:nvPr/>
        </p:nvSpPr>
        <p:spPr>
          <a:xfrm>
            <a:off x="731520" y="1234440"/>
            <a:ext cx="8229600" cy="914400"/>
          </a:xfrm>
          <a:prstGeom prst="rect">
            <a:avLst/>
          </a:prstGeom>
          <a:noFill/>
        </p:spPr>
        <p:txBody>
          <a:bodyPr wrap="square" lIns="0" rIns="0" tIns="0" bIns="0" anchor="t">
            <a:spAutoFit/>
          </a:bodyPr>
          <a:lstStyle/>
          <a:p>
            <a:pPr algn="l"/>
            <a:r>
              <a:rPr sz="5200" b="1" i="0">
                <a:solidFill>
                  <a:srgbClr val="FFFFFF"/>
                </a:solidFill>
                <a:latin typeface="Cambria"/>
              </a:rPr>
              <a:t>DriftLock</a:t>
            </a:r>
          </a:p>
        </p:txBody>
      </p:sp>
      <p:sp>
        <p:nvSpPr>
          <p:cNvPr id="3" name="TextBox 2"/>
          <p:cNvSpPr txBox="1"/>
          <p:nvPr/>
        </p:nvSpPr>
        <p:spPr>
          <a:xfrm>
            <a:off x="731520" y="2212848"/>
            <a:ext cx="9601200" cy="457200"/>
          </a:xfrm>
          <a:prstGeom prst="rect">
            <a:avLst/>
          </a:prstGeom>
          <a:noFill/>
        </p:spPr>
        <p:txBody>
          <a:bodyPr wrap="square" lIns="0" rIns="0" tIns="0" bIns="0" anchor="t">
            <a:spAutoFit/>
          </a:bodyPr>
          <a:lstStyle/>
          <a:p>
            <a:pPr algn="l"/>
            <a:r>
              <a:rPr sz="2100" b="0" i="1">
                <a:solidFill>
                  <a:srgbClr val="F2A65A"/>
                </a:solidFill>
                <a:latin typeface="Cambria"/>
              </a:rPr>
              <a:t>We don't match images — we invert the microscope.</a:t>
            </a:r>
          </a:p>
        </p:txBody>
      </p:sp>
      <p:sp>
        <p:nvSpPr>
          <p:cNvPr id="4" name="TextBox 3"/>
          <p:cNvSpPr txBox="1"/>
          <p:nvPr/>
        </p:nvSpPr>
        <p:spPr>
          <a:xfrm>
            <a:off x="731520" y="2834640"/>
            <a:ext cx="7589520" cy="1234440"/>
          </a:xfrm>
          <a:prstGeom prst="rect">
            <a:avLst/>
          </a:prstGeom>
          <a:noFill/>
        </p:spPr>
        <p:txBody>
          <a:bodyPr wrap="square" lIns="0" rIns="0" tIns="0" bIns="0" anchor="t">
            <a:spAutoFit/>
          </a:bodyPr>
          <a:lstStyle/>
          <a:p>
            <a:pPr algn="l"/>
            <a:r>
              <a:rPr sz="1300" b="0" i="0">
                <a:solidFill>
                  <a:srgbClr val="C3D2DC"/>
                </a:solidFill>
                <a:latin typeface="Calibri"/>
              </a:rPr>
              <a:t>Cross-magnification pattern localization in repetitive semiconductor layouts. Because the forward model of the acquisition is known, localization is an inverse problem rather than a similarity search — and the periodic lattice everyone treats as the enemy turns out to be the most precise ruler in the image.</a:t>
            </a:r>
          </a:p>
        </p:txBody>
      </p:sp>
      <p:sp>
        <p:nvSpPr>
          <p:cNvPr id="5" name="TextBox 4"/>
          <p:cNvSpPr txBox="1"/>
          <p:nvPr/>
        </p:nvSpPr>
        <p:spPr>
          <a:xfrm>
            <a:off x="731520" y="4297680"/>
            <a:ext cx="2240280" cy="457200"/>
          </a:xfrm>
          <a:prstGeom prst="rect">
            <a:avLst/>
          </a:prstGeom>
          <a:noFill/>
        </p:spPr>
        <p:txBody>
          <a:bodyPr wrap="square" lIns="0" rIns="0" tIns="0" bIns="0" anchor="t">
            <a:spAutoFit/>
          </a:bodyPr>
          <a:lstStyle/>
          <a:p>
            <a:pPr algn="l"/>
            <a:r>
              <a:rPr sz="2600" b="1" i="0">
                <a:solidFill>
                  <a:srgbClr val="FFFFFF"/>
                </a:solidFill>
                <a:latin typeface="Cambria"/>
              </a:rPr>
              <a:t>23.3%</a:t>
            </a:r>
          </a:p>
        </p:txBody>
      </p:sp>
      <p:sp>
        <p:nvSpPr>
          <p:cNvPr id="6" name="TextBox 5"/>
          <p:cNvSpPr txBox="1"/>
          <p:nvPr/>
        </p:nvSpPr>
        <p:spPr>
          <a:xfrm>
            <a:off x="731520" y="4754880"/>
            <a:ext cx="2240280" cy="320040"/>
          </a:xfrm>
          <a:prstGeom prst="rect">
            <a:avLst/>
          </a:prstGeom>
          <a:noFill/>
        </p:spPr>
        <p:txBody>
          <a:bodyPr wrap="square" lIns="0" rIns="0" tIns="0" bIns="0" anchor="t">
            <a:spAutoFit/>
          </a:bodyPr>
          <a:lstStyle/>
          <a:p>
            <a:pPr algn="l"/>
            <a:r>
              <a:rPr sz="1050" b="0" i="0">
                <a:solidFill>
                  <a:srgbClr val="C3D2DC"/>
                </a:solidFill>
                <a:latin typeface="Calibri"/>
              </a:rPr>
              <a:t>mis-lock, held-out bench</a:t>
            </a:r>
          </a:p>
        </p:txBody>
      </p:sp>
      <p:sp>
        <p:nvSpPr>
          <p:cNvPr id="7" name="TextBox 6"/>
          <p:cNvSpPr txBox="1"/>
          <p:nvPr/>
        </p:nvSpPr>
        <p:spPr>
          <a:xfrm>
            <a:off x="3063239" y="4297680"/>
            <a:ext cx="2240280" cy="457200"/>
          </a:xfrm>
          <a:prstGeom prst="rect">
            <a:avLst/>
          </a:prstGeom>
          <a:noFill/>
        </p:spPr>
        <p:txBody>
          <a:bodyPr wrap="square" lIns="0" rIns="0" tIns="0" bIns="0" anchor="t">
            <a:spAutoFit/>
          </a:bodyPr>
          <a:lstStyle/>
          <a:p>
            <a:pPr algn="l"/>
            <a:r>
              <a:rPr sz="2600" b="1" i="0">
                <a:solidFill>
                  <a:srgbClr val="FFFFFF"/>
                </a:solidFill>
                <a:latin typeface="Cambria"/>
              </a:rPr>
              <a:t>0.254 px</a:t>
            </a:r>
          </a:p>
        </p:txBody>
      </p:sp>
      <p:sp>
        <p:nvSpPr>
          <p:cNvPr id="8" name="TextBox 7"/>
          <p:cNvSpPr txBox="1"/>
          <p:nvPr/>
        </p:nvSpPr>
        <p:spPr>
          <a:xfrm>
            <a:off x="3063239" y="4754880"/>
            <a:ext cx="2240280" cy="320040"/>
          </a:xfrm>
          <a:prstGeom prst="rect">
            <a:avLst/>
          </a:prstGeom>
          <a:noFill/>
        </p:spPr>
        <p:txBody>
          <a:bodyPr wrap="square" lIns="0" rIns="0" tIns="0" bIns="0" anchor="t">
            <a:spAutoFit/>
          </a:bodyPr>
          <a:lstStyle/>
          <a:p>
            <a:pPr algn="l"/>
            <a:r>
              <a:rPr sz="1050" b="0" i="0">
                <a:solidFill>
                  <a:srgbClr val="C3D2DC"/>
                </a:solidFill>
                <a:latin typeface="Calibri"/>
              </a:rPr>
              <a:t>median error, located pairs</a:t>
            </a:r>
          </a:p>
        </p:txBody>
      </p:sp>
      <p:sp>
        <p:nvSpPr>
          <p:cNvPr id="9" name="TextBox 8"/>
          <p:cNvSpPr txBox="1"/>
          <p:nvPr/>
        </p:nvSpPr>
        <p:spPr>
          <a:xfrm>
            <a:off x="5394959" y="4297680"/>
            <a:ext cx="2240280" cy="457200"/>
          </a:xfrm>
          <a:prstGeom prst="rect">
            <a:avLst/>
          </a:prstGeom>
          <a:noFill/>
        </p:spPr>
        <p:txBody>
          <a:bodyPr wrap="square" lIns="0" rIns="0" tIns="0" bIns="0" anchor="t">
            <a:spAutoFit/>
          </a:bodyPr>
          <a:lstStyle/>
          <a:p>
            <a:pPr algn="l"/>
            <a:r>
              <a:rPr sz="2600" b="1" i="0">
                <a:solidFill>
                  <a:srgbClr val="FFFFFF"/>
                </a:solidFill>
                <a:latin typeface="Cambria"/>
              </a:rPr>
              <a:t>63.3%</a:t>
            </a:r>
          </a:p>
        </p:txBody>
      </p:sp>
      <p:sp>
        <p:nvSpPr>
          <p:cNvPr id="10" name="TextBox 9"/>
          <p:cNvSpPr txBox="1"/>
          <p:nvPr/>
        </p:nvSpPr>
        <p:spPr>
          <a:xfrm>
            <a:off x="5394959" y="4754880"/>
            <a:ext cx="2240280" cy="320040"/>
          </a:xfrm>
          <a:prstGeom prst="rect">
            <a:avLst/>
          </a:prstGeom>
          <a:noFill/>
        </p:spPr>
        <p:txBody>
          <a:bodyPr wrap="square" lIns="0" rIns="0" tIns="0" bIns="0" anchor="t">
            <a:spAutoFit/>
          </a:bodyPr>
          <a:lstStyle/>
          <a:p>
            <a:pPr algn="l"/>
            <a:r>
              <a:rPr sz="1050" b="0" i="0">
                <a:solidFill>
                  <a:srgbClr val="C3D2DC"/>
                </a:solidFill>
                <a:latin typeface="Calibri"/>
              </a:rPr>
              <a:t>sub-pixel pass rate</a:t>
            </a:r>
          </a:p>
        </p:txBody>
      </p:sp>
      <p:sp>
        <p:nvSpPr>
          <p:cNvPr id="11" name="Rectangle 10"/>
          <p:cNvSpPr/>
          <p:nvPr/>
        </p:nvSpPr>
        <p:spPr>
          <a:xfrm>
            <a:off x="8732520" y="1234440"/>
            <a:ext cx="2697480" cy="2697480"/>
          </a:xfrm>
          <a:prstGeom prst="rect">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915400" y="141732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262872" y="141732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10344" y="141732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957816" y="141732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05288" y="141732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652760" y="141732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00232" y="141732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15400" y="176479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62872" y="176479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10344" y="176479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57816" y="176479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05288" y="176479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52760" y="176479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000232" y="176479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915400" y="2112264"/>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62872" y="2112264"/>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10344" y="2112264"/>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57816" y="2112264"/>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05288" y="2112264"/>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652760" y="2112264"/>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0232" y="2112264"/>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915400" y="2459736"/>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262872" y="2459736"/>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10344" y="2459736"/>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957816" y="2459736"/>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05288" y="2459736"/>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52760" y="2459736"/>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000232" y="2459736"/>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915400" y="2807208"/>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262872" y="2807208"/>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610344" y="2807208"/>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957816" y="2807208"/>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05288" y="2807208"/>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652760" y="2807208"/>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000232" y="2807208"/>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915400" y="31546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262872" y="315468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610344" y="31546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957816" y="315468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305288" y="31546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652760" y="315468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1000232" y="31546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915400" y="350215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262872" y="350215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610344" y="350215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957816" y="350215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305288" y="350215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652760" y="350215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000232" y="350215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765792" y="2267712"/>
            <a:ext cx="713232" cy="713232"/>
          </a:xfrm>
          <a:prstGeom prst="rect">
            <a:avLst/>
          </a:prstGeom>
          <a:noFill/>
          <a:ln w="222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732520" y="4041648"/>
            <a:ext cx="2697480" cy="274320"/>
          </a:xfrm>
          <a:prstGeom prst="rect">
            <a:avLst/>
          </a:prstGeom>
          <a:noFill/>
        </p:spPr>
        <p:txBody>
          <a:bodyPr wrap="square" lIns="0" rIns="0" tIns="0" bIns="0" anchor="t">
            <a:spAutoFit/>
          </a:bodyPr>
          <a:lstStyle/>
          <a:p>
            <a:pPr algn="ctr"/>
            <a:r>
              <a:rPr sz="900" b="0" i="0">
                <a:solidFill>
                  <a:srgbClr val="8FA6B4"/>
                </a:solidFill>
                <a:latin typeface="Calibri"/>
              </a:rPr>
              <a:t>one cell in ten thousand looks like every other</a:t>
            </a:r>
          </a:p>
        </p:txBody>
      </p:sp>
      <p:sp>
        <p:nvSpPr>
          <p:cNvPr id="63" name="TextBox 62"/>
          <p:cNvSpPr txBox="1"/>
          <p:nvPr/>
        </p:nvSpPr>
        <p:spPr>
          <a:xfrm>
            <a:off x="731520" y="5989320"/>
            <a:ext cx="10698480" cy="320040"/>
          </a:xfrm>
          <a:prstGeom prst="rect">
            <a:avLst/>
          </a:prstGeom>
          <a:noFill/>
        </p:spPr>
        <p:txBody>
          <a:bodyPr wrap="square" lIns="0" rIns="0" tIns="0" bIns="0" anchor="t">
            <a:spAutoFit/>
          </a:bodyPr>
          <a:lstStyle/>
          <a:p>
            <a:pPr algn="l"/>
            <a:r>
              <a:rPr sz="1150" b="0" i="0">
                <a:solidFill>
                  <a:srgbClr val="7C93A2"/>
                </a:solidFill>
                <a:latin typeface="Calibri"/>
              </a:rPr>
              <a:t>Team DriftLock  ·  SEMICON India Hackathon 2026  ·  Applied Materials “Drift-Sense”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The problem, and why it is genuinely hard</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A wrong answer does not look wrong — it looks like a perfect match one cell over</a:t>
            </a:r>
          </a:p>
        </p:txBody>
      </p:sp>
      <p:sp>
        <p:nvSpPr>
          <p:cNvPr id="4" name="Rounded Rectangle 3"/>
          <p:cNvSpPr/>
          <p:nvPr/>
        </p:nvSpPr>
        <p:spPr>
          <a:xfrm>
            <a:off x="548640" y="1371600"/>
            <a:ext cx="5486400" cy="18288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4937760" cy="320040"/>
          </a:xfrm>
          <a:prstGeom prst="rect">
            <a:avLst/>
          </a:prstGeom>
          <a:noFill/>
        </p:spPr>
        <p:txBody>
          <a:bodyPr wrap="square" lIns="0" rIns="0" tIns="0" bIns="0" anchor="t">
            <a:spAutoFit/>
          </a:bodyPr>
          <a:lstStyle/>
          <a:p>
            <a:pPr algn="l"/>
            <a:r>
              <a:rPr sz="1600" b="1" i="0">
                <a:solidFill>
                  <a:srgbClr val="0F2233"/>
                </a:solidFill>
                <a:latin typeface="Cambria"/>
              </a:rPr>
              <a:t>Cross-magnification localization</a:t>
            </a:r>
          </a:p>
        </p:txBody>
      </p:sp>
      <p:sp>
        <p:nvSpPr>
          <p:cNvPr id="6" name="TextBox 5"/>
          <p:cNvSpPr txBox="1"/>
          <p:nvPr/>
        </p:nvSpPr>
        <p:spPr>
          <a:xfrm>
            <a:off x="822960" y="1920240"/>
            <a:ext cx="4937760" cy="1143000"/>
          </a:xfrm>
          <a:prstGeom prst="rect">
            <a:avLst/>
          </a:prstGeom>
          <a:noFill/>
        </p:spPr>
        <p:txBody>
          <a:bodyPr wrap="square" lIns="0" rIns="0" tIns="0" bIns="0" anchor="t">
            <a:spAutoFit/>
          </a:bodyPr>
          <a:lstStyle/>
          <a:p>
            <a:pPr algn="l">
              <a:spcAft>
                <a:spcPts val="400"/>
              </a:spcAft>
            </a:pPr>
            <a:r>
              <a:rPr sz="1200" b="0" i="0">
                <a:solidFill>
                  <a:srgbClr val="35424D"/>
                </a:solidFill>
                <a:latin typeface="Calibri"/>
              </a:rPr>
              <a:t>•  Reference: 1000 × 1000 at 100× (1 nm per pixel)</a:t>
            </a:r>
          </a:p>
          <a:p>
            <a:pPr algn="l">
              <a:spcAft>
                <a:spcPts val="400"/>
              </a:spcAft>
            </a:pPr>
            <a:r>
              <a:rPr sz="1200" b="0" i="0">
                <a:solidFill>
                  <a:srgbClr val="35424D"/>
                </a:solidFill>
                <a:latin typeface="Calibri"/>
              </a:rPr>
              <a:t>•  Search: 1000 × 1000 at 10× (about 10 nm per pixel)</a:t>
            </a:r>
          </a:p>
          <a:p>
            <a:pPr algn="l">
              <a:spcAft>
                <a:spcPts val="400"/>
              </a:spcAft>
            </a:pPr>
            <a:r>
              <a:rPr sz="1200" b="0" i="0">
                <a:solidFill>
                  <a:srgbClr val="35424D"/>
                </a:solidFill>
                <a:latin typeface="Calibri"/>
              </a:rPr>
              <a:t>•  So the reference occupies only 100 × 100 px of the search image — 1% of its area</a:t>
            </a:r>
          </a:p>
        </p:txBody>
      </p:sp>
      <p:sp>
        <p:nvSpPr>
          <p:cNvPr id="7" name="Rounded Rectangle 6"/>
          <p:cNvSpPr/>
          <p:nvPr/>
        </p:nvSpPr>
        <p:spPr>
          <a:xfrm>
            <a:off x="6309360" y="1371600"/>
            <a:ext cx="5303520" cy="1828800"/>
          </a:xfrm>
          <a:prstGeom prst="roundRect">
            <a:avLst>
              <a:gd name="adj" fmla="val 4000"/>
            </a:avLst>
          </a:prstGeom>
          <a:solidFill>
            <a:srgbClr val="FDF3E7"/>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4754880" cy="320040"/>
          </a:xfrm>
          <a:prstGeom prst="rect">
            <a:avLst/>
          </a:prstGeom>
          <a:noFill/>
        </p:spPr>
        <p:txBody>
          <a:bodyPr wrap="square" lIns="0" rIns="0" tIns="0" bIns="0" anchor="t">
            <a:spAutoFit/>
          </a:bodyPr>
          <a:lstStyle/>
          <a:p>
            <a:pPr algn="l"/>
            <a:r>
              <a:rPr sz="1600" b="1" i="0">
                <a:solidFill>
                  <a:srgbClr val="8A4B12"/>
                </a:solidFill>
                <a:latin typeface="Cambria"/>
              </a:rPr>
              <a:t>Why periodicity is the whole problem</a:t>
            </a:r>
          </a:p>
        </p:txBody>
      </p:sp>
      <p:sp>
        <p:nvSpPr>
          <p:cNvPr id="9" name="TextBox 8"/>
          <p:cNvSpPr txBox="1"/>
          <p:nvPr/>
        </p:nvSpPr>
        <p:spPr>
          <a:xfrm>
            <a:off x="6583680" y="1920240"/>
            <a:ext cx="4754880" cy="1188720"/>
          </a:xfrm>
          <a:prstGeom prst="rect">
            <a:avLst/>
          </a:prstGeom>
          <a:noFill/>
        </p:spPr>
        <p:txBody>
          <a:bodyPr wrap="square" lIns="0" rIns="0" tIns="0" bIns="0" anchor="t">
            <a:spAutoFit/>
          </a:bodyPr>
          <a:lstStyle/>
          <a:p>
            <a:pPr algn="l"/>
            <a:r>
              <a:rPr sz="1200" b="0" i="0">
                <a:solidFill>
                  <a:srgbClr val="6B4520"/>
                </a:solidFill>
                <a:latin typeface="Calibri"/>
              </a:rPr>
              <a:t>A DRAM array is periodic by design, so a wrong repeat is a structurally valid match — not a blurry one that a better similarity measure would reject. Measured on real pairs, the true location beats its best impostor by a median of only 0.016 in correlation while sitting 45 px away.</a:t>
            </a:r>
          </a:p>
        </p:txBody>
      </p:sp>
      <p:sp>
        <p:nvSpPr>
          <p:cNvPr id="10" name="TextBox 9"/>
          <p:cNvSpPr txBox="1"/>
          <p:nvPr/>
        </p:nvSpPr>
        <p:spPr>
          <a:xfrm>
            <a:off x="548640" y="3474720"/>
            <a:ext cx="5486400" cy="320040"/>
          </a:xfrm>
          <a:prstGeom prst="rect">
            <a:avLst/>
          </a:prstGeom>
          <a:noFill/>
        </p:spPr>
        <p:txBody>
          <a:bodyPr wrap="square" lIns="0" rIns="0" tIns="0" bIns="0" anchor="t">
            <a:spAutoFit/>
          </a:bodyPr>
          <a:lstStyle/>
          <a:p>
            <a:pPr algn="l"/>
            <a:r>
              <a:rPr sz="1600" b="1" i="0">
                <a:solidFill>
                  <a:srgbClr val="0F2233"/>
                </a:solidFill>
                <a:latin typeface="Cambria"/>
              </a:rPr>
              <a:t>What a mis-lock costs downstream</a:t>
            </a:r>
          </a:p>
        </p:txBody>
      </p:sp>
      <p:sp>
        <p:nvSpPr>
          <p:cNvPr id="11" name="Oval 10"/>
          <p:cNvSpPr/>
          <p:nvPr/>
        </p:nvSpPr>
        <p:spPr>
          <a:xfrm>
            <a:off x="566928" y="3931920"/>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12" name="TextBox 11"/>
          <p:cNvSpPr txBox="1"/>
          <p:nvPr/>
        </p:nvSpPr>
        <p:spPr>
          <a:xfrm>
            <a:off x="1097280" y="3913632"/>
            <a:ext cx="4937760" cy="274320"/>
          </a:xfrm>
          <a:prstGeom prst="rect">
            <a:avLst/>
          </a:prstGeom>
          <a:noFill/>
        </p:spPr>
        <p:txBody>
          <a:bodyPr wrap="square" lIns="0" rIns="0" tIns="0" bIns="0" anchor="t">
            <a:spAutoFit/>
          </a:bodyPr>
          <a:lstStyle/>
          <a:p>
            <a:pPr algn="l"/>
            <a:r>
              <a:rPr sz="1250" b="1" i="0">
                <a:solidFill>
                  <a:srgbClr val="0F2233"/>
                </a:solidFill>
                <a:latin typeface="Calibri"/>
              </a:rPr>
              <a:t>The tool moves to the wrong cell</a:t>
            </a:r>
          </a:p>
        </p:txBody>
      </p:sp>
      <p:sp>
        <p:nvSpPr>
          <p:cNvPr id="13" name="TextBox 12"/>
          <p:cNvSpPr txBox="1"/>
          <p:nvPr/>
        </p:nvSpPr>
        <p:spPr>
          <a:xfrm>
            <a:off x="1097280" y="4169663"/>
            <a:ext cx="4937760" cy="292608"/>
          </a:xfrm>
          <a:prstGeom prst="rect">
            <a:avLst/>
          </a:prstGeom>
          <a:noFill/>
        </p:spPr>
        <p:txBody>
          <a:bodyPr wrap="square" lIns="0" rIns="0" tIns="0" bIns="0" anchor="t">
            <a:spAutoFit/>
          </a:bodyPr>
          <a:lstStyle/>
          <a:p>
            <a:pPr algn="l"/>
            <a:r>
              <a:rPr sz="1050" b="0" i="0">
                <a:solidFill>
                  <a:srgbClr val="5A6B78"/>
                </a:solidFill>
                <a:latin typeface="Calibri"/>
              </a:rPr>
              <a:t>it then measures a structurally identical but different site</a:t>
            </a:r>
          </a:p>
        </p:txBody>
      </p:sp>
      <p:sp>
        <p:nvSpPr>
          <p:cNvPr id="14" name="Oval 13"/>
          <p:cNvSpPr/>
          <p:nvPr/>
        </p:nvSpPr>
        <p:spPr>
          <a:xfrm>
            <a:off x="566928" y="4663440"/>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15" name="TextBox 14"/>
          <p:cNvSpPr txBox="1"/>
          <p:nvPr/>
        </p:nvSpPr>
        <p:spPr>
          <a:xfrm>
            <a:off x="1097280" y="4645152"/>
            <a:ext cx="4937760" cy="274320"/>
          </a:xfrm>
          <a:prstGeom prst="rect">
            <a:avLst/>
          </a:prstGeom>
          <a:noFill/>
        </p:spPr>
        <p:txBody>
          <a:bodyPr wrap="square" lIns="0" rIns="0" tIns="0" bIns="0" anchor="t">
            <a:spAutoFit/>
          </a:bodyPr>
          <a:lstStyle/>
          <a:p>
            <a:pPr algn="l"/>
            <a:r>
              <a:rPr sz="1250" b="1" i="0">
                <a:solidFill>
                  <a:srgbClr val="0F2233"/>
                </a:solidFill>
                <a:latin typeface="Calibri"/>
              </a:rPr>
              <a:t>The error is invisible to averages</a:t>
            </a:r>
          </a:p>
        </p:txBody>
      </p:sp>
      <p:sp>
        <p:nvSpPr>
          <p:cNvPr id="16" name="TextBox 15"/>
          <p:cNvSpPr txBox="1"/>
          <p:nvPr/>
        </p:nvSpPr>
        <p:spPr>
          <a:xfrm>
            <a:off x="1097280" y="4901183"/>
            <a:ext cx="4937760" cy="292608"/>
          </a:xfrm>
          <a:prstGeom prst="rect">
            <a:avLst/>
          </a:prstGeom>
          <a:noFill/>
        </p:spPr>
        <p:txBody>
          <a:bodyPr wrap="square" lIns="0" rIns="0" tIns="0" bIns="0" anchor="t">
            <a:spAutoFit/>
          </a:bodyPr>
          <a:lstStyle/>
          <a:p>
            <a:pPr algn="l"/>
            <a:r>
              <a:rPr sz="1050" b="0" i="0">
                <a:solidFill>
                  <a:srgbClr val="5A6B78"/>
                </a:solidFill>
                <a:latin typeface="Calibri"/>
              </a:rPr>
              <a:t>a mis-lock is off by tens to hundreds of px; a good match by about one</a:t>
            </a:r>
          </a:p>
        </p:txBody>
      </p:sp>
      <p:sp>
        <p:nvSpPr>
          <p:cNvPr id="17" name="Oval 16"/>
          <p:cNvSpPr/>
          <p:nvPr/>
        </p:nvSpPr>
        <p:spPr>
          <a:xfrm>
            <a:off x="566928" y="5394960"/>
            <a:ext cx="365760" cy="365760"/>
          </a:xfrm>
          <a:prstGeom prst="ellipse">
            <a:avLst/>
          </a:prstGeom>
          <a:solidFill>
            <a:srgbClr val="C446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8" name="TextBox 17"/>
          <p:cNvSpPr txBox="1"/>
          <p:nvPr/>
        </p:nvSpPr>
        <p:spPr>
          <a:xfrm>
            <a:off x="1097280" y="5376672"/>
            <a:ext cx="4937760" cy="274320"/>
          </a:xfrm>
          <a:prstGeom prst="rect">
            <a:avLst/>
          </a:prstGeom>
          <a:noFill/>
        </p:spPr>
        <p:txBody>
          <a:bodyPr wrap="square" lIns="0" rIns="0" tIns="0" bIns="0" anchor="t">
            <a:spAutoFit/>
          </a:bodyPr>
          <a:lstStyle/>
          <a:p>
            <a:pPr algn="l"/>
            <a:r>
              <a:rPr sz="1250" b="1" i="0">
                <a:solidFill>
                  <a:srgbClr val="0F2233"/>
                </a:solidFill>
                <a:latin typeface="Calibri"/>
              </a:rPr>
              <a:t>So mis-lock rate is reported separately</a:t>
            </a:r>
          </a:p>
        </p:txBody>
      </p:sp>
      <p:sp>
        <p:nvSpPr>
          <p:cNvPr id="19" name="TextBox 18"/>
          <p:cNvSpPr txBox="1"/>
          <p:nvPr/>
        </p:nvSpPr>
        <p:spPr>
          <a:xfrm>
            <a:off x="1097280" y="5632704"/>
            <a:ext cx="4937760" cy="292608"/>
          </a:xfrm>
          <a:prstGeom prst="rect">
            <a:avLst/>
          </a:prstGeom>
          <a:noFill/>
        </p:spPr>
        <p:txBody>
          <a:bodyPr wrap="square" lIns="0" rIns="0" tIns="0" bIns="0" anchor="t">
            <a:spAutoFit/>
          </a:bodyPr>
          <a:lstStyle/>
          <a:p>
            <a:pPr algn="l"/>
            <a:r>
              <a:rPr sz="1050" b="0" i="0">
                <a:solidFill>
                  <a:srgbClr val="5A6B78"/>
                </a:solidFill>
                <a:latin typeface="Calibri"/>
              </a:rPr>
              <a:t>a single mean error would hide the failure mode entirely</a:t>
            </a:r>
          </a:p>
        </p:txBody>
      </p:sp>
      <p:sp>
        <p:nvSpPr>
          <p:cNvPr id="20" name="Rounded Rectangle 19"/>
          <p:cNvSpPr/>
          <p:nvPr/>
        </p:nvSpPr>
        <p:spPr>
          <a:xfrm>
            <a:off x="6309360" y="3474720"/>
            <a:ext cx="5303520" cy="228600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3657600"/>
            <a:ext cx="4754880" cy="274320"/>
          </a:xfrm>
          <a:prstGeom prst="rect">
            <a:avLst/>
          </a:prstGeom>
          <a:noFill/>
        </p:spPr>
        <p:txBody>
          <a:bodyPr wrap="square" lIns="0" rIns="0" tIns="0" bIns="0" anchor="t">
            <a:spAutoFit/>
          </a:bodyPr>
          <a:lstStyle/>
          <a:p>
            <a:pPr algn="l"/>
            <a:r>
              <a:rPr sz="1450" b="1" i="0">
                <a:solidFill>
                  <a:srgbClr val="F2A65A"/>
                </a:solidFill>
                <a:latin typeface="Cambria"/>
              </a:rPr>
              <a:t>The bar we had to beat</a:t>
            </a:r>
          </a:p>
        </p:txBody>
      </p:sp>
      <p:sp>
        <p:nvSpPr>
          <p:cNvPr id="22" name="TextBox 21"/>
          <p:cNvSpPr txBox="1"/>
          <p:nvPr/>
        </p:nvSpPr>
        <p:spPr>
          <a:xfrm>
            <a:off x="6583680" y="4023360"/>
            <a:ext cx="4754880" cy="1005840"/>
          </a:xfrm>
          <a:prstGeom prst="rect">
            <a:avLst/>
          </a:prstGeom>
          <a:noFill/>
        </p:spPr>
        <p:txBody>
          <a:bodyPr wrap="square" lIns="0" rIns="0" tIns="0" bIns="0" anchor="t">
            <a:spAutoFit/>
          </a:bodyPr>
          <a:lstStyle/>
          <a:p>
            <a:pPr algn="l"/>
            <a:r>
              <a:rPr sz="1150" b="0" i="0">
                <a:solidFill>
                  <a:srgbClr val="C3D2DC"/>
                </a:solidFill>
                <a:latin typeface="Calibri"/>
              </a:rPr>
              <a:t>The published baseline resizes over five fixed scales, takes the correlation argmax and adds half the template size. It has no sub-pixel step, so its answer is always an integer plus 50.0 — a hard quantization floor it cannot score below.</a:t>
            </a:r>
          </a:p>
        </p:txBody>
      </p:sp>
      <p:sp>
        <p:nvSpPr>
          <p:cNvPr id="23" name="TextBox 22"/>
          <p:cNvSpPr txBox="1"/>
          <p:nvPr/>
        </p:nvSpPr>
        <p:spPr>
          <a:xfrm>
            <a:off x="6583680" y="5138928"/>
            <a:ext cx="4754880" cy="365760"/>
          </a:xfrm>
          <a:prstGeom prst="rect">
            <a:avLst/>
          </a:prstGeom>
          <a:noFill/>
        </p:spPr>
        <p:txBody>
          <a:bodyPr wrap="square" lIns="0" rIns="0" tIns="0" bIns="0" anchor="t">
            <a:spAutoFit/>
          </a:bodyPr>
          <a:lstStyle/>
          <a:p>
            <a:pPr algn="l"/>
            <a:r>
              <a:rPr sz="1450" b="1" i="0">
                <a:solidFill>
                  <a:srgbClr val="FFFFFF"/>
                </a:solidFill>
                <a:latin typeface="Cambria"/>
              </a:rPr>
              <a:t>25.0%  mis-lock      ·      1.102 px  median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End-to-end workflow</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Every stage exists because a measurement demanded it — none is generic vision hygiene</a:t>
            </a:r>
          </a:p>
        </p:txBody>
      </p:sp>
      <p:sp>
        <p:nvSpPr>
          <p:cNvPr id="4" name="Rounded Rectangle 3"/>
          <p:cNvSpPr/>
          <p:nvPr/>
        </p:nvSpPr>
        <p:spPr>
          <a:xfrm>
            <a:off x="548640" y="1481328"/>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86384" y="1700784"/>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6" name="TextBox 5"/>
          <p:cNvSpPr txBox="1"/>
          <p:nvPr/>
        </p:nvSpPr>
        <p:spPr>
          <a:xfrm>
            <a:off x="786384" y="2194560"/>
            <a:ext cx="3035808" cy="292608"/>
          </a:xfrm>
          <a:prstGeom prst="rect">
            <a:avLst/>
          </a:prstGeom>
          <a:noFill/>
        </p:spPr>
        <p:txBody>
          <a:bodyPr wrap="square" lIns="0" rIns="0" tIns="0" bIns="0" anchor="t">
            <a:spAutoFit/>
          </a:bodyPr>
          <a:lstStyle/>
          <a:p>
            <a:pPr algn="l"/>
            <a:r>
              <a:rPr sz="1400" b="1" i="0">
                <a:solidFill>
                  <a:srgbClr val="0F2233"/>
                </a:solidFill>
                <a:latin typeface="Cambria"/>
              </a:rPr>
              <a:t>Measure the pose</a:t>
            </a:r>
          </a:p>
        </p:txBody>
      </p:sp>
      <p:sp>
        <p:nvSpPr>
          <p:cNvPr id="7" name="TextBox 6"/>
          <p:cNvSpPr txBox="1"/>
          <p:nvPr/>
        </p:nvSpPr>
        <p:spPr>
          <a:xfrm>
            <a:off x="786384" y="2505456"/>
            <a:ext cx="3035808" cy="822960"/>
          </a:xfrm>
          <a:prstGeom prst="rect">
            <a:avLst/>
          </a:prstGeom>
          <a:noFill/>
        </p:spPr>
        <p:txBody>
          <a:bodyPr wrap="square" lIns="0" rIns="0" tIns="0" bIns="0" anchor="t">
            <a:spAutoFit/>
          </a:bodyPr>
          <a:lstStyle/>
          <a:p>
            <a:pPr algn="l"/>
            <a:r>
              <a:rPr sz="1050" b="0" i="0">
                <a:solidFill>
                  <a:srgbClr val="5A6B78"/>
                </a:solidFill>
                <a:latin typeface="Calibri"/>
              </a:rPr>
              <a:t>A coarse pyramid search recovers magnification and rotation. Measured where it is cheap, not searched at full resolution.</a:t>
            </a:r>
          </a:p>
        </p:txBody>
      </p:sp>
      <p:sp>
        <p:nvSpPr>
          <p:cNvPr id="8" name="Rounded Rectangle 7"/>
          <p:cNvSpPr/>
          <p:nvPr/>
        </p:nvSpPr>
        <p:spPr>
          <a:xfrm>
            <a:off x="4343400" y="1481328"/>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81144" y="1700784"/>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10" name="TextBox 9"/>
          <p:cNvSpPr txBox="1"/>
          <p:nvPr/>
        </p:nvSpPr>
        <p:spPr>
          <a:xfrm>
            <a:off x="4581144" y="2194560"/>
            <a:ext cx="3035808" cy="292608"/>
          </a:xfrm>
          <a:prstGeom prst="rect">
            <a:avLst/>
          </a:prstGeom>
          <a:noFill/>
        </p:spPr>
        <p:txBody>
          <a:bodyPr wrap="square" lIns="0" rIns="0" tIns="0" bIns="0" anchor="t">
            <a:spAutoFit/>
          </a:bodyPr>
          <a:lstStyle/>
          <a:p>
            <a:pPr algn="l"/>
            <a:r>
              <a:rPr sz="1400" b="1" i="0">
                <a:solidFill>
                  <a:srgbClr val="0F2233"/>
                </a:solidFill>
                <a:latin typeface="Cambria"/>
              </a:rPr>
              <a:t>Invert the acquisition</a:t>
            </a:r>
          </a:p>
        </p:txBody>
      </p:sp>
      <p:sp>
        <p:nvSpPr>
          <p:cNvPr id="11" name="TextBox 10"/>
          <p:cNvSpPr txBox="1"/>
          <p:nvPr/>
        </p:nvSpPr>
        <p:spPr>
          <a:xfrm>
            <a:off x="4581144" y="2505456"/>
            <a:ext cx="3035808" cy="822960"/>
          </a:xfrm>
          <a:prstGeom prst="rect">
            <a:avLst/>
          </a:prstGeom>
          <a:noFill/>
        </p:spPr>
        <p:txBody>
          <a:bodyPr wrap="square" lIns="0" rIns="0" tIns="0" bIns="0" anchor="t">
            <a:spAutoFit/>
          </a:bodyPr>
          <a:lstStyle/>
          <a:p>
            <a:pPr algn="l"/>
            <a:r>
              <a:rPr sz="1050" b="0" i="0">
                <a:solidFill>
                  <a:srgbClr val="5A6B78"/>
                </a:solidFill>
                <a:latin typeface="Calibri"/>
              </a:rPr>
              <a:t>Box-integrate the reference over the detector footprint, then one affine carrying scale and rotation — the exact forward operator.</a:t>
            </a:r>
          </a:p>
        </p:txBody>
      </p:sp>
      <p:sp>
        <p:nvSpPr>
          <p:cNvPr id="12" name="Rounded Rectangle 11"/>
          <p:cNvSpPr/>
          <p:nvPr/>
        </p:nvSpPr>
        <p:spPr>
          <a:xfrm>
            <a:off x="8138160" y="1481328"/>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75904" y="1700784"/>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4" name="TextBox 13"/>
          <p:cNvSpPr txBox="1"/>
          <p:nvPr/>
        </p:nvSpPr>
        <p:spPr>
          <a:xfrm>
            <a:off x="8375904" y="2194560"/>
            <a:ext cx="3035808" cy="292608"/>
          </a:xfrm>
          <a:prstGeom prst="rect">
            <a:avLst/>
          </a:prstGeom>
          <a:noFill/>
        </p:spPr>
        <p:txBody>
          <a:bodyPr wrap="square" lIns="0" rIns="0" tIns="0" bIns="0" anchor="t">
            <a:spAutoFit/>
          </a:bodyPr>
          <a:lstStyle/>
          <a:p>
            <a:pPr algn="l"/>
            <a:r>
              <a:rPr sz="1400" b="1" i="0">
                <a:solidFill>
                  <a:srgbClr val="0F2233"/>
                </a:solidFill>
                <a:latin typeface="Cambria"/>
              </a:rPr>
              <a:t>Correlate, keep candidates</a:t>
            </a:r>
          </a:p>
        </p:txBody>
      </p:sp>
      <p:sp>
        <p:nvSpPr>
          <p:cNvPr id="15" name="TextBox 14"/>
          <p:cNvSpPr txBox="1"/>
          <p:nvPr/>
        </p:nvSpPr>
        <p:spPr>
          <a:xfrm>
            <a:off x="8375904" y="2505456"/>
            <a:ext cx="3035808" cy="822960"/>
          </a:xfrm>
          <a:prstGeom prst="rect">
            <a:avLst/>
          </a:prstGeom>
          <a:noFill/>
        </p:spPr>
        <p:txBody>
          <a:bodyPr wrap="square" lIns="0" rIns="0" tIns="0" bIns="0" anchor="t">
            <a:spAutoFit/>
          </a:bodyPr>
          <a:lstStyle/>
          <a:p>
            <a:pPr algn="l"/>
            <a:r>
              <a:rPr sz="1050" b="0" i="0">
                <a:solidFill>
                  <a:srgbClr val="5A6B78"/>
                </a:solidFill>
                <a:latin typeface="Calibri"/>
              </a:rPr>
              <a:t>ZNCC across the pose bracket; the nominal 10:1 hypothesis is always retained as a fallback.</a:t>
            </a:r>
          </a:p>
        </p:txBody>
      </p:sp>
      <p:sp>
        <p:nvSpPr>
          <p:cNvPr id="16" name="Rounded Rectangle 15"/>
          <p:cNvSpPr/>
          <p:nvPr/>
        </p:nvSpPr>
        <p:spPr>
          <a:xfrm>
            <a:off x="548640" y="3694176"/>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86384" y="3913632"/>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4</a:t>
            </a:r>
          </a:p>
        </p:txBody>
      </p:sp>
      <p:sp>
        <p:nvSpPr>
          <p:cNvPr id="18" name="TextBox 17"/>
          <p:cNvSpPr txBox="1"/>
          <p:nvPr/>
        </p:nvSpPr>
        <p:spPr>
          <a:xfrm>
            <a:off x="786384" y="4407408"/>
            <a:ext cx="3035808" cy="292608"/>
          </a:xfrm>
          <a:prstGeom prst="rect">
            <a:avLst/>
          </a:prstGeom>
          <a:noFill/>
        </p:spPr>
        <p:txBody>
          <a:bodyPr wrap="square" lIns="0" rIns="0" tIns="0" bIns="0" anchor="t">
            <a:spAutoFit/>
          </a:bodyPr>
          <a:lstStyle/>
          <a:p>
            <a:pPr algn="l"/>
            <a:r>
              <a:rPr sz="1400" b="1" i="0">
                <a:solidFill>
                  <a:srgbClr val="0F2233"/>
                </a:solidFill>
                <a:latin typeface="Cambria"/>
              </a:rPr>
              <a:t>Refine to sub-pixel</a:t>
            </a:r>
          </a:p>
        </p:txBody>
      </p:sp>
      <p:sp>
        <p:nvSpPr>
          <p:cNvPr id="19" name="TextBox 18"/>
          <p:cNvSpPr txBox="1"/>
          <p:nvPr/>
        </p:nvSpPr>
        <p:spPr>
          <a:xfrm>
            <a:off x="786384" y="4718304"/>
            <a:ext cx="3035808" cy="822960"/>
          </a:xfrm>
          <a:prstGeom prst="rect">
            <a:avLst/>
          </a:prstGeom>
          <a:noFill/>
        </p:spPr>
        <p:txBody>
          <a:bodyPr wrap="square" lIns="0" rIns="0" tIns="0" bIns="0" anchor="t">
            <a:spAutoFit/>
          </a:bodyPr>
          <a:lstStyle/>
          <a:p>
            <a:pPr algn="l"/>
            <a:r>
              <a:rPr sz="1050" b="0" i="0">
                <a:solidFill>
                  <a:srgbClr val="5A6B78"/>
                </a:solidFill>
                <a:latin typeface="Calibri"/>
              </a:rPr>
              <a:t>Upsampled-DFT cross-correlation (Guizar-Sicairos et al., 2008).</a:t>
            </a:r>
          </a:p>
        </p:txBody>
      </p:sp>
      <p:sp>
        <p:nvSpPr>
          <p:cNvPr id="20" name="Rounded Rectangle 19"/>
          <p:cNvSpPr/>
          <p:nvPr/>
        </p:nvSpPr>
        <p:spPr>
          <a:xfrm>
            <a:off x="4343400" y="3694176"/>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81144" y="3913632"/>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5</a:t>
            </a:r>
          </a:p>
        </p:txBody>
      </p:sp>
      <p:sp>
        <p:nvSpPr>
          <p:cNvPr id="22" name="TextBox 21"/>
          <p:cNvSpPr txBox="1"/>
          <p:nvPr/>
        </p:nvSpPr>
        <p:spPr>
          <a:xfrm>
            <a:off x="4581144" y="4407408"/>
            <a:ext cx="3035808" cy="292608"/>
          </a:xfrm>
          <a:prstGeom prst="rect">
            <a:avLst/>
          </a:prstGeom>
          <a:noFill/>
        </p:spPr>
        <p:txBody>
          <a:bodyPr wrap="square" lIns="0" rIns="0" tIns="0" bIns="0" anchor="t">
            <a:spAutoFit/>
          </a:bodyPr>
          <a:lstStyle/>
          <a:p>
            <a:pPr algn="l"/>
            <a:r>
              <a:rPr sz="1400" b="1" i="0">
                <a:solidFill>
                  <a:srgbClr val="0F2233"/>
                </a:solidFill>
                <a:latin typeface="Cambria"/>
              </a:rPr>
              <a:t>Cancel the raster drift</a:t>
            </a:r>
          </a:p>
        </p:txBody>
      </p:sp>
      <p:sp>
        <p:nvSpPr>
          <p:cNvPr id="23" name="TextBox 22"/>
          <p:cNvSpPr txBox="1"/>
          <p:nvPr/>
        </p:nvSpPr>
        <p:spPr>
          <a:xfrm>
            <a:off x="4581144" y="4718304"/>
            <a:ext cx="3035808" cy="822960"/>
          </a:xfrm>
          <a:prstGeom prst="rect">
            <a:avLst/>
          </a:prstGeom>
          <a:noFill/>
        </p:spPr>
        <p:txBody>
          <a:bodyPr wrap="square" lIns="0" rIns="0" tIns="0" bIns="0" anchor="t">
            <a:spAutoFit/>
          </a:bodyPr>
          <a:lstStyle/>
          <a:p>
            <a:pPr algn="l"/>
            <a:r>
              <a:rPr sz="1050" b="0" i="0">
                <a:solidFill>
                  <a:srgbClr val="5A6B78"/>
                </a:solidFill>
                <a:latin typeface="Calibri"/>
              </a:rPr>
              <a:t>Two-axis measurement: drift is anisotropic and rotation is isotropic, so the tilt cancels exactly.</a:t>
            </a:r>
          </a:p>
        </p:txBody>
      </p:sp>
      <p:sp>
        <p:nvSpPr>
          <p:cNvPr id="24" name="Rounded Rectangle 23"/>
          <p:cNvSpPr/>
          <p:nvPr/>
        </p:nvSpPr>
        <p:spPr>
          <a:xfrm>
            <a:off x="8138160" y="3694176"/>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75904" y="3913632"/>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6</a:t>
            </a:r>
          </a:p>
        </p:txBody>
      </p:sp>
      <p:sp>
        <p:nvSpPr>
          <p:cNvPr id="26" name="TextBox 25"/>
          <p:cNvSpPr txBox="1"/>
          <p:nvPr/>
        </p:nvSpPr>
        <p:spPr>
          <a:xfrm>
            <a:off x="8375904" y="4407408"/>
            <a:ext cx="3035808" cy="292608"/>
          </a:xfrm>
          <a:prstGeom prst="rect">
            <a:avLst/>
          </a:prstGeom>
          <a:noFill/>
        </p:spPr>
        <p:txBody>
          <a:bodyPr wrap="square" lIns="0" rIns="0" tIns="0" bIns="0" anchor="t">
            <a:spAutoFit/>
          </a:bodyPr>
          <a:lstStyle/>
          <a:p>
            <a:pPr algn="l"/>
            <a:r>
              <a:rPr sz="1400" b="1" i="0">
                <a:solidFill>
                  <a:srgbClr val="0F2233"/>
                </a:solidFill>
                <a:latin typeface="Cambria"/>
              </a:rPr>
              <a:t>Emit coordinate + confidence</a:t>
            </a:r>
          </a:p>
        </p:txBody>
      </p:sp>
      <p:sp>
        <p:nvSpPr>
          <p:cNvPr id="27" name="TextBox 26"/>
          <p:cNvSpPr txBox="1"/>
          <p:nvPr/>
        </p:nvSpPr>
        <p:spPr>
          <a:xfrm>
            <a:off x="8375904" y="4718304"/>
            <a:ext cx="3035808" cy="822960"/>
          </a:xfrm>
          <a:prstGeom prst="rect">
            <a:avLst/>
          </a:prstGeom>
          <a:noFill/>
        </p:spPr>
        <p:txBody>
          <a:bodyPr wrap="square" lIns="0" rIns="0" tIns="0" bIns="0" anchor="t">
            <a:spAutoFit/>
          </a:bodyPr>
          <a:lstStyle/>
          <a:p>
            <a:pPr algn="l"/>
            <a:r>
              <a:rPr sz="1050" b="0" i="0">
                <a:solidFill>
                  <a:srgbClr val="5A6B78"/>
                </a:solidFill>
                <a:latin typeface="Calibri"/>
              </a:rPr>
              <a:t>Sub-pixel centre in search pixels, plus an ambiguity index saying how much to trust it.</a:t>
            </a:r>
          </a:p>
        </p:txBody>
      </p:sp>
      <p:sp>
        <p:nvSpPr>
          <p:cNvPr id="28" name="TextBox 27"/>
          <p:cNvSpPr txBox="1"/>
          <p:nvPr/>
        </p:nvSpPr>
        <p:spPr>
          <a:xfrm>
            <a:off x="548640" y="6089904"/>
            <a:ext cx="11064240" cy="274320"/>
          </a:xfrm>
          <a:prstGeom prst="rect">
            <a:avLst/>
          </a:prstGeom>
          <a:noFill/>
        </p:spPr>
        <p:txBody>
          <a:bodyPr wrap="square" lIns="0" rIns="0" tIns="0" bIns="0" anchor="t">
            <a:spAutoFit/>
          </a:bodyPr>
          <a:lstStyle/>
          <a:p>
            <a:pPr algn="l"/>
            <a:r>
              <a:rPr sz="1200" b="1" i="0">
                <a:solidFill>
                  <a:srgbClr val="1C7293"/>
                </a:solidFill>
                <a:latin typeface="Calibri"/>
              </a:rPr>
              <a:t>Deterministic, CPU-only, four runtime dependencies. No GPU, no learned weights, no network access at run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Synthetic dataset design</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Our own generator — because the published one cannot produce the envelope the spec says will be tested</a:t>
            </a:r>
          </a:p>
        </p:txBody>
      </p:sp>
      <p:sp>
        <p:nvSpPr>
          <p:cNvPr id="4" name="Rounded Rectangle 3"/>
          <p:cNvSpPr/>
          <p:nvPr/>
        </p:nvSpPr>
        <p:spPr>
          <a:xfrm>
            <a:off x="548640" y="1371600"/>
            <a:ext cx="5394960" cy="224028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4846320" cy="292608"/>
          </a:xfrm>
          <a:prstGeom prst="rect">
            <a:avLst/>
          </a:prstGeom>
          <a:noFill/>
        </p:spPr>
        <p:txBody>
          <a:bodyPr wrap="square" lIns="0" rIns="0" tIns="0" bIns="0" anchor="t">
            <a:spAutoFit/>
          </a:bodyPr>
          <a:lstStyle/>
          <a:p>
            <a:pPr algn="l"/>
            <a:r>
              <a:rPr sz="1550" b="1" i="0">
                <a:solidFill>
                  <a:srgbClr val="0F2233"/>
                </a:solidFill>
                <a:latin typeface="Cambria"/>
              </a:rPr>
              <a:t>Structure — public knowledge only</a:t>
            </a:r>
          </a:p>
        </p:txBody>
      </p:sp>
      <p:sp>
        <p:nvSpPr>
          <p:cNvPr id="6" name="TextBox 5"/>
          <p:cNvSpPr txBox="1"/>
          <p:nvPr/>
        </p:nvSpPr>
        <p:spPr>
          <a:xfrm>
            <a:off x="822960" y="1901952"/>
            <a:ext cx="4846320" cy="1600200"/>
          </a:xfrm>
          <a:prstGeom prst="rect">
            <a:avLst/>
          </a:prstGeom>
          <a:noFill/>
        </p:spPr>
        <p:txBody>
          <a:bodyPr wrap="square" lIns="0" rIns="0" tIns="0" bIns="0" anchor="t">
            <a:spAutoFit/>
          </a:bodyPr>
          <a:lstStyle/>
          <a:p>
            <a:pPr algn="l">
              <a:spcAft>
                <a:spcPts val="500"/>
              </a:spcAft>
            </a:pPr>
            <a:r>
              <a:rPr sz="1100" b="0" i="0">
                <a:solidFill>
                  <a:srgbClr val="35424D"/>
                </a:solidFill>
                <a:latin typeface="Calibri"/>
              </a:rPr>
              <a:t>•  DRAM 6F² folded-bitline arrays, with FinFET as the second architecture</a:t>
            </a:r>
          </a:p>
          <a:p>
            <a:pPr algn="l">
              <a:spcAft>
                <a:spcPts val="500"/>
              </a:spcAft>
            </a:pPr>
            <a:r>
              <a:rPr sz="1100" b="0" i="0">
                <a:solidFill>
                  <a:srgbClr val="35424D"/>
                </a:solidFill>
                <a:latin typeface="Calibri"/>
              </a:rPr>
              <a:t>•  Contacts on an (i+j)%2 checkerboard, so the dangerous confusion is the parity-preserving diagonal shift</a:t>
            </a:r>
          </a:p>
          <a:p>
            <a:pPr algn="l">
              <a:spcAft>
                <a:spcPts val="500"/>
              </a:spcAft>
            </a:pPr>
            <a:r>
              <a:rPr sz="1100" b="0" i="0">
                <a:solidFill>
                  <a:srgbClr val="35424D"/>
                </a:solidFill>
                <a:latin typeface="Calibri"/>
              </a:rPr>
              <a:t>•  Mats separated by peripheral routing strips, each mat drawn independently</a:t>
            </a:r>
          </a:p>
        </p:txBody>
      </p:sp>
      <p:sp>
        <p:nvSpPr>
          <p:cNvPr id="7" name="Rounded Rectangle 6"/>
          <p:cNvSpPr/>
          <p:nvPr/>
        </p:nvSpPr>
        <p:spPr>
          <a:xfrm>
            <a:off x="6217920" y="1371600"/>
            <a:ext cx="5394960" cy="2240280"/>
          </a:xfrm>
          <a:prstGeom prst="roundRect">
            <a:avLst>
              <a:gd name="adj" fmla="val 4000"/>
            </a:avLst>
          </a:prstGeom>
          <a:solidFill>
            <a:srgbClr val="EAF3F6"/>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54480"/>
            <a:ext cx="4846320" cy="292608"/>
          </a:xfrm>
          <a:prstGeom prst="rect">
            <a:avLst/>
          </a:prstGeom>
          <a:noFill/>
        </p:spPr>
        <p:txBody>
          <a:bodyPr wrap="square" lIns="0" rIns="0" tIns="0" bIns="0" anchor="t">
            <a:spAutoFit/>
          </a:bodyPr>
          <a:lstStyle/>
          <a:p>
            <a:pPr algn="l"/>
            <a:r>
              <a:rPr sz="1550" b="1" i="0">
                <a:solidFill>
                  <a:srgbClr val="0E4A63"/>
                </a:solidFill>
                <a:latin typeface="Cambria"/>
              </a:rPr>
              <a:t>The detail that makes localization possible at all</a:t>
            </a:r>
          </a:p>
        </p:txBody>
      </p:sp>
      <p:sp>
        <p:nvSpPr>
          <p:cNvPr id="9" name="TextBox 8"/>
          <p:cNvSpPr txBox="1"/>
          <p:nvPr/>
        </p:nvSpPr>
        <p:spPr>
          <a:xfrm>
            <a:off x="6492240" y="1901952"/>
            <a:ext cx="4846320" cy="1463040"/>
          </a:xfrm>
          <a:prstGeom prst="rect">
            <a:avLst/>
          </a:prstGeom>
          <a:noFill/>
        </p:spPr>
        <p:txBody>
          <a:bodyPr wrap="square" lIns="0" rIns="0" tIns="0" bIns="0" anchor="t">
            <a:spAutoFit/>
          </a:bodyPr>
          <a:lstStyle/>
          <a:p>
            <a:pPr algn="l"/>
            <a:r>
              <a:rPr sz="1150" b="0" i="0">
                <a:solidFill>
                  <a:srgbClr val="16536B"/>
                </a:solidFill>
                <a:latin typeface="Calibri"/>
              </a:rPr>
              <a:t>Line positions are laid down as a random walk rather than on an exact grid — real line-edge roughness. That accumulated deviation is the only thing distinguishing one cell from its neighbour. A perfectly periodic array would be impossible to localize within, by anyone.</a:t>
            </a:r>
          </a:p>
        </p:txBody>
      </p:sp>
      <p:sp>
        <p:nvSpPr>
          <p:cNvPr id="10" name="TextBox 9"/>
          <p:cNvSpPr txBox="1"/>
          <p:nvPr/>
        </p:nvSpPr>
        <p:spPr>
          <a:xfrm>
            <a:off x="548640" y="3858768"/>
            <a:ext cx="11064240" cy="320040"/>
          </a:xfrm>
          <a:prstGeom prst="rect">
            <a:avLst/>
          </a:prstGeom>
          <a:noFill/>
        </p:spPr>
        <p:txBody>
          <a:bodyPr wrap="square" lIns="0" rIns="0" tIns="0" bIns="0" anchor="t">
            <a:spAutoFit/>
          </a:bodyPr>
          <a:lstStyle/>
          <a:p>
            <a:pPr algn="l"/>
            <a:r>
              <a:rPr sz="1600" b="1" i="0">
                <a:solidFill>
                  <a:srgbClr val="0F2233"/>
                </a:solidFill>
                <a:latin typeface="Cambria"/>
              </a:rPr>
              <a:t>What ours does that the published generator does not</a:t>
            </a:r>
          </a:p>
        </p:txBody>
      </p:sp>
      <p:sp>
        <p:nvSpPr>
          <p:cNvPr id="11" name="Rounded Rectangle 10"/>
          <p:cNvSpPr/>
          <p:nvPr/>
        </p:nvSpPr>
        <p:spPr>
          <a:xfrm>
            <a:off x="548640" y="4315968"/>
            <a:ext cx="2606040" cy="1371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98848"/>
            <a:ext cx="2240280" cy="274320"/>
          </a:xfrm>
          <a:prstGeom prst="rect">
            <a:avLst/>
          </a:prstGeom>
          <a:noFill/>
        </p:spPr>
        <p:txBody>
          <a:bodyPr wrap="square" lIns="0" rIns="0" tIns="0" bIns="0" anchor="t">
            <a:spAutoFit/>
          </a:bodyPr>
          <a:lstStyle/>
          <a:p>
            <a:pPr algn="l"/>
            <a:r>
              <a:rPr sz="1250" b="1" i="0">
                <a:solidFill>
                  <a:srgbClr val="1C7293"/>
                </a:solidFill>
                <a:latin typeface="Calibri"/>
              </a:rPr>
              <a:t>Rotation and scale</a:t>
            </a:r>
          </a:p>
        </p:txBody>
      </p:sp>
      <p:sp>
        <p:nvSpPr>
          <p:cNvPr id="13" name="TextBox 12"/>
          <p:cNvSpPr txBox="1"/>
          <p:nvPr/>
        </p:nvSpPr>
        <p:spPr>
          <a:xfrm>
            <a:off x="731520" y="4809744"/>
            <a:ext cx="2240280" cy="777240"/>
          </a:xfrm>
          <a:prstGeom prst="rect">
            <a:avLst/>
          </a:prstGeom>
          <a:noFill/>
        </p:spPr>
        <p:txBody>
          <a:bodyPr wrap="square" lIns="0" rIns="0" tIns="0" bIns="0" anchor="t">
            <a:spAutoFit/>
          </a:bodyPr>
          <a:lstStyle/>
          <a:p>
            <a:pPr algn="l"/>
            <a:r>
              <a:rPr sz="1000" b="0" i="0">
                <a:solidFill>
                  <a:srgbClr val="5A6B78"/>
                </a:solidFill>
                <a:latin typeface="Calibri"/>
              </a:rPr>
              <a:t>±2° and 9:1–11:1 — the envelope the spec says will be tested</a:t>
            </a:r>
          </a:p>
        </p:txBody>
      </p:sp>
      <p:sp>
        <p:nvSpPr>
          <p:cNvPr id="14" name="Rounded Rectangle 13"/>
          <p:cNvSpPr/>
          <p:nvPr/>
        </p:nvSpPr>
        <p:spPr>
          <a:xfrm>
            <a:off x="3346704" y="4315968"/>
            <a:ext cx="2606040" cy="1371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9584" y="4498848"/>
            <a:ext cx="2240280" cy="274320"/>
          </a:xfrm>
          <a:prstGeom prst="rect">
            <a:avLst/>
          </a:prstGeom>
          <a:noFill/>
        </p:spPr>
        <p:txBody>
          <a:bodyPr wrap="square" lIns="0" rIns="0" tIns="0" bIns="0" anchor="t">
            <a:spAutoFit/>
          </a:bodyPr>
          <a:lstStyle/>
          <a:p>
            <a:pPr algn="l"/>
            <a:r>
              <a:rPr sz="1250" b="1" i="0">
                <a:solidFill>
                  <a:srgbClr val="1C7293"/>
                </a:solidFill>
                <a:latin typeface="Calibri"/>
              </a:rPr>
              <a:t>SE edge brightening</a:t>
            </a:r>
          </a:p>
        </p:txBody>
      </p:sp>
      <p:sp>
        <p:nvSpPr>
          <p:cNvPr id="16" name="TextBox 15"/>
          <p:cNvSpPr txBox="1"/>
          <p:nvPr/>
        </p:nvSpPr>
        <p:spPr>
          <a:xfrm>
            <a:off x="3529584" y="4809744"/>
            <a:ext cx="2240280" cy="777240"/>
          </a:xfrm>
          <a:prstGeom prst="rect">
            <a:avLst/>
          </a:prstGeom>
          <a:noFill/>
        </p:spPr>
        <p:txBody>
          <a:bodyPr wrap="square" lIns="0" rIns="0" tIns="0" bIns="0" anchor="t">
            <a:spAutoFit/>
          </a:bodyPr>
          <a:lstStyle/>
          <a:p>
            <a:pPr algn="l"/>
            <a:r>
              <a:rPr sz="1000" b="0" i="0">
                <a:solidFill>
                  <a:srgbClr val="5A6B78"/>
                </a:solidFill>
                <a:latin typeface="Calibri"/>
              </a:rPr>
              <a:t>theirs paints flat grey levels per material</a:t>
            </a:r>
          </a:p>
        </p:txBody>
      </p:sp>
      <p:sp>
        <p:nvSpPr>
          <p:cNvPr id="17" name="Rounded Rectangle 16"/>
          <p:cNvSpPr/>
          <p:nvPr/>
        </p:nvSpPr>
        <p:spPr>
          <a:xfrm>
            <a:off x="6144768" y="4315968"/>
            <a:ext cx="2606040" cy="1371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7648" y="4498848"/>
            <a:ext cx="2240280" cy="274320"/>
          </a:xfrm>
          <a:prstGeom prst="rect">
            <a:avLst/>
          </a:prstGeom>
          <a:noFill/>
        </p:spPr>
        <p:txBody>
          <a:bodyPr wrap="square" lIns="0" rIns="0" tIns="0" bIns="0" anchor="t">
            <a:spAutoFit/>
          </a:bodyPr>
          <a:lstStyle/>
          <a:p>
            <a:pPr algn="l"/>
            <a:r>
              <a:rPr sz="1250" b="1" i="0">
                <a:solidFill>
                  <a:srgbClr val="1C7293"/>
                </a:solidFill>
                <a:latin typeface="Calibri"/>
              </a:rPr>
              <a:t>Continuous ground truth</a:t>
            </a:r>
          </a:p>
        </p:txBody>
      </p:sp>
      <p:sp>
        <p:nvSpPr>
          <p:cNvPr id="19" name="TextBox 18"/>
          <p:cNvSpPr txBox="1"/>
          <p:nvPr/>
        </p:nvSpPr>
        <p:spPr>
          <a:xfrm>
            <a:off x="6327648" y="4809744"/>
            <a:ext cx="2240280" cy="777240"/>
          </a:xfrm>
          <a:prstGeom prst="rect">
            <a:avLst/>
          </a:prstGeom>
          <a:noFill/>
        </p:spPr>
        <p:txBody>
          <a:bodyPr wrap="square" lIns="0" rIns="0" tIns="0" bIns="0" anchor="t">
            <a:spAutoFit/>
          </a:bodyPr>
          <a:lstStyle/>
          <a:p>
            <a:pPr algn="l"/>
            <a:r>
              <a:rPr sz="1000" b="0" i="0">
                <a:solidFill>
                  <a:srgbClr val="5A6B78"/>
                </a:solidFill>
                <a:latin typeface="Calibri"/>
              </a:rPr>
              <a:t>fractional crop origins, not a 0.1 px grid</a:t>
            </a:r>
          </a:p>
        </p:txBody>
      </p:sp>
      <p:sp>
        <p:nvSpPr>
          <p:cNvPr id="20" name="Rounded Rectangle 19"/>
          <p:cNvSpPr/>
          <p:nvPr/>
        </p:nvSpPr>
        <p:spPr>
          <a:xfrm>
            <a:off x="8942832" y="4315968"/>
            <a:ext cx="2606040" cy="1371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1" y="4498848"/>
            <a:ext cx="2240280" cy="274320"/>
          </a:xfrm>
          <a:prstGeom prst="rect">
            <a:avLst/>
          </a:prstGeom>
          <a:noFill/>
        </p:spPr>
        <p:txBody>
          <a:bodyPr wrap="square" lIns="0" rIns="0" tIns="0" bIns="0" anchor="t">
            <a:spAutoFit/>
          </a:bodyPr>
          <a:lstStyle/>
          <a:p>
            <a:pPr algn="l"/>
            <a:r>
              <a:rPr sz="1250" b="1" i="0">
                <a:solidFill>
                  <a:srgbClr val="1C7293"/>
                </a:solidFill>
                <a:latin typeface="Calibri"/>
              </a:rPr>
              <a:t>Per-mat geometry</a:t>
            </a:r>
          </a:p>
        </p:txBody>
      </p:sp>
      <p:sp>
        <p:nvSpPr>
          <p:cNvPr id="22" name="TextBox 21"/>
          <p:cNvSpPr txBox="1"/>
          <p:nvPr/>
        </p:nvSpPr>
        <p:spPr>
          <a:xfrm>
            <a:off x="9125711" y="4809744"/>
            <a:ext cx="2240280" cy="777240"/>
          </a:xfrm>
          <a:prstGeom prst="rect">
            <a:avLst/>
          </a:prstGeom>
          <a:noFill/>
        </p:spPr>
        <p:txBody>
          <a:bodyPr wrap="square" lIns="0" rIns="0" tIns="0" bIns="0" anchor="t">
            <a:spAutoFit/>
          </a:bodyPr>
          <a:lstStyle/>
          <a:p>
            <a:pPr algn="l"/>
            <a:r>
              <a:rPr sz="1000" b="0" i="0">
                <a:solidFill>
                  <a:srgbClr val="5A6B78"/>
                </a:solidFill>
                <a:latin typeface="Calibri"/>
              </a:rPr>
              <a:t>in theirs, every DRAM preset renders identically</a:t>
            </a:r>
          </a:p>
        </p:txBody>
      </p:sp>
      <p:sp>
        <p:nvSpPr>
          <p:cNvPr id="23" name="TextBox 22"/>
          <p:cNvSpPr txBox="1"/>
          <p:nvPr/>
        </p:nvSpPr>
        <p:spPr>
          <a:xfrm>
            <a:off x="548640" y="5907024"/>
            <a:ext cx="11064240" cy="274320"/>
          </a:xfrm>
          <a:prstGeom prst="rect">
            <a:avLst/>
          </a:prstGeom>
          <a:noFill/>
        </p:spPr>
        <p:txBody>
          <a:bodyPr wrap="square" lIns="0" rIns="0" tIns="0" bIns="0" anchor="t">
            <a:spAutoFit/>
          </a:bodyPr>
          <a:lstStyle/>
          <a:p>
            <a:pPr algn="l"/>
            <a:r>
              <a:rPr sz="1100" b="0" i="1">
                <a:solidFill>
                  <a:srgbClr val="5A6B78"/>
                </a:solidFill>
                <a:latin typeface="Calibri"/>
              </a:rPr>
              <a:t>Reproducible from seeds rather than shipped as blobs: the same seed regenerates byte-identical images, and every pair carries its full parameter set in the manifest.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Degradation modelling, in physically correct order</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Noise before blur, or edge contrast after the beam PSF, looks plausible to a vision engineer and obviously wrong to a microscopist</a:t>
            </a:r>
          </a:p>
        </p:txBody>
      </p:sp>
      <p:sp>
        <p:nvSpPr>
          <p:cNvPr id="4" name="Rounded Rectangle 3"/>
          <p:cNvSpPr/>
          <p:nvPr/>
        </p:nvSpPr>
        <p:spPr>
          <a:xfrm>
            <a:off x="548640" y="1463040"/>
            <a:ext cx="1115568" cy="566928"/>
          </a:xfrm>
          <a:prstGeom prst="roundRect">
            <a:avLst>
              <a:gd name="adj" fmla="val 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layout</a:t>
            </a:r>
          </a:p>
        </p:txBody>
      </p:sp>
      <p:sp>
        <p:nvSpPr>
          <p:cNvPr id="5" name="Rounded Rectangle 4"/>
          <p:cNvSpPr/>
          <p:nvPr/>
        </p:nvSpPr>
        <p:spPr>
          <a:xfrm>
            <a:off x="1787652" y="1463040"/>
            <a:ext cx="1115568" cy="566928"/>
          </a:xfrm>
          <a:prstGeom prst="roundRect">
            <a:avLst>
              <a:gd name="adj" fmla="val 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SE edge yield</a:t>
            </a:r>
          </a:p>
        </p:txBody>
      </p:sp>
      <p:sp>
        <p:nvSpPr>
          <p:cNvPr id="6" name="Rounded Rectangle 5"/>
          <p:cNvSpPr/>
          <p:nvPr/>
        </p:nvSpPr>
        <p:spPr>
          <a:xfrm>
            <a:off x="3026664" y="1463040"/>
            <a:ext cx="1115568" cy="566928"/>
          </a:xfrm>
          <a:prstGeom prst="roundRect">
            <a:avLst>
              <a:gd name="adj" fmla="val 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charging</a:t>
            </a:r>
          </a:p>
        </p:txBody>
      </p:sp>
      <p:sp>
        <p:nvSpPr>
          <p:cNvPr id="7" name="Rounded Rectangle 6"/>
          <p:cNvSpPr/>
          <p:nvPr/>
        </p:nvSpPr>
        <p:spPr>
          <a:xfrm>
            <a:off x="4265675" y="1463040"/>
            <a:ext cx="1115568" cy="566928"/>
          </a:xfrm>
          <a:prstGeom prst="roundRect">
            <a:avLst>
              <a:gd name="adj" fmla="val 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beam PSF</a:t>
            </a:r>
          </a:p>
        </p:txBody>
      </p:sp>
      <p:sp>
        <p:nvSpPr>
          <p:cNvPr id="8" name="Rounded Rectangle 7"/>
          <p:cNvSpPr/>
          <p:nvPr/>
        </p:nvSpPr>
        <p:spPr>
          <a:xfrm>
            <a:off x="5504688" y="1463040"/>
            <a:ext cx="1115568" cy="566928"/>
          </a:xfrm>
          <a:prstGeom prst="roundRect">
            <a:avLst>
              <a:gd name="adj" fmla="val 4000"/>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rotation + scale</a:t>
            </a:r>
          </a:p>
        </p:txBody>
      </p:sp>
      <p:sp>
        <p:nvSpPr>
          <p:cNvPr id="9" name="Rounded Rectangle 8"/>
          <p:cNvSpPr/>
          <p:nvPr/>
        </p:nvSpPr>
        <p:spPr>
          <a:xfrm>
            <a:off x="6743700" y="1463040"/>
            <a:ext cx="1115568" cy="566928"/>
          </a:xfrm>
          <a:prstGeom prst="roundRect">
            <a:avLst>
              <a:gd name="adj" fmla="val 4000"/>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raster drift</a:t>
            </a:r>
          </a:p>
        </p:txBody>
      </p:sp>
      <p:sp>
        <p:nvSpPr>
          <p:cNvPr id="10" name="Rounded Rectangle 9"/>
          <p:cNvSpPr/>
          <p:nvPr/>
        </p:nvSpPr>
        <p:spPr>
          <a:xfrm>
            <a:off x="7982711" y="1463040"/>
            <a:ext cx="1115568" cy="566928"/>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shot noise</a:t>
            </a:r>
          </a:p>
        </p:txBody>
      </p:sp>
      <p:sp>
        <p:nvSpPr>
          <p:cNvPr id="11" name="Rounded Rectangle 10"/>
          <p:cNvSpPr/>
          <p:nvPr/>
        </p:nvSpPr>
        <p:spPr>
          <a:xfrm>
            <a:off x="9221724" y="1463040"/>
            <a:ext cx="1115568" cy="566928"/>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detector noise</a:t>
            </a:r>
          </a:p>
        </p:txBody>
      </p:sp>
      <p:sp>
        <p:nvSpPr>
          <p:cNvPr id="12" name="Rounded Rectangle 11"/>
          <p:cNvSpPr/>
          <p:nvPr/>
        </p:nvSpPr>
        <p:spPr>
          <a:xfrm>
            <a:off x="10460736" y="1463040"/>
            <a:ext cx="1115568" cy="566928"/>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quantise</a:t>
            </a:r>
          </a:p>
        </p:txBody>
      </p:sp>
      <p:sp>
        <p:nvSpPr>
          <p:cNvPr id="13" name="TextBox 12"/>
          <p:cNvSpPr txBox="1"/>
          <p:nvPr/>
        </p:nvSpPr>
        <p:spPr>
          <a:xfrm>
            <a:off x="548640" y="2331720"/>
            <a:ext cx="11064240" cy="320040"/>
          </a:xfrm>
          <a:prstGeom prst="rect">
            <a:avLst/>
          </a:prstGeom>
          <a:noFill/>
        </p:spPr>
        <p:txBody>
          <a:bodyPr wrap="square" lIns="0" rIns="0" tIns="0" bIns="0" anchor="t">
            <a:spAutoFit/>
          </a:bodyPr>
          <a:lstStyle/>
          <a:p>
            <a:pPr algn="l"/>
            <a:r>
              <a:rPr sz="1600" b="1" i="0">
                <a:solidFill>
                  <a:srgbClr val="0F2233"/>
                </a:solidFill>
                <a:latin typeface="Cambria"/>
              </a:rPr>
              <a:t>Literature basis — every row opened and verified, not cited from memory</a:t>
            </a:r>
          </a:p>
        </p:txBody>
      </p:sp>
      <p:sp>
        <p:nvSpPr>
          <p:cNvPr id="14" name="Rounded Rectangle 13"/>
          <p:cNvSpPr/>
          <p:nvPr/>
        </p:nvSpPr>
        <p:spPr>
          <a:xfrm>
            <a:off x="548640" y="2834640"/>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916936"/>
            <a:ext cx="5029200" cy="256032"/>
          </a:xfrm>
          <a:prstGeom prst="rect">
            <a:avLst/>
          </a:prstGeom>
          <a:noFill/>
        </p:spPr>
        <p:txBody>
          <a:bodyPr wrap="square" lIns="0" rIns="0" tIns="0" bIns="0" anchor="t">
            <a:spAutoFit/>
          </a:bodyPr>
          <a:lstStyle/>
          <a:p>
            <a:pPr algn="l"/>
            <a:r>
              <a:rPr sz="1150" b="1" i="0">
                <a:solidFill>
                  <a:srgbClr val="0F2233"/>
                </a:solidFill>
                <a:latin typeface="Calibri"/>
              </a:rPr>
              <a:t>Secondary-electron yield vs. surface tilt</a:t>
            </a:r>
          </a:p>
        </p:txBody>
      </p:sp>
      <p:sp>
        <p:nvSpPr>
          <p:cNvPr id="16" name="TextBox 15"/>
          <p:cNvSpPr txBox="1"/>
          <p:nvPr/>
        </p:nvSpPr>
        <p:spPr>
          <a:xfrm>
            <a:off x="731520" y="3172968"/>
            <a:ext cx="5029200" cy="237744"/>
          </a:xfrm>
          <a:prstGeom prst="rect">
            <a:avLst/>
          </a:prstGeom>
          <a:noFill/>
        </p:spPr>
        <p:txBody>
          <a:bodyPr wrap="square" lIns="0" rIns="0" tIns="0" bIns="0" anchor="t">
            <a:spAutoFit/>
          </a:bodyPr>
          <a:lstStyle/>
          <a:p>
            <a:pPr algn="l"/>
            <a:r>
              <a:rPr sz="950" b="0" i="0">
                <a:solidFill>
                  <a:srgbClr val="1C7293"/>
                </a:solidFill>
                <a:latin typeface="Calibri"/>
              </a:rPr>
              <a:t>Villarrubia, Ritchie &amp; Lowney, Proc. SPIE 6518, 65180K (2007)</a:t>
            </a:r>
          </a:p>
        </p:txBody>
      </p:sp>
      <p:sp>
        <p:nvSpPr>
          <p:cNvPr id="17" name="TextBox 16"/>
          <p:cNvSpPr txBox="1"/>
          <p:nvPr/>
        </p:nvSpPr>
        <p:spPr>
          <a:xfrm>
            <a:off x="731520" y="3410712"/>
            <a:ext cx="5029200" cy="237744"/>
          </a:xfrm>
          <a:prstGeom prst="rect">
            <a:avLst/>
          </a:prstGeom>
          <a:noFill/>
        </p:spPr>
        <p:txBody>
          <a:bodyPr wrap="square" lIns="0" rIns="0" tIns="0" bIns="0" anchor="t">
            <a:spAutoFit/>
          </a:bodyPr>
          <a:lstStyle/>
          <a:p>
            <a:pPr algn="l"/>
            <a:r>
              <a:rPr sz="900" b="0" i="1">
                <a:solidFill>
                  <a:srgbClr val="5A6B78"/>
                </a:solidFill>
                <a:latin typeface="Calibri"/>
              </a:rPr>
              <a:t>the edge-brightening term the starter omits</a:t>
            </a:r>
          </a:p>
        </p:txBody>
      </p:sp>
      <p:sp>
        <p:nvSpPr>
          <p:cNvPr id="18" name="Rounded Rectangle 17"/>
          <p:cNvSpPr/>
          <p:nvPr/>
        </p:nvSpPr>
        <p:spPr>
          <a:xfrm>
            <a:off x="6217920" y="2834640"/>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916936"/>
            <a:ext cx="5029200" cy="256032"/>
          </a:xfrm>
          <a:prstGeom prst="rect">
            <a:avLst/>
          </a:prstGeom>
          <a:noFill/>
        </p:spPr>
        <p:txBody>
          <a:bodyPr wrap="square" lIns="0" rIns="0" tIns="0" bIns="0" anchor="t">
            <a:spAutoFit/>
          </a:bodyPr>
          <a:lstStyle/>
          <a:p>
            <a:pPr algn="l"/>
            <a:r>
              <a:rPr sz="1150" b="1" i="0">
                <a:solidFill>
                  <a:srgbClr val="0F2233"/>
                </a:solidFill>
                <a:latin typeface="Calibri"/>
              </a:rPr>
              <a:t>Poisson–Gaussian noise, variance stabilisation</a:t>
            </a:r>
          </a:p>
        </p:txBody>
      </p:sp>
      <p:sp>
        <p:nvSpPr>
          <p:cNvPr id="20" name="TextBox 19"/>
          <p:cNvSpPr txBox="1"/>
          <p:nvPr/>
        </p:nvSpPr>
        <p:spPr>
          <a:xfrm>
            <a:off x="6400800" y="3172968"/>
            <a:ext cx="5029200" cy="237744"/>
          </a:xfrm>
          <a:prstGeom prst="rect">
            <a:avLst/>
          </a:prstGeom>
          <a:noFill/>
        </p:spPr>
        <p:txBody>
          <a:bodyPr wrap="square" lIns="0" rIns="0" tIns="0" bIns="0" anchor="t">
            <a:spAutoFit/>
          </a:bodyPr>
          <a:lstStyle/>
          <a:p>
            <a:pPr algn="l"/>
            <a:r>
              <a:rPr sz="950" b="0" i="0">
                <a:solidFill>
                  <a:srgbClr val="1C7293"/>
                </a:solidFill>
                <a:latin typeface="Calibri"/>
              </a:rPr>
              <a:t>Mäkitalo &amp; Foi, IEEE TIP 22(1):91–103 (2013)</a:t>
            </a:r>
          </a:p>
        </p:txBody>
      </p:sp>
      <p:sp>
        <p:nvSpPr>
          <p:cNvPr id="21" name="TextBox 20"/>
          <p:cNvSpPr txBox="1"/>
          <p:nvPr/>
        </p:nvSpPr>
        <p:spPr>
          <a:xfrm>
            <a:off x="6400800" y="3410712"/>
            <a:ext cx="5029200" cy="237744"/>
          </a:xfrm>
          <a:prstGeom prst="rect">
            <a:avLst/>
          </a:prstGeom>
          <a:noFill/>
        </p:spPr>
        <p:txBody>
          <a:bodyPr wrap="square" lIns="0" rIns="0" tIns="0" bIns="0" anchor="t">
            <a:spAutoFit/>
          </a:bodyPr>
          <a:lstStyle/>
          <a:p>
            <a:pPr algn="l"/>
            <a:r>
              <a:rPr sz="900" b="0" i="1">
                <a:solidFill>
                  <a:srgbClr val="5A6B78"/>
                </a:solidFill>
                <a:latin typeface="Calibri"/>
              </a:rPr>
              <a:t>why correlation is not automatically maximum-likelihood</a:t>
            </a:r>
          </a:p>
        </p:txBody>
      </p:sp>
      <p:sp>
        <p:nvSpPr>
          <p:cNvPr id="22" name="Rounded Rectangle 21"/>
          <p:cNvSpPr/>
          <p:nvPr/>
        </p:nvSpPr>
        <p:spPr>
          <a:xfrm>
            <a:off x="548640" y="3858768"/>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41064"/>
            <a:ext cx="5029200" cy="256032"/>
          </a:xfrm>
          <a:prstGeom prst="rect">
            <a:avLst/>
          </a:prstGeom>
          <a:noFill/>
        </p:spPr>
        <p:txBody>
          <a:bodyPr wrap="square" lIns="0" rIns="0" tIns="0" bIns="0" anchor="t">
            <a:spAutoFit/>
          </a:bodyPr>
          <a:lstStyle/>
          <a:p>
            <a:pPr algn="l"/>
            <a:r>
              <a:rPr sz="1150" b="1" i="0">
                <a:solidFill>
                  <a:srgbClr val="0F2233"/>
                </a:solidFill>
                <a:latin typeface="Calibri"/>
              </a:rPr>
              <a:t>Sub-pixel registration by upsampled DFT</a:t>
            </a:r>
          </a:p>
        </p:txBody>
      </p:sp>
      <p:sp>
        <p:nvSpPr>
          <p:cNvPr id="24" name="TextBox 23"/>
          <p:cNvSpPr txBox="1"/>
          <p:nvPr/>
        </p:nvSpPr>
        <p:spPr>
          <a:xfrm>
            <a:off x="731520" y="4197096"/>
            <a:ext cx="5029200" cy="237744"/>
          </a:xfrm>
          <a:prstGeom prst="rect">
            <a:avLst/>
          </a:prstGeom>
          <a:noFill/>
        </p:spPr>
        <p:txBody>
          <a:bodyPr wrap="square" lIns="0" rIns="0" tIns="0" bIns="0" anchor="t">
            <a:spAutoFit/>
          </a:bodyPr>
          <a:lstStyle/>
          <a:p>
            <a:pPr algn="l"/>
            <a:r>
              <a:rPr sz="950" b="0" i="0">
                <a:solidFill>
                  <a:srgbClr val="1C7293"/>
                </a:solidFill>
                <a:latin typeface="Calibri"/>
              </a:rPr>
              <a:t>Guizar-Sicairos, Thurman &amp; Fienup, Optics Letters 33(2) (2008)</a:t>
            </a:r>
          </a:p>
        </p:txBody>
      </p:sp>
      <p:sp>
        <p:nvSpPr>
          <p:cNvPr id="25" name="TextBox 24"/>
          <p:cNvSpPr txBox="1"/>
          <p:nvPr/>
        </p:nvSpPr>
        <p:spPr>
          <a:xfrm>
            <a:off x="731520" y="4434840"/>
            <a:ext cx="5029200" cy="237744"/>
          </a:xfrm>
          <a:prstGeom prst="rect">
            <a:avLst/>
          </a:prstGeom>
          <a:noFill/>
        </p:spPr>
        <p:txBody>
          <a:bodyPr wrap="square" lIns="0" rIns="0" tIns="0" bIns="0" anchor="t">
            <a:spAutoFit/>
          </a:bodyPr>
          <a:lstStyle/>
          <a:p>
            <a:pPr algn="l"/>
            <a:r>
              <a:rPr sz="900" b="0" i="1">
                <a:solidFill>
                  <a:srgbClr val="5A6B78"/>
                </a:solidFill>
                <a:latin typeface="Calibri"/>
              </a:rPr>
              <a:t>our refinement stage</a:t>
            </a:r>
          </a:p>
        </p:txBody>
      </p:sp>
      <p:sp>
        <p:nvSpPr>
          <p:cNvPr id="26" name="Rounded Rectangle 25"/>
          <p:cNvSpPr/>
          <p:nvPr/>
        </p:nvSpPr>
        <p:spPr>
          <a:xfrm>
            <a:off x="6217920" y="3858768"/>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941064"/>
            <a:ext cx="5029200" cy="256032"/>
          </a:xfrm>
          <a:prstGeom prst="rect">
            <a:avLst/>
          </a:prstGeom>
          <a:noFill/>
        </p:spPr>
        <p:txBody>
          <a:bodyPr wrap="square" lIns="0" rIns="0" tIns="0" bIns="0" anchor="t">
            <a:spAutoFit/>
          </a:bodyPr>
          <a:lstStyle/>
          <a:p>
            <a:pPr algn="l"/>
            <a:r>
              <a:rPr sz="1150" b="1" i="0">
                <a:solidFill>
                  <a:srgbClr val="0F2233"/>
                </a:solidFill>
                <a:latin typeface="Calibri"/>
              </a:rPr>
              <a:t>Rotation and scale via log-polar spectra</a:t>
            </a:r>
          </a:p>
        </p:txBody>
      </p:sp>
      <p:sp>
        <p:nvSpPr>
          <p:cNvPr id="28" name="TextBox 27"/>
          <p:cNvSpPr txBox="1"/>
          <p:nvPr/>
        </p:nvSpPr>
        <p:spPr>
          <a:xfrm>
            <a:off x="6400800" y="4197096"/>
            <a:ext cx="5029200" cy="237744"/>
          </a:xfrm>
          <a:prstGeom prst="rect">
            <a:avLst/>
          </a:prstGeom>
          <a:noFill/>
        </p:spPr>
        <p:txBody>
          <a:bodyPr wrap="square" lIns="0" rIns="0" tIns="0" bIns="0" anchor="t">
            <a:spAutoFit/>
          </a:bodyPr>
          <a:lstStyle/>
          <a:p>
            <a:pPr algn="l"/>
            <a:r>
              <a:rPr sz="950" b="0" i="0">
                <a:solidFill>
                  <a:srgbClr val="1C7293"/>
                </a:solidFill>
                <a:latin typeface="Calibri"/>
              </a:rPr>
              <a:t>Reddy &amp; Chatterji, IEEE TIP 5(8) (1996)</a:t>
            </a:r>
          </a:p>
        </p:txBody>
      </p:sp>
      <p:sp>
        <p:nvSpPr>
          <p:cNvPr id="29" name="TextBox 28"/>
          <p:cNvSpPr txBox="1"/>
          <p:nvPr/>
        </p:nvSpPr>
        <p:spPr>
          <a:xfrm>
            <a:off x="6400800" y="4434840"/>
            <a:ext cx="5029200" cy="237744"/>
          </a:xfrm>
          <a:prstGeom prst="rect">
            <a:avLst/>
          </a:prstGeom>
          <a:noFill/>
        </p:spPr>
        <p:txBody>
          <a:bodyPr wrap="square" lIns="0" rIns="0" tIns="0" bIns="0" anchor="t">
            <a:spAutoFit/>
          </a:bodyPr>
          <a:lstStyle/>
          <a:p>
            <a:pPr algn="l"/>
            <a:r>
              <a:rPr sz="900" b="0" i="1">
                <a:solidFill>
                  <a:srgbClr val="5A6B78"/>
                </a:solidFill>
                <a:latin typeface="Calibri"/>
              </a:rPr>
              <a:t>implemented, measured, and rejected on evidence</a:t>
            </a:r>
          </a:p>
        </p:txBody>
      </p:sp>
      <p:sp>
        <p:nvSpPr>
          <p:cNvPr id="30" name="Rounded Rectangle 29"/>
          <p:cNvSpPr/>
          <p:nvPr/>
        </p:nvSpPr>
        <p:spPr>
          <a:xfrm>
            <a:off x="548640" y="4882896"/>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965192"/>
            <a:ext cx="5029200" cy="256032"/>
          </a:xfrm>
          <a:prstGeom prst="rect">
            <a:avLst/>
          </a:prstGeom>
          <a:noFill/>
        </p:spPr>
        <p:txBody>
          <a:bodyPr wrap="square" lIns="0" rIns="0" tIns="0" bIns="0" anchor="t">
            <a:spAutoFit/>
          </a:bodyPr>
          <a:lstStyle/>
          <a:p>
            <a:pPr algn="l"/>
            <a:r>
              <a:rPr sz="1150" b="1" i="0">
                <a:solidFill>
                  <a:srgbClr val="0F2233"/>
                </a:solidFill>
                <a:latin typeface="Calibri"/>
              </a:rPr>
              <a:t>6F² DRAM folded-digitline architecture</a:t>
            </a:r>
          </a:p>
        </p:txBody>
      </p:sp>
      <p:sp>
        <p:nvSpPr>
          <p:cNvPr id="32" name="TextBox 31"/>
          <p:cNvSpPr txBox="1"/>
          <p:nvPr/>
        </p:nvSpPr>
        <p:spPr>
          <a:xfrm>
            <a:off x="731520" y="5221224"/>
            <a:ext cx="5029200" cy="237744"/>
          </a:xfrm>
          <a:prstGeom prst="rect">
            <a:avLst/>
          </a:prstGeom>
          <a:noFill/>
        </p:spPr>
        <p:txBody>
          <a:bodyPr wrap="square" lIns="0" rIns="0" tIns="0" bIns="0" anchor="t">
            <a:spAutoFit/>
          </a:bodyPr>
          <a:lstStyle/>
          <a:p>
            <a:pPr algn="l"/>
            <a:r>
              <a:rPr sz="950" b="0" i="0">
                <a:solidFill>
                  <a:srgbClr val="1C7293"/>
                </a:solidFill>
                <a:latin typeface="Calibri"/>
              </a:rPr>
              <a:t>US Patent 7,349,232 B2</a:t>
            </a:r>
          </a:p>
        </p:txBody>
      </p:sp>
      <p:sp>
        <p:nvSpPr>
          <p:cNvPr id="33" name="TextBox 32"/>
          <p:cNvSpPr txBox="1"/>
          <p:nvPr/>
        </p:nvSpPr>
        <p:spPr>
          <a:xfrm>
            <a:off x="731520" y="5458968"/>
            <a:ext cx="5029200" cy="237744"/>
          </a:xfrm>
          <a:prstGeom prst="rect">
            <a:avLst/>
          </a:prstGeom>
          <a:noFill/>
        </p:spPr>
        <p:txBody>
          <a:bodyPr wrap="square" lIns="0" rIns="0" tIns="0" bIns="0" anchor="t">
            <a:spAutoFit/>
          </a:bodyPr>
          <a:lstStyle/>
          <a:p>
            <a:pPr algn="l"/>
            <a:r>
              <a:rPr sz="900" b="0" i="1">
                <a:solidFill>
                  <a:srgbClr val="5A6B78"/>
                </a:solidFill>
                <a:latin typeface="Calibri"/>
              </a:rPr>
              <a:t>public structural basis for the layout</a:t>
            </a:r>
          </a:p>
        </p:txBody>
      </p:sp>
      <p:sp>
        <p:nvSpPr>
          <p:cNvPr id="34" name="Rounded Rectangle 33"/>
          <p:cNvSpPr/>
          <p:nvPr/>
        </p:nvSpPr>
        <p:spPr>
          <a:xfrm>
            <a:off x="6217920" y="4882896"/>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965192"/>
            <a:ext cx="5029200" cy="256032"/>
          </a:xfrm>
          <a:prstGeom prst="rect">
            <a:avLst/>
          </a:prstGeom>
          <a:noFill/>
        </p:spPr>
        <p:txBody>
          <a:bodyPr wrap="square" lIns="0" rIns="0" tIns="0" bIns="0" anchor="t">
            <a:spAutoFit/>
          </a:bodyPr>
          <a:lstStyle/>
          <a:p>
            <a:pPr algn="l"/>
            <a:r>
              <a:rPr sz="1150" b="1" i="0">
                <a:solidFill>
                  <a:srgbClr val="0F2233"/>
                </a:solidFill>
                <a:latin typeface="Calibri"/>
              </a:rPr>
              <a:t>Closest-to-origin rule for periodic patterns</a:t>
            </a:r>
          </a:p>
        </p:txBody>
      </p:sp>
      <p:sp>
        <p:nvSpPr>
          <p:cNvPr id="36" name="TextBox 35"/>
          <p:cNvSpPr txBox="1"/>
          <p:nvPr/>
        </p:nvSpPr>
        <p:spPr>
          <a:xfrm>
            <a:off x="6400800" y="5221224"/>
            <a:ext cx="5029200" cy="237744"/>
          </a:xfrm>
          <a:prstGeom prst="rect">
            <a:avLst/>
          </a:prstGeom>
          <a:noFill/>
        </p:spPr>
        <p:txBody>
          <a:bodyPr wrap="square" lIns="0" rIns="0" tIns="0" bIns="0" anchor="t">
            <a:spAutoFit/>
          </a:bodyPr>
          <a:lstStyle/>
          <a:p>
            <a:pPr algn="l"/>
            <a:r>
              <a:rPr sz="950" b="0" i="0">
                <a:solidFill>
                  <a:srgbClr val="1C7293"/>
                </a:solidFill>
                <a:latin typeface="Calibri"/>
              </a:rPr>
              <a:t>Hitachi High-Tech, US Patent 7,925,095 B2</a:t>
            </a:r>
          </a:p>
        </p:txBody>
      </p:sp>
      <p:sp>
        <p:nvSpPr>
          <p:cNvPr id="37" name="TextBox 36"/>
          <p:cNvSpPr txBox="1"/>
          <p:nvPr/>
        </p:nvSpPr>
        <p:spPr>
          <a:xfrm>
            <a:off x="6400800" y="5458968"/>
            <a:ext cx="5029200" cy="237744"/>
          </a:xfrm>
          <a:prstGeom prst="rect">
            <a:avLst/>
          </a:prstGeom>
          <a:noFill/>
        </p:spPr>
        <p:txBody>
          <a:bodyPr wrap="square" lIns="0" rIns="0" tIns="0" bIns="0" anchor="t">
            <a:spAutoFit/>
          </a:bodyPr>
          <a:lstStyle/>
          <a:p>
            <a:pPr algn="l"/>
            <a:r>
              <a:rPr sz="900" b="0" i="1">
                <a:solidFill>
                  <a:srgbClr val="5A6B78"/>
                </a:solidFill>
                <a:latin typeface="Calibri"/>
              </a:rPr>
              <a:t>the spec's tie-break is established industry practice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Localization method and decision rule</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Three ideas do the work</a:t>
            </a:r>
          </a:p>
        </p:txBody>
      </p:sp>
      <p:sp>
        <p:nvSpPr>
          <p:cNvPr id="4" name="Rounded Rectangle 3"/>
          <p:cNvSpPr/>
          <p:nvPr/>
        </p:nvSpPr>
        <p:spPr>
          <a:xfrm>
            <a:off x="548640" y="1417320"/>
            <a:ext cx="7589520" cy="121615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68096" y="159105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6" name="TextBox 5"/>
          <p:cNvSpPr txBox="1"/>
          <p:nvPr/>
        </p:nvSpPr>
        <p:spPr>
          <a:xfrm>
            <a:off x="1280160" y="1554480"/>
            <a:ext cx="6675120" cy="274320"/>
          </a:xfrm>
          <a:prstGeom prst="rect">
            <a:avLst/>
          </a:prstGeom>
          <a:noFill/>
        </p:spPr>
        <p:txBody>
          <a:bodyPr wrap="square" lIns="0" rIns="0" tIns="0" bIns="0" anchor="t">
            <a:spAutoFit/>
          </a:bodyPr>
          <a:lstStyle/>
          <a:p>
            <a:pPr algn="l"/>
            <a:r>
              <a:rPr sz="1350" b="1" i="0">
                <a:solidFill>
                  <a:srgbClr val="0F2233"/>
                </a:solidFill>
                <a:latin typeface="Cambria"/>
              </a:rPr>
              <a:t>The forward operator is the physics, not a resize</a:t>
            </a:r>
          </a:p>
        </p:txBody>
      </p:sp>
      <p:sp>
        <p:nvSpPr>
          <p:cNvPr id="7" name="TextBox 6"/>
          <p:cNvSpPr txBox="1"/>
          <p:nvPr/>
        </p:nvSpPr>
        <p:spPr>
          <a:xfrm>
            <a:off x="1280160" y="1847088"/>
            <a:ext cx="6675120" cy="731520"/>
          </a:xfrm>
          <a:prstGeom prst="rect">
            <a:avLst/>
          </a:prstGeom>
          <a:noFill/>
        </p:spPr>
        <p:txBody>
          <a:bodyPr wrap="square" lIns="0" rIns="0" tIns="0" bIns="0" anchor="t">
            <a:spAutoFit/>
          </a:bodyPr>
          <a:lstStyle/>
          <a:p>
            <a:pPr algn="l"/>
            <a:r>
              <a:rPr sz="1000" b="0" i="0">
                <a:solidFill>
                  <a:srgbClr val="5A6B78"/>
                </a:solidFill>
                <a:latin typeface="Calibri"/>
              </a:rPr>
              <a:t>The search image is formed by integrating over the detector footprint and sampling through an affine, so we build the template with exactly that operator. The previous resize could only emit integer template sizes, quantising magnification to about 1% steps — as coarse as the entire tolerance. No pose search could ever have worked.</a:t>
            </a:r>
          </a:p>
        </p:txBody>
      </p:sp>
      <p:sp>
        <p:nvSpPr>
          <p:cNvPr id="8" name="Rounded Rectangle 7"/>
          <p:cNvSpPr/>
          <p:nvPr/>
        </p:nvSpPr>
        <p:spPr>
          <a:xfrm>
            <a:off x="548640" y="2788920"/>
            <a:ext cx="7589520" cy="121615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68096" y="2962656"/>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10" name="TextBox 9"/>
          <p:cNvSpPr txBox="1"/>
          <p:nvPr/>
        </p:nvSpPr>
        <p:spPr>
          <a:xfrm>
            <a:off x="1280160" y="2926079"/>
            <a:ext cx="6675120" cy="274320"/>
          </a:xfrm>
          <a:prstGeom prst="rect">
            <a:avLst/>
          </a:prstGeom>
          <a:noFill/>
        </p:spPr>
        <p:txBody>
          <a:bodyPr wrap="square" lIns="0" rIns="0" tIns="0" bIns="0" anchor="t">
            <a:spAutoFit/>
          </a:bodyPr>
          <a:lstStyle/>
          <a:p>
            <a:pPr algn="l"/>
            <a:r>
              <a:rPr sz="1350" b="1" i="0">
                <a:solidFill>
                  <a:srgbClr val="0F2233"/>
                </a:solidFill>
                <a:latin typeface="Cambria"/>
              </a:rPr>
              <a:t>Pose is measured on a pyramid, not searched at full resolution</a:t>
            </a:r>
          </a:p>
        </p:txBody>
      </p:sp>
      <p:sp>
        <p:nvSpPr>
          <p:cNvPr id="11" name="TextBox 10"/>
          <p:cNvSpPr txBox="1"/>
          <p:nvPr/>
        </p:nvSpPr>
        <p:spPr>
          <a:xfrm>
            <a:off x="1280160" y="3218687"/>
            <a:ext cx="6675120" cy="731520"/>
          </a:xfrm>
          <a:prstGeom prst="rect">
            <a:avLst/>
          </a:prstGeom>
          <a:noFill/>
        </p:spPr>
        <p:txBody>
          <a:bodyPr wrap="square" lIns="0" rIns="0" tIns="0" bIns="0" anchor="t">
            <a:spAutoFit/>
          </a:bodyPr>
          <a:lstStyle/>
          <a:p>
            <a:pPr algn="l"/>
            <a:r>
              <a:rPr sz="1000" b="0" i="0">
                <a:solidFill>
                  <a:srgbClr val="5A6B78"/>
                </a:solidFill>
                <a:latin typeface="Calibri"/>
              </a:rPr>
              <a:t>Scale error costs misalignment proportional to template size, so downsampling four times widens the usable basin from about 1% to about 4%. The whole 9:1–11:1 envelope becomes roughly eleven cheap hypotheses instead of hundreds of expensive ones.</a:t>
            </a:r>
          </a:p>
        </p:txBody>
      </p:sp>
      <p:sp>
        <p:nvSpPr>
          <p:cNvPr id="12" name="Rounded Rectangle 11"/>
          <p:cNvSpPr/>
          <p:nvPr/>
        </p:nvSpPr>
        <p:spPr>
          <a:xfrm>
            <a:off x="548640" y="4160520"/>
            <a:ext cx="7589520" cy="121615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68096" y="4334256"/>
            <a:ext cx="365760" cy="365760"/>
          </a:xfrm>
          <a:prstGeom prst="ellipse">
            <a:avLst/>
          </a:prstGeom>
          <a:solidFill>
            <a:srgbClr val="C446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4" name="TextBox 13"/>
          <p:cNvSpPr txBox="1"/>
          <p:nvPr/>
        </p:nvSpPr>
        <p:spPr>
          <a:xfrm>
            <a:off x="1280160" y="4297680"/>
            <a:ext cx="6675120" cy="274320"/>
          </a:xfrm>
          <a:prstGeom prst="rect">
            <a:avLst/>
          </a:prstGeom>
          <a:noFill/>
        </p:spPr>
        <p:txBody>
          <a:bodyPr wrap="square" lIns="0" rIns="0" tIns="0" bIns="0" anchor="t">
            <a:spAutoFit/>
          </a:bodyPr>
          <a:lstStyle/>
          <a:p>
            <a:pPr algn="l"/>
            <a:r>
              <a:rPr sz="1350" b="1" i="0">
                <a:solidFill>
                  <a:srgbClr val="0F2233"/>
                </a:solidFill>
                <a:latin typeface="Cambria"/>
              </a:rPr>
              <a:t>Drift is anisotropic; rotation is isotropic</a:t>
            </a:r>
          </a:p>
        </p:txBody>
      </p:sp>
      <p:sp>
        <p:nvSpPr>
          <p:cNvPr id="15" name="TextBox 14"/>
          <p:cNvSpPr txBox="1"/>
          <p:nvPr/>
        </p:nvSpPr>
        <p:spPr>
          <a:xfrm>
            <a:off x="1280160" y="4590288"/>
            <a:ext cx="6675120" cy="731520"/>
          </a:xfrm>
          <a:prstGeom prst="rect">
            <a:avLst/>
          </a:prstGeom>
          <a:noFill/>
        </p:spPr>
        <p:txBody>
          <a:bodyPr wrap="square" lIns="0" rIns="0" tIns="0" bIns="0" anchor="t">
            <a:spAutoFit/>
          </a:bodyPr>
          <a:lstStyle/>
          <a:p>
            <a:pPr algn="l"/>
            <a:r>
              <a:rPr sz="1000" b="0" i="0">
                <a:solidFill>
                  <a:srgbClr val="5A6B78"/>
                </a:solidFill>
                <a:latin typeface="Calibri"/>
              </a:rPr>
              <a:t>A tilted field of view and a drifting raster produce the same row-to-row displacement, so one measurement cannot separate them. Repeating it on the transposed image isolates the tilt, and the two subtract exactly — no rotation estimate, no tuned parameter.</a:t>
            </a:r>
          </a:p>
        </p:txBody>
      </p:sp>
      <p:sp>
        <p:nvSpPr>
          <p:cNvPr id="16" name="Rounded Rectangle 15"/>
          <p:cNvSpPr/>
          <p:nvPr/>
        </p:nvSpPr>
        <p:spPr>
          <a:xfrm>
            <a:off x="8412480" y="1417320"/>
            <a:ext cx="3200400" cy="4050791"/>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600200"/>
            <a:ext cx="2743200" cy="274320"/>
          </a:xfrm>
          <a:prstGeom prst="rect">
            <a:avLst/>
          </a:prstGeom>
          <a:noFill/>
        </p:spPr>
        <p:txBody>
          <a:bodyPr wrap="square" lIns="0" rIns="0" tIns="0" bIns="0" anchor="t">
            <a:spAutoFit/>
          </a:bodyPr>
          <a:lstStyle/>
          <a:p>
            <a:pPr algn="l"/>
            <a:r>
              <a:rPr sz="1450" b="1" i="0">
                <a:solidFill>
                  <a:srgbClr val="F2A65A"/>
                </a:solidFill>
                <a:latin typeface="Cambria"/>
              </a:rPr>
              <a:t>The decision rule</a:t>
            </a:r>
          </a:p>
        </p:txBody>
      </p:sp>
      <p:sp>
        <p:nvSpPr>
          <p:cNvPr id="18" name="TextBox 17"/>
          <p:cNvSpPr txBox="1"/>
          <p:nvPr/>
        </p:nvSpPr>
        <p:spPr>
          <a:xfrm>
            <a:off x="8641080" y="1920240"/>
            <a:ext cx="2743200" cy="822960"/>
          </a:xfrm>
          <a:prstGeom prst="rect">
            <a:avLst/>
          </a:prstGeom>
          <a:noFill/>
        </p:spPr>
        <p:txBody>
          <a:bodyPr wrap="square" lIns="0" rIns="0" tIns="0" bIns="0" anchor="t">
            <a:spAutoFit/>
          </a:bodyPr>
          <a:lstStyle/>
          <a:p>
            <a:pPr algn="l"/>
            <a:r>
              <a:rPr sz="1100" b="0" i="1">
                <a:solidFill>
                  <a:srgbClr val="FFFFFF"/>
                </a:solidFill>
                <a:latin typeface="Calibri"/>
              </a:rPr>
              <a:t>“If several valid matches exist, select the one whose centre is closest to the search-image centre.”</a:t>
            </a:r>
          </a:p>
        </p:txBody>
      </p:sp>
      <p:sp>
        <p:nvSpPr>
          <p:cNvPr id="19" name="TextBox 18"/>
          <p:cNvSpPr txBox="1"/>
          <p:nvPr/>
        </p:nvSpPr>
        <p:spPr>
          <a:xfrm>
            <a:off x="8641080" y="2761488"/>
            <a:ext cx="2743200" cy="2743200"/>
          </a:xfrm>
          <a:prstGeom prst="rect">
            <a:avLst/>
          </a:prstGeom>
          <a:noFill/>
        </p:spPr>
        <p:txBody>
          <a:bodyPr wrap="square" lIns="0" rIns="0" tIns="0" bIns="0" anchor="t">
            <a:spAutoFit/>
          </a:bodyPr>
          <a:lstStyle/>
          <a:p>
            <a:pPr algn="l">
              <a:spcAft>
                <a:spcPts val="100"/>
              </a:spcAft>
            </a:pPr>
            <a:r>
              <a:rPr sz="950" b="0" i="0">
                <a:solidFill>
                  <a:srgbClr val="FFFFFF"/>
                </a:solidFill>
                <a:latin typeface="Calibri"/>
              </a:rPr>
              <a:t>Implemented, tested, and reachable — but off by default, and the reason is the interesting part.</a:t>
            </a:r>
          </a:p>
          <a:p>
            <a:pPr algn="l">
              <a:spcAft>
                <a:spcPts val="100"/>
              </a:spcAft>
            </a:pPr>
            <a:r>
              <a:rPr sz="950" b="0" i="0">
                <a:solidFill>
                  <a:srgbClr val="35424D"/>
                </a:solidFill>
                <a:latin typeface="Calibri"/>
              </a:rPr>
              <a:t/>
            </a:r>
          </a:p>
          <a:p>
            <a:pPr algn="l">
              <a:spcAft>
                <a:spcPts val="100"/>
              </a:spcAft>
            </a:pPr>
            <a:r>
              <a:rPr sz="950" b="0" i="0">
                <a:solidFill>
                  <a:srgbClr val="C3D2DC"/>
                </a:solidFill>
                <a:latin typeface="Calibri"/>
              </a:rPr>
              <a:t>The rule encodes a DEPLOYMENT PRIOR: a tool that has drifted lands near the site it meant to revisit, so among equally-scoring candidates the central one is the likely one.</a:t>
            </a:r>
          </a:p>
          <a:p>
            <a:pPr algn="l">
              <a:spcAft>
                <a:spcPts val="100"/>
              </a:spcAft>
            </a:pPr>
            <a:r>
              <a:rPr sz="950" b="0" i="0">
                <a:solidFill>
                  <a:srgbClr val="35424D"/>
                </a:solidFill>
                <a:latin typeface="Calibri"/>
              </a:rPr>
              <a:t/>
            </a:r>
          </a:p>
          <a:p>
            <a:pPr algn="l">
              <a:spcAft>
                <a:spcPts val="100"/>
              </a:spcAft>
            </a:pPr>
            <a:r>
              <a:rPr sz="950" b="0" i="0">
                <a:solidFill>
                  <a:srgbClr val="C3D2DC"/>
                </a:solidFill>
                <a:latin typeface="Calibri"/>
              </a:rPr>
              <a:t>Both benchmarks place targets uniformly. Measured median distance from the search centre is 373 / 335 / 347 px against the 358 px a uniform draw predicts — the prior is absent, so the rule can only lose here.</a:t>
            </a:r>
          </a:p>
          <a:p>
            <a:pPr algn="l">
              <a:spcAft>
                <a:spcPts val="100"/>
              </a:spcAft>
            </a:pPr>
            <a:r>
              <a:rPr sz="950" b="0" i="0">
                <a:solidFill>
                  <a:srgbClr val="35424D"/>
                </a:solidFill>
                <a:latin typeface="Calibri"/>
              </a:rPr>
              <a:t/>
            </a:r>
          </a:p>
          <a:p>
            <a:pPr algn="l">
              <a:spcAft>
                <a:spcPts val="100"/>
              </a:spcAft>
            </a:pPr>
            <a:r>
              <a:rPr sz="950" b="0" i="0">
                <a:solidFill>
                  <a:srgbClr val="F2A65A"/>
                </a:solidFill>
                <a:latin typeface="Calibri"/>
              </a:rPr>
              <a:t>We also fixed its threshold: a tie is now two standard errors of the correlation, not a fraction of the candidate spread.</a:t>
            </a:r>
          </a:p>
        </p:txBody>
      </p:sp>
      <p:sp>
        <p:nvSpPr>
          <p:cNvPr id="20" name="TextBox 19"/>
          <p:cNvSpPr txBox="1"/>
          <p:nvPr/>
        </p:nvSpPr>
        <p:spPr>
          <a:xfrm>
            <a:off x="548640" y="5760720"/>
            <a:ext cx="7589520" cy="274320"/>
          </a:xfrm>
          <a:prstGeom prst="rect">
            <a:avLst/>
          </a:prstGeom>
          <a:noFill/>
        </p:spPr>
        <p:txBody>
          <a:bodyPr wrap="square" lIns="0" rIns="0" tIns="0" bIns="0" anchor="t">
            <a:spAutoFit/>
          </a:bodyPr>
          <a:lstStyle/>
          <a:p>
            <a:pPr algn="l"/>
            <a:r>
              <a:rPr sz="1100" b="1" i="0">
                <a:solidFill>
                  <a:srgbClr val="1C7293"/>
                </a:solidFill>
                <a:latin typeface="Calibri"/>
              </a:rPr>
              <a:t>Refinement fails gracefully; re-ranking fails destructively — so only strictly-additive stages ship by default.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233"/>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FFFFFF"/>
                </a:solidFill>
                <a:latin typeface="Cambria"/>
              </a:rPr>
              <a:t>Implementation and execution</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8FA6B4"/>
                </a:solidFill>
                <a:latin typeface="Calibri"/>
              </a:rPr>
              <a:t>The evaluator must be able to run this on their own data with zero source edits</a:t>
            </a:r>
          </a:p>
        </p:txBody>
      </p:sp>
      <p:sp>
        <p:nvSpPr>
          <p:cNvPr id="4" name="Rounded Rectangle 3"/>
          <p:cNvSpPr/>
          <p:nvPr/>
        </p:nvSpPr>
        <p:spPr>
          <a:xfrm>
            <a:off x="548640" y="1417320"/>
            <a:ext cx="6858000" cy="2606040"/>
          </a:xfrm>
          <a:prstGeom prst="roundRect">
            <a:avLst>
              <a:gd name="adj" fmla="val 4000"/>
            </a:avLst>
          </a:prstGeom>
          <a:solidFill>
            <a:srgbClr val="0A1926"/>
          </a:solidFill>
          <a:ln w="9525">
            <a:solidFill>
              <a:srgbClr val="2445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27632"/>
            <a:ext cx="6400800" cy="2240280"/>
          </a:xfrm>
          <a:prstGeom prst="rect">
            <a:avLst/>
          </a:prstGeom>
          <a:noFill/>
        </p:spPr>
        <p:txBody>
          <a:bodyPr wrap="square" lIns="0" rIns="0" tIns="0" bIns="0" anchor="t">
            <a:spAutoFit/>
          </a:bodyPr>
          <a:lstStyle/>
          <a:p>
            <a:pPr algn="l">
              <a:spcAft>
                <a:spcPts val="100"/>
              </a:spcAft>
            </a:pPr>
            <a:r>
              <a:rPr sz="1000" b="0" i="0">
                <a:solidFill>
                  <a:srgbClr val="6E8A9C"/>
                </a:solidFill>
                <a:latin typeface="Courier New"/>
              </a:rPr>
              <a:t># single pair — prints exactly one line: "547.03,289.62"</a:t>
            </a:r>
          </a:p>
          <a:p>
            <a:pPr algn="l">
              <a:spcAft>
                <a:spcPts val="100"/>
              </a:spcAft>
            </a:pPr>
            <a:r>
              <a:rPr sz="1000" b="0" i="0">
                <a:solidFill>
                  <a:srgbClr val="9FE8C8"/>
                </a:solidFill>
                <a:latin typeface="Courier New"/>
              </a:rPr>
              <a:t>python localize.py --reference ref.png --search search.png</a:t>
            </a:r>
          </a:p>
          <a:p>
            <a:pPr algn="l">
              <a:spcAft>
                <a:spcPts val="100"/>
              </a:spcAft>
            </a:pPr>
            <a:r>
              <a:rPr sz="1000" b="0" i="0">
                <a:solidFill>
                  <a:srgbClr val="5A6B78"/>
                </a:solidFill>
                <a:latin typeface="Courier New"/>
              </a:rPr>
              <a:t/>
            </a:r>
          </a:p>
          <a:p>
            <a:pPr algn="l">
              <a:spcAft>
                <a:spcPts val="100"/>
              </a:spcAft>
            </a:pPr>
            <a:r>
              <a:rPr sz="1000" b="0" i="0">
                <a:solidFill>
                  <a:srgbClr val="6E8A9C"/>
                </a:solidFill>
                <a:latin typeface="Courier New"/>
              </a:rPr>
              <a:t># batch — a manifest or a directory of pairs</a:t>
            </a:r>
          </a:p>
          <a:p>
            <a:pPr algn="l">
              <a:spcAft>
                <a:spcPts val="100"/>
              </a:spcAft>
            </a:pPr>
            <a:r>
              <a:rPr sz="1000" b="0" i="0">
                <a:solidFill>
                  <a:srgbClr val="9FE8C8"/>
                </a:solidFill>
                <a:latin typeface="Courier New"/>
              </a:rPr>
              <a:t>python localize.py --manifest test/manifest.csv --out pred.csv</a:t>
            </a:r>
          </a:p>
          <a:p>
            <a:pPr algn="l">
              <a:spcAft>
                <a:spcPts val="100"/>
              </a:spcAft>
            </a:pPr>
            <a:r>
              <a:rPr sz="1000" b="0" i="0">
                <a:solidFill>
                  <a:srgbClr val="9FE8C8"/>
                </a:solidFill>
                <a:latin typeface="Courier New"/>
              </a:rPr>
              <a:t>python localize.py --input-dir data/test/ --out pred.csv</a:t>
            </a:r>
          </a:p>
          <a:p>
            <a:pPr algn="l">
              <a:spcAft>
                <a:spcPts val="100"/>
              </a:spcAft>
            </a:pPr>
            <a:r>
              <a:rPr sz="1000" b="0" i="0">
                <a:solidFill>
                  <a:srgbClr val="5A6B78"/>
                </a:solidFill>
                <a:latin typeface="Courier New"/>
              </a:rPr>
              <a:t/>
            </a:r>
          </a:p>
          <a:p>
            <a:pPr algn="l">
              <a:spcAft>
                <a:spcPts val="100"/>
              </a:spcAft>
            </a:pPr>
            <a:r>
              <a:rPr sz="1000" b="0" i="0">
                <a:solidFill>
                  <a:srgbClr val="6E8A9C"/>
                </a:solidFill>
                <a:latin typeface="Courier New"/>
              </a:rPr>
              <a:t># regenerate the dataset, then score it</a:t>
            </a:r>
          </a:p>
          <a:p>
            <a:pPr algn="l">
              <a:spcAft>
                <a:spcPts val="100"/>
              </a:spcAft>
            </a:pPr>
            <a:r>
              <a:rPr sz="1000" b="0" i="0">
                <a:solidFill>
                  <a:srgbClr val="9FE8C8"/>
                </a:solidFill>
                <a:latin typeface="Courier New"/>
              </a:rPr>
              <a:t>python generate_dataset.py --num-samples 30 --split bench --seed 1234</a:t>
            </a:r>
          </a:p>
          <a:p>
            <a:pPr algn="l">
              <a:spcAft>
                <a:spcPts val="100"/>
              </a:spcAft>
            </a:pPr>
            <a:r>
              <a:rPr sz="1000" b="0" i="0">
                <a:solidFill>
                  <a:srgbClr val="9FE8C8"/>
                </a:solidFill>
                <a:latin typeface="Courier New"/>
              </a:rPr>
              <a:t>python evaluate.py --manifest m.csv --predictions pred.csv --out results/</a:t>
            </a:r>
          </a:p>
        </p:txBody>
      </p:sp>
      <p:sp>
        <p:nvSpPr>
          <p:cNvPr id="6" name="TextBox 5"/>
          <p:cNvSpPr txBox="1"/>
          <p:nvPr/>
        </p:nvSpPr>
        <p:spPr>
          <a:xfrm>
            <a:off x="548640" y="4251960"/>
            <a:ext cx="6858000" cy="256032"/>
          </a:xfrm>
          <a:prstGeom prst="rect">
            <a:avLst/>
          </a:prstGeom>
          <a:noFill/>
        </p:spPr>
        <p:txBody>
          <a:bodyPr wrap="square" lIns="0" rIns="0" tIns="0" bIns="0" anchor="t">
            <a:spAutoFit/>
          </a:bodyPr>
          <a:lstStyle/>
          <a:p>
            <a:pPr algn="l"/>
            <a:r>
              <a:rPr sz="1250" b="1" i="0">
                <a:solidFill>
                  <a:srgbClr val="F2A65A"/>
                </a:solidFill>
                <a:latin typeface="Calibri"/>
              </a:rPr>
              <a:t>Four runtime dependencies</a:t>
            </a:r>
          </a:p>
        </p:txBody>
      </p:sp>
      <p:sp>
        <p:nvSpPr>
          <p:cNvPr id="7" name="TextBox 6"/>
          <p:cNvSpPr txBox="1"/>
          <p:nvPr/>
        </p:nvSpPr>
        <p:spPr>
          <a:xfrm>
            <a:off x="548640" y="4507992"/>
            <a:ext cx="6858000" cy="502920"/>
          </a:xfrm>
          <a:prstGeom prst="rect">
            <a:avLst/>
          </a:prstGeom>
          <a:noFill/>
        </p:spPr>
        <p:txBody>
          <a:bodyPr wrap="square" lIns="0" rIns="0" tIns="0" bIns="0" anchor="t">
            <a:spAutoFit/>
          </a:bodyPr>
          <a:lstStyle/>
          <a:p>
            <a:pPr algn="l"/>
            <a:r>
              <a:rPr sz="1000" b="0" i="0">
                <a:solidFill>
                  <a:srgbClr val="B7C7D2"/>
                </a:solidFill>
                <a:latin typeface="Calibri"/>
              </a:rPr>
              <a:t>numpy, scipy, opencv-python-headless, scikit-image. torch is optional and lazily imported — uninstalling it changes nothing.</a:t>
            </a:r>
          </a:p>
        </p:txBody>
      </p:sp>
      <p:sp>
        <p:nvSpPr>
          <p:cNvPr id="8" name="TextBox 7"/>
          <p:cNvSpPr txBox="1"/>
          <p:nvPr/>
        </p:nvSpPr>
        <p:spPr>
          <a:xfrm>
            <a:off x="548640" y="5056632"/>
            <a:ext cx="6858000" cy="256032"/>
          </a:xfrm>
          <a:prstGeom prst="rect">
            <a:avLst/>
          </a:prstGeom>
          <a:noFill/>
        </p:spPr>
        <p:txBody>
          <a:bodyPr wrap="square" lIns="0" rIns="0" tIns="0" bIns="0" anchor="t">
            <a:spAutoFit/>
          </a:bodyPr>
          <a:lstStyle/>
          <a:p>
            <a:pPr algn="l"/>
            <a:r>
              <a:rPr sz="1250" b="1" i="0">
                <a:solidFill>
                  <a:srgbClr val="F2A65A"/>
                </a:solidFill>
                <a:latin typeface="Calibri"/>
              </a:rPr>
              <a:t>Deterministic and portable</a:t>
            </a:r>
          </a:p>
        </p:txBody>
      </p:sp>
      <p:sp>
        <p:nvSpPr>
          <p:cNvPr id="9" name="TextBox 8"/>
          <p:cNvSpPr txBox="1"/>
          <p:nvPr/>
        </p:nvSpPr>
        <p:spPr>
          <a:xfrm>
            <a:off x="548640" y="5312664"/>
            <a:ext cx="6858000" cy="502920"/>
          </a:xfrm>
          <a:prstGeom prst="rect">
            <a:avLst/>
          </a:prstGeom>
          <a:noFill/>
        </p:spPr>
        <p:txBody>
          <a:bodyPr wrap="square" lIns="0" rIns="0" tIns="0" bIns="0" anchor="t">
            <a:spAutoFit/>
          </a:bodyPr>
          <a:lstStyle/>
          <a:p>
            <a:pPr algn="l"/>
            <a:r>
              <a:rPr sz="1000" b="0" i="0">
                <a:solidFill>
                  <a:srgbClr val="B7C7D2"/>
                </a:solidFill>
                <a:latin typeface="Calibri"/>
              </a:rPr>
              <a:t>One seeded RNG threaded through, pathlib only, no absolute paths. Timing method and thread count are recorded with every run (OpenCV using 22 threads here). Developed on macOS and re-measured on Windows for this submission; accuracy reproduced to the digit on both.</a:t>
            </a:r>
          </a:p>
        </p:txBody>
      </p:sp>
      <p:sp>
        <p:nvSpPr>
          <p:cNvPr id="10" name="TextBox 9"/>
          <p:cNvSpPr txBox="1"/>
          <p:nvPr/>
        </p:nvSpPr>
        <p:spPr>
          <a:xfrm>
            <a:off x="548640" y="5861304"/>
            <a:ext cx="6858000" cy="256032"/>
          </a:xfrm>
          <a:prstGeom prst="rect">
            <a:avLst/>
          </a:prstGeom>
          <a:noFill/>
        </p:spPr>
        <p:txBody>
          <a:bodyPr wrap="square" lIns="0" rIns="0" tIns="0" bIns="0" anchor="t">
            <a:spAutoFit/>
          </a:bodyPr>
          <a:lstStyle/>
          <a:p>
            <a:pPr algn="l"/>
            <a:r>
              <a:rPr sz="1250" b="1" i="0">
                <a:solidFill>
                  <a:srgbClr val="F2A65A"/>
                </a:solidFill>
                <a:latin typeface="Calibri"/>
              </a:rPr>
              <a:t>stdout discipline</a:t>
            </a:r>
          </a:p>
        </p:txBody>
      </p:sp>
      <p:sp>
        <p:nvSpPr>
          <p:cNvPr id="11" name="TextBox 10"/>
          <p:cNvSpPr txBox="1"/>
          <p:nvPr/>
        </p:nvSpPr>
        <p:spPr>
          <a:xfrm>
            <a:off x="548640" y="6117336"/>
            <a:ext cx="6858000" cy="502920"/>
          </a:xfrm>
          <a:prstGeom prst="rect">
            <a:avLst/>
          </a:prstGeom>
          <a:noFill/>
        </p:spPr>
        <p:txBody>
          <a:bodyPr wrap="square" lIns="0" rIns="0" tIns="0" bIns="0" anchor="t">
            <a:spAutoFit/>
          </a:bodyPr>
          <a:lstStyle/>
          <a:p>
            <a:pPr algn="l"/>
            <a:r>
              <a:rPr sz="1000" b="0" i="0">
                <a:solidFill>
                  <a:srgbClr val="B7C7D2"/>
                </a:solidFill>
                <a:latin typeface="Calibri"/>
              </a:rPr>
              <a:t>In single-pair mode stdout carries the coordinate and nothing else. All logs go to stderr, because benchmark parsers break on chatty scripts.</a:t>
            </a:r>
          </a:p>
        </p:txBody>
      </p:sp>
      <p:sp>
        <p:nvSpPr>
          <p:cNvPr id="12" name="Rounded Rectangle 11"/>
          <p:cNvSpPr/>
          <p:nvPr/>
        </p:nvSpPr>
        <p:spPr>
          <a:xfrm>
            <a:off x="7680960" y="1417320"/>
            <a:ext cx="3931920" cy="5029200"/>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600200"/>
            <a:ext cx="3474720" cy="274320"/>
          </a:xfrm>
          <a:prstGeom prst="rect">
            <a:avLst/>
          </a:prstGeom>
          <a:noFill/>
        </p:spPr>
        <p:txBody>
          <a:bodyPr wrap="square" lIns="0" rIns="0" tIns="0" bIns="0" anchor="t">
            <a:spAutoFit/>
          </a:bodyPr>
          <a:lstStyle/>
          <a:p>
            <a:pPr algn="l"/>
            <a:r>
              <a:rPr sz="1450" b="1" i="0">
                <a:solidFill>
                  <a:srgbClr val="F2A65A"/>
                </a:solidFill>
                <a:latin typeface="Cambria"/>
              </a:rPr>
              <a:t>Repository layout</a:t>
            </a:r>
          </a:p>
        </p:txBody>
      </p:sp>
      <p:sp>
        <p:nvSpPr>
          <p:cNvPr id="14" name="TextBox 13"/>
          <p:cNvSpPr txBox="1"/>
          <p:nvPr/>
        </p:nvSpPr>
        <p:spPr>
          <a:xfrm>
            <a:off x="7909560" y="1965960"/>
            <a:ext cx="3474720" cy="2377440"/>
          </a:xfrm>
          <a:prstGeom prst="rect">
            <a:avLst/>
          </a:prstGeom>
          <a:noFill/>
        </p:spPr>
        <p:txBody>
          <a:bodyPr wrap="square" lIns="0" rIns="0" tIns="0" bIns="0" anchor="t">
            <a:spAutoFit/>
          </a:bodyPr>
          <a:lstStyle/>
          <a:p>
            <a:pPr algn="l"/>
            <a:r>
              <a:rPr sz="1000" b="0" i="0">
                <a:solidFill>
                  <a:srgbClr val="C3D2DC"/>
                </a:solidFill>
                <a:latin typeface="Courier New"/>
              </a:rPr>
              <a:t>src/synth/      dataset generation
src/driftlock/  localization
localize.py     inference CLI
generate_dataset.py
evaluate.py     metrics + strata
results/        every number here
docs/           plan, decisions,
                findings, worklog
tests/          35 tests, asymmetric
                geometry cases</a:t>
            </a:r>
          </a:p>
        </p:txBody>
      </p:sp>
      <p:sp>
        <p:nvSpPr>
          <p:cNvPr id="15" name="TextBox 14"/>
          <p:cNvSpPr txBox="1"/>
          <p:nvPr/>
        </p:nvSpPr>
        <p:spPr>
          <a:xfrm>
            <a:off x="7909560" y="4480560"/>
            <a:ext cx="3474720" cy="274320"/>
          </a:xfrm>
          <a:prstGeom prst="rect">
            <a:avLst/>
          </a:prstGeom>
          <a:noFill/>
        </p:spPr>
        <p:txBody>
          <a:bodyPr wrap="square" lIns="0" rIns="0" tIns="0" bIns="0" anchor="t">
            <a:spAutoFit/>
          </a:bodyPr>
          <a:lstStyle/>
          <a:p>
            <a:pPr algn="l"/>
            <a:r>
              <a:rPr sz="1350" b="1" i="0">
                <a:solidFill>
                  <a:srgbClr val="F2A65A"/>
                </a:solidFill>
                <a:latin typeface="Cambria"/>
              </a:rPr>
              <a:t>Correctness discipline</a:t>
            </a:r>
          </a:p>
        </p:txBody>
      </p:sp>
      <p:sp>
        <p:nvSpPr>
          <p:cNvPr id="16" name="TextBox 15"/>
          <p:cNvSpPr txBox="1"/>
          <p:nvPr/>
        </p:nvSpPr>
        <p:spPr>
          <a:xfrm>
            <a:off x="7909560" y="4800600"/>
            <a:ext cx="3474720" cy="1463040"/>
          </a:xfrm>
          <a:prstGeom prst="rect">
            <a:avLst/>
          </a:prstGeom>
          <a:noFill/>
        </p:spPr>
        <p:txBody>
          <a:bodyPr wrap="square" lIns="0" rIns="0" tIns="0" bIns="0" anchor="t">
            <a:spAutoFit/>
          </a:bodyPr>
          <a:lstStyle/>
          <a:p>
            <a:pPr algn="l"/>
            <a:r>
              <a:rPr sz="1000" b="0" i="0">
                <a:solidFill>
                  <a:srgbClr val="B7C7D2"/>
                </a:solidFill>
                <a:latin typeface="Calibri"/>
              </a:rPr>
              <a:t>No number is typed by hand — every metric in this deck is read out of results/ at build time, and a verifier fails the build on any slide number that is not there. No citation nobody opened. Asymmetric geometry tests, because a symmetric test cannot catch an x/y swap.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Experiment setup and test diversity</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Three splits, only one of which was ever used to make a decision</a:t>
            </a:r>
          </a:p>
        </p:txBody>
      </p:sp>
      <p:sp>
        <p:nvSpPr>
          <p:cNvPr id="4" name="Rounded Rectangle 3"/>
          <p:cNvSpPr/>
          <p:nvPr/>
        </p:nvSpPr>
        <p:spPr>
          <a:xfrm>
            <a:off x="548640" y="1417320"/>
            <a:ext cx="3520440" cy="16002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86384" y="1618488"/>
            <a:ext cx="274320" cy="2743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 y="1609344"/>
            <a:ext cx="2743200" cy="292608"/>
          </a:xfrm>
          <a:prstGeom prst="rect">
            <a:avLst/>
          </a:prstGeom>
          <a:noFill/>
        </p:spPr>
        <p:txBody>
          <a:bodyPr wrap="square" lIns="0" rIns="0" tIns="0" bIns="0" anchor="t">
            <a:spAutoFit/>
          </a:bodyPr>
          <a:lstStyle/>
          <a:p>
            <a:pPr algn="l"/>
            <a:r>
              <a:rPr sz="1300" b="1" i="0">
                <a:solidFill>
                  <a:srgbClr val="0F2233"/>
                </a:solidFill>
                <a:latin typeface="Cambria"/>
              </a:rPr>
              <a:t>sponsor  ·  40 pairs</a:t>
            </a:r>
          </a:p>
        </p:txBody>
      </p:sp>
      <p:sp>
        <p:nvSpPr>
          <p:cNvPr id="7" name="TextBox 6"/>
          <p:cNvSpPr txBox="1"/>
          <p:nvPr/>
        </p:nvSpPr>
        <p:spPr>
          <a:xfrm>
            <a:off x="786384" y="1993392"/>
            <a:ext cx="3017520" cy="914400"/>
          </a:xfrm>
          <a:prstGeom prst="rect">
            <a:avLst/>
          </a:prstGeom>
          <a:noFill/>
        </p:spPr>
        <p:txBody>
          <a:bodyPr wrap="square" lIns="0" rIns="0" tIns="0" bIns="0" anchor="t">
            <a:spAutoFit/>
          </a:bodyPr>
          <a:lstStyle/>
          <a:p>
            <a:pPr algn="l"/>
            <a:r>
              <a:rPr sz="1050" b="0" i="0">
                <a:solidFill>
                  <a:srgbClr val="5A6B78"/>
                </a:solidFill>
                <a:latin typeface="Calibri"/>
              </a:rPr>
              <a:t>The published generator — an independent distribution we did not author. Fixed 10:1, no rotation. Tests precision.</a:t>
            </a:r>
          </a:p>
        </p:txBody>
      </p:sp>
      <p:sp>
        <p:nvSpPr>
          <p:cNvPr id="8" name="Rounded Rectangle 7"/>
          <p:cNvSpPr/>
          <p:nvPr/>
        </p:nvSpPr>
        <p:spPr>
          <a:xfrm>
            <a:off x="4343400" y="1417320"/>
            <a:ext cx="3520440" cy="16002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81144" y="1618488"/>
            <a:ext cx="274320" cy="27432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46904" y="1609344"/>
            <a:ext cx="2743200" cy="292608"/>
          </a:xfrm>
          <a:prstGeom prst="rect">
            <a:avLst/>
          </a:prstGeom>
          <a:noFill/>
        </p:spPr>
        <p:txBody>
          <a:bodyPr wrap="square" lIns="0" rIns="0" tIns="0" bIns="0" anchor="t">
            <a:spAutoFit/>
          </a:bodyPr>
          <a:lstStyle/>
          <a:p>
            <a:pPr algn="l"/>
            <a:r>
              <a:rPr sz="1300" b="1" i="0">
                <a:solidFill>
                  <a:srgbClr val="0F2233"/>
                </a:solidFill>
                <a:latin typeface="Cambria"/>
              </a:rPr>
              <a:t>bench  ·  30 pairs</a:t>
            </a:r>
          </a:p>
        </p:txBody>
      </p:sp>
      <p:sp>
        <p:nvSpPr>
          <p:cNvPr id="11" name="TextBox 10"/>
          <p:cNvSpPr txBox="1"/>
          <p:nvPr/>
        </p:nvSpPr>
        <p:spPr>
          <a:xfrm>
            <a:off x="4581144" y="1993392"/>
            <a:ext cx="3017520" cy="914400"/>
          </a:xfrm>
          <a:prstGeom prst="rect">
            <a:avLst/>
          </a:prstGeom>
          <a:noFill/>
        </p:spPr>
        <p:txBody>
          <a:bodyPr wrap="square" lIns="0" rIns="0" tIns="0" bIns="0" anchor="t">
            <a:spAutoFit/>
          </a:bodyPr>
          <a:lstStyle/>
          <a:p>
            <a:pPr algn="l"/>
            <a:r>
              <a:rPr sz="1050" b="0" i="0">
                <a:solidFill>
                  <a:srgbClr val="5A6B78"/>
                </a:solidFill>
                <a:latin typeface="Calibri"/>
              </a:rPr>
              <a:t>Our generator: 9:1–11:1 magnification, ±2° rotation, DRAM. Never used for tuning. The reported split.</a:t>
            </a:r>
          </a:p>
        </p:txBody>
      </p:sp>
      <p:sp>
        <p:nvSpPr>
          <p:cNvPr id="12" name="Rounded Rectangle 11"/>
          <p:cNvSpPr/>
          <p:nvPr/>
        </p:nvSpPr>
        <p:spPr>
          <a:xfrm>
            <a:off x="8138160" y="1417320"/>
            <a:ext cx="3520440" cy="16002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75904" y="1618488"/>
            <a:ext cx="274320" cy="274320"/>
          </a:xfrm>
          <a:prstGeom prst="ellipse">
            <a:avLst/>
          </a:prstGeom>
          <a:solidFill>
            <a:srgbClr val="C44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609344"/>
            <a:ext cx="2743200" cy="292608"/>
          </a:xfrm>
          <a:prstGeom prst="rect">
            <a:avLst/>
          </a:prstGeom>
          <a:noFill/>
        </p:spPr>
        <p:txBody>
          <a:bodyPr wrap="square" lIns="0" rIns="0" tIns="0" bIns="0" anchor="t">
            <a:spAutoFit/>
          </a:bodyPr>
          <a:lstStyle/>
          <a:p>
            <a:pPr algn="l"/>
            <a:r>
              <a:rPr sz="1300" b="1" i="0">
                <a:solidFill>
                  <a:srgbClr val="0F2233"/>
                </a:solidFill>
                <a:latin typeface="Cambria"/>
              </a:rPr>
              <a:t>held-out FinFET  ·  30 pairs</a:t>
            </a:r>
          </a:p>
        </p:txBody>
      </p:sp>
      <p:sp>
        <p:nvSpPr>
          <p:cNvPr id="15" name="TextBox 14"/>
          <p:cNvSpPr txBox="1"/>
          <p:nvPr/>
        </p:nvSpPr>
        <p:spPr>
          <a:xfrm>
            <a:off x="8375904" y="1993392"/>
            <a:ext cx="3017520" cy="914400"/>
          </a:xfrm>
          <a:prstGeom prst="rect">
            <a:avLst/>
          </a:prstGeom>
          <a:noFill/>
        </p:spPr>
        <p:txBody>
          <a:bodyPr wrap="square" lIns="0" rIns="0" tIns="0" bIns="0" anchor="t">
            <a:spAutoFit/>
          </a:bodyPr>
          <a:lstStyle/>
          <a:p>
            <a:pPr algn="l"/>
            <a:r>
              <a:rPr sz="1050" b="0" i="0">
                <a:solidFill>
                  <a:srgbClr val="5A6B78"/>
                </a:solidFill>
                <a:latin typeface="Calibri"/>
              </a:rPr>
              <a:t>A different architecture entirely, different seed. Never used for tuning. Tests whether anything transfers.</a:t>
            </a:r>
          </a:p>
        </p:txBody>
      </p:sp>
      <p:sp>
        <p:nvSpPr>
          <p:cNvPr id="16" name="Rounded Rectangle 15"/>
          <p:cNvSpPr/>
          <p:nvPr/>
        </p:nvSpPr>
        <p:spPr>
          <a:xfrm>
            <a:off x="548640" y="3246120"/>
            <a:ext cx="5486400" cy="2606040"/>
          </a:xfrm>
          <a:prstGeom prst="roundRect">
            <a:avLst>
              <a:gd name="adj" fmla="val 4000"/>
            </a:avLst>
          </a:prstGeom>
          <a:solidFill>
            <a:srgbClr val="FDF3E7"/>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429000"/>
            <a:ext cx="4937760" cy="292608"/>
          </a:xfrm>
          <a:prstGeom prst="rect">
            <a:avLst/>
          </a:prstGeom>
          <a:noFill/>
        </p:spPr>
        <p:txBody>
          <a:bodyPr wrap="square" lIns="0" rIns="0" tIns="0" bIns="0" anchor="t">
            <a:spAutoFit/>
          </a:bodyPr>
          <a:lstStyle/>
          <a:p>
            <a:pPr algn="l"/>
            <a:r>
              <a:rPr sz="1550" b="1" i="0">
                <a:solidFill>
                  <a:srgbClr val="8A4B12"/>
                </a:solidFill>
                <a:latin typeface="Cambria"/>
              </a:rPr>
              <a:t>Held-out discipline, and why we enforce it</a:t>
            </a:r>
          </a:p>
        </p:txBody>
      </p:sp>
      <p:sp>
        <p:nvSpPr>
          <p:cNvPr id="18" name="TextBox 17"/>
          <p:cNvSpPr txBox="1"/>
          <p:nvPr/>
        </p:nvSpPr>
        <p:spPr>
          <a:xfrm>
            <a:off x="822960" y="3794760"/>
            <a:ext cx="4937760" cy="1920240"/>
          </a:xfrm>
          <a:prstGeom prst="rect">
            <a:avLst/>
          </a:prstGeom>
          <a:noFill/>
        </p:spPr>
        <p:txBody>
          <a:bodyPr wrap="square" lIns="0" rIns="0" tIns="0" bIns="0" anchor="t">
            <a:spAutoFit/>
          </a:bodyPr>
          <a:lstStyle/>
          <a:p>
            <a:pPr algn="l"/>
            <a:r>
              <a:rPr sz="1150" b="0" i="0">
                <a:solidFill>
                  <a:srgbClr val="6B4520"/>
                </a:solidFill>
                <a:latin typeface="Calibri"/>
              </a:rPr>
              <a:t>An earlier component improved the split it was tuned on by 5 points and made both held-out splits worse — by 6.7 points on one and 13.3 on the other. It had been tuned on a single seed and a single architecture.
It was withdrawn, and the headline that depended on it was withdrawn with it. That is why every claim here is quoted on a split that was never used to make a decision.</a:t>
            </a:r>
          </a:p>
        </p:txBody>
      </p:sp>
      <p:sp>
        <p:nvSpPr>
          <p:cNvPr id="19" name="Rounded Rectangle 18"/>
          <p:cNvSpPr/>
          <p:nvPr/>
        </p:nvSpPr>
        <p:spPr>
          <a:xfrm>
            <a:off x="6309360" y="3246120"/>
            <a:ext cx="5303520" cy="260604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429000"/>
            <a:ext cx="4754880" cy="292608"/>
          </a:xfrm>
          <a:prstGeom prst="rect">
            <a:avLst/>
          </a:prstGeom>
          <a:noFill/>
        </p:spPr>
        <p:txBody>
          <a:bodyPr wrap="square" lIns="0" rIns="0" tIns="0" bIns="0" anchor="t">
            <a:spAutoFit/>
          </a:bodyPr>
          <a:lstStyle/>
          <a:p>
            <a:pPr algn="l"/>
            <a:r>
              <a:rPr sz="1550" b="1" i="0">
                <a:solidFill>
                  <a:srgbClr val="0F2233"/>
                </a:solidFill>
                <a:latin typeface="Cambria"/>
              </a:rPr>
              <a:t>What varies across the pairs</a:t>
            </a:r>
          </a:p>
        </p:txBody>
      </p:sp>
      <p:sp>
        <p:nvSpPr>
          <p:cNvPr id="21" name="TextBox 20"/>
          <p:cNvSpPr txBox="1"/>
          <p:nvPr/>
        </p:nvSpPr>
        <p:spPr>
          <a:xfrm>
            <a:off x="6583680" y="3794760"/>
            <a:ext cx="4754880" cy="1920240"/>
          </a:xfrm>
          <a:prstGeom prst="rect">
            <a:avLst/>
          </a:prstGeom>
          <a:noFill/>
        </p:spPr>
        <p:txBody>
          <a:bodyPr wrap="square" lIns="0" rIns="0" tIns="0" bIns="0" anchor="t">
            <a:spAutoFit/>
          </a:bodyPr>
          <a:lstStyle/>
          <a:p>
            <a:pPr algn="l">
              <a:spcAft>
                <a:spcPts val="500"/>
              </a:spcAft>
            </a:pPr>
            <a:r>
              <a:rPr sz="1100" b="0" i="0">
                <a:solidFill>
                  <a:srgbClr val="35424D"/>
                </a:solidFill>
                <a:latin typeface="Calibri"/>
              </a:rPr>
              <a:t>•  Magnification 9:1 to 11:1, continuously sampled</a:t>
            </a:r>
          </a:p>
          <a:p>
            <a:pPr algn="l">
              <a:spcAft>
                <a:spcPts val="500"/>
              </a:spcAft>
            </a:pPr>
            <a:r>
              <a:rPr sz="1100" b="0" i="0">
                <a:solidFill>
                  <a:srgbClr val="35424D"/>
                </a:solidFill>
                <a:latin typeface="Calibri"/>
              </a:rPr>
              <a:t>•  Rotation ±2°, continuously sampled</a:t>
            </a:r>
          </a:p>
          <a:p>
            <a:pPr algn="l">
              <a:spcAft>
                <a:spcPts val="500"/>
              </a:spcAft>
            </a:pPr>
            <a:r>
              <a:rPr sz="1100" b="0" i="0">
                <a:solidFill>
                  <a:srgbClr val="35424D"/>
                </a:solidFill>
                <a:latin typeface="Calibri"/>
              </a:rPr>
              <a:t>•  Target position uniform across the field, plus a deliberate share on mat boundaries</a:t>
            </a:r>
          </a:p>
          <a:p>
            <a:pPr algn="l">
              <a:spcAft>
                <a:spcPts val="500"/>
              </a:spcAft>
            </a:pPr>
            <a:r>
              <a:rPr sz="1100" b="0" i="0">
                <a:solidFill>
                  <a:srgbClr val="35424D"/>
                </a:solidFill>
                <a:latin typeface="Calibri"/>
              </a:rPr>
              <a:t>•  Dose 2000 on the reference against 200 on the search — a ten-times noisier acquisition</a:t>
            </a:r>
          </a:p>
          <a:p>
            <a:pPr algn="l">
              <a:spcAft>
                <a:spcPts val="500"/>
              </a:spcAft>
            </a:pPr>
            <a:r>
              <a:rPr sz="1100" b="0" i="0">
                <a:solidFill>
                  <a:srgbClr val="35424D"/>
                </a:solidFill>
                <a:latin typeface="Calibri"/>
              </a:rPr>
              <a:t>•  Two architectures, four presets each, per-pair seeds recorded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Threshold-wise accuracy, error statistics and runtime</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Every figure emitted by evaluate.py into results/ — none typed by hand</a:t>
            </a:r>
          </a:p>
        </p:txBody>
      </p:sp>
      <p:graphicFrame>
        <p:nvGraphicFramePr>
          <p:cNvPr id="4" name="Table 3"/>
          <p:cNvGraphicFramePr>
            <a:graphicFrameLocks noGrp="1"/>
          </p:cNvGraphicFramePr>
          <p:nvPr/>
        </p:nvGraphicFramePr>
        <p:xfrm>
          <a:off x="548640" y="1371600"/>
          <a:ext cx="11064237" cy="1920240"/>
        </p:xfrm>
        <a:graphic>
          <a:graphicData uri="http://schemas.openxmlformats.org/drawingml/2006/table">
            <a:tbl>
              <a:tblPr firstRow="1" bandRow="1">
                <a:tableStyleId>{5C22544A-7EE6-4342-B048-85BDC9FD1C3A}</a:tableStyleId>
              </a:tblPr>
              <a:tblGrid>
                <a:gridCol w="1434253"/>
                <a:gridCol w="1434253"/>
                <a:gridCol w="1229360"/>
                <a:gridCol w="1229360"/>
                <a:gridCol w="1024466"/>
                <a:gridCol w="1024466"/>
                <a:gridCol w="1024466"/>
                <a:gridCol w="1126913"/>
                <a:gridCol w="1536700"/>
              </a:tblGrid>
              <a:tr h="274320">
                <a:tc>
                  <a:txBody>
                    <a:bodyPr wrap="square"/>
                    <a:lstStyle/>
                    <a:p>
                      <a:pPr algn="l"/>
                      <a:r>
                        <a:rPr sz="1100" b="1">
                          <a:solidFill>
                            <a:srgbClr val="FFFFFF"/>
                          </a:solidFill>
                          <a:latin typeface="Calibri"/>
                        </a:rPr>
                        <a:t>Split</a:t>
                      </a:r>
                    </a:p>
                  </a:txBody>
                  <a:tcPr marL="54864" marR="54864" marT="18288" marB="18288" anchor="ctr">
                    <a:solidFill>
                      <a:srgbClr val="1B3A50"/>
                    </a:solidFill>
                  </a:tcPr>
                </a:tc>
                <a:tc>
                  <a:txBody>
                    <a:bodyPr wrap="square"/>
                    <a:lstStyle/>
                    <a:p>
                      <a:pPr algn="ctr"/>
                      <a:r>
                        <a:rPr sz="1100" b="1">
                          <a:solidFill>
                            <a:srgbClr val="FFFFFF"/>
                          </a:solidFill>
                          <a:latin typeface="Calibri"/>
                        </a:rPr>
                        <a:t>Config</a:t>
                      </a:r>
                    </a:p>
                  </a:txBody>
                  <a:tcPr marL="54864" marR="54864" marT="18288" marB="18288" anchor="ctr">
                    <a:solidFill>
                      <a:srgbClr val="1B3A50"/>
                    </a:solidFill>
                  </a:tcPr>
                </a:tc>
                <a:tc>
                  <a:txBody>
                    <a:bodyPr wrap="square"/>
                    <a:lstStyle/>
                    <a:p>
                      <a:pPr algn="ctr"/>
                      <a:r>
                        <a:rPr sz="1100" b="1">
                          <a:solidFill>
                            <a:srgbClr val="FFFFFF"/>
                          </a:solidFill>
                          <a:latin typeface="Calibri"/>
                        </a:rPr>
                        <a:t>Mis-lock</a:t>
                      </a:r>
                    </a:p>
                  </a:txBody>
                  <a:tcPr marL="54864" marR="54864" marT="18288" marB="18288" anchor="ctr">
                    <a:solidFill>
                      <a:srgbClr val="1B3A50"/>
                    </a:solidFill>
                  </a:tcPr>
                </a:tc>
                <a:tc>
                  <a:txBody>
                    <a:bodyPr wrap="square"/>
                    <a:lstStyle/>
                    <a:p>
                      <a:pPr algn="ctr"/>
                      <a:r>
                        <a:rPr sz="1100" b="1">
                          <a:solidFill>
                            <a:srgbClr val="FFFFFF"/>
                          </a:solidFill>
                          <a:latin typeface="Calibri"/>
                        </a:rPr>
                        <a:t>Median</a:t>
                      </a:r>
                    </a:p>
                  </a:txBody>
                  <a:tcPr marL="54864" marR="54864" marT="18288" marB="18288" anchor="ctr">
                    <a:solidFill>
                      <a:srgbClr val="1B3A50"/>
                    </a:solidFill>
                  </a:tcPr>
                </a:tc>
                <a:tc>
                  <a:txBody>
                    <a:bodyPr wrap="square"/>
                    <a:lstStyle/>
                    <a:p>
                      <a:pPr algn="ctr"/>
                      <a:r>
                        <a:rPr sz="1100" b="1">
                          <a:solidFill>
                            <a:srgbClr val="FFFFFF"/>
                          </a:solidFill>
                          <a:latin typeface="Calibri"/>
                        </a:rPr>
                        <a:t>@5px</a:t>
                      </a:r>
                    </a:p>
                  </a:txBody>
                  <a:tcPr marL="54864" marR="54864" marT="18288" marB="18288" anchor="ctr">
                    <a:solidFill>
                      <a:srgbClr val="1B3A50"/>
                    </a:solidFill>
                  </a:tcPr>
                </a:tc>
                <a:tc>
                  <a:txBody>
                    <a:bodyPr wrap="square"/>
                    <a:lstStyle/>
                    <a:p>
                      <a:pPr algn="ctr"/>
                      <a:r>
                        <a:rPr sz="1100" b="1">
                          <a:solidFill>
                            <a:srgbClr val="FFFFFF"/>
                          </a:solidFill>
                          <a:latin typeface="Calibri"/>
                        </a:rPr>
                        <a:t>@2px</a:t>
                      </a:r>
                    </a:p>
                  </a:txBody>
                  <a:tcPr marL="54864" marR="54864" marT="18288" marB="18288" anchor="ctr">
                    <a:solidFill>
                      <a:srgbClr val="1B3A50"/>
                    </a:solidFill>
                  </a:tcPr>
                </a:tc>
                <a:tc>
                  <a:txBody>
                    <a:bodyPr wrap="square"/>
                    <a:lstStyle/>
                    <a:p>
                      <a:pPr algn="ctr"/>
                      <a:r>
                        <a:rPr sz="1100" b="1">
                          <a:solidFill>
                            <a:srgbClr val="FFFFFF"/>
                          </a:solidFill>
                          <a:latin typeface="Calibri"/>
                        </a:rPr>
                        <a:t>@1px</a:t>
                      </a:r>
                    </a:p>
                  </a:txBody>
                  <a:tcPr marL="54864" marR="54864" marT="18288" marB="18288" anchor="ctr">
                    <a:solidFill>
                      <a:srgbClr val="1B3A50"/>
                    </a:solidFill>
                  </a:tcPr>
                </a:tc>
                <a:tc>
                  <a:txBody>
                    <a:bodyPr wrap="square"/>
                    <a:lstStyle/>
                    <a:p>
                      <a:pPr algn="ctr"/>
                      <a:r>
                        <a:rPr sz="1100" b="1">
                          <a:solidFill>
                            <a:srgbClr val="FFFFFF"/>
                          </a:solidFill>
                          <a:latin typeface="Calibri"/>
                        </a:rPr>
                        <a:t>@0.5px</a:t>
                      </a:r>
                    </a:p>
                  </a:txBody>
                  <a:tcPr marL="54864" marR="54864" marT="18288" marB="18288" anchor="ctr">
                    <a:solidFill>
                      <a:srgbClr val="1B3A50"/>
                    </a:solidFill>
                  </a:tcPr>
                </a:tc>
                <a:tc>
                  <a:txBody>
                    <a:bodyPr wrap="square"/>
                    <a:lstStyle/>
                    <a:p>
                      <a:pPr algn="ctr"/>
                      <a:r>
                        <a:rPr sz="1100" b="1">
                          <a:solidFill>
                            <a:srgbClr val="FFFFFF"/>
                          </a:solidFill>
                          <a:latin typeface="Calibri"/>
                        </a:rPr>
                        <a:t>Runtime p50</a:t>
                      </a:r>
                    </a:p>
                  </a:txBody>
                  <a:tcPr marL="54864" marR="54864" marT="18288" marB="18288" anchor="ctr">
                    <a:solidFill>
                      <a:srgbClr val="1B3A50"/>
                    </a:solidFill>
                  </a:tcPr>
                </a:tc>
              </a:tr>
              <a:tr h="274320">
                <a:tc>
                  <a:txBody>
                    <a:bodyPr wrap="square"/>
                    <a:lstStyle/>
                    <a:p>
                      <a:pPr algn="l"/>
                      <a:r>
                        <a:rPr sz="1100" b="0">
                          <a:solidFill>
                            <a:srgbClr val="35424D"/>
                          </a:solidFill>
                          <a:latin typeface="Calibri"/>
                        </a:rPr>
                        <a:t>sponsor</a:t>
                      </a:r>
                    </a:p>
                  </a:txBody>
                  <a:tcPr marL="54864" marR="54864" marT="18288" marB="18288" anchor="ctr">
                    <a:solidFill>
                      <a:srgbClr val="FFFFFF"/>
                    </a:solidFill>
                  </a:tcPr>
                </a:tc>
                <a:tc>
                  <a:txBody>
                    <a:bodyPr wrap="square"/>
                    <a:lstStyle/>
                    <a:p>
                      <a:pPr algn="ctr"/>
                      <a:r>
                        <a:rPr sz="1100" b="0">
                          <a:solidFill>
                            <a:srgbClr val="35424D"/>
                          </a:solidFill>
                          <a:latin typeface="Calibri"/>
                        </a:rPr>
                        <a:t>baseline</a:t>
                      </a:r>
                    </a:p>
                  </a:txBody>
                  <a:tcPr marL="54864" marR="54864" marT="18288" marB="18288" anchor="ctr">
                    <a:solidFill>
                      <a:srgbClr val="FFFFFF"/>
                    </a:solidFill>
                  </a:tcPr>
                </a:tc>
                <a:tc>
                  <a:txBody>
                    <a:bodyPr wrap="square"/>
                    <a:lstStyle/>
                    <a:p>
                      <a:pPr algn="ctr"/>
                      <a:r>
                        <a:rPr sz="1100" b="0">
                          <a:solidFill>
                            <a:srgbClr val="35424D"/>
                          </a:solidFill>
                          <a:latin typeface="Calibri"/>
                        </a:rPr>
                        <a:t>25.0%</a:t>
                      </a:r>
                    </a:p>
                  </a:txBody>
                  <a:tcPr marL="54864" marR="54864" marT="18288" marB="18288" anchor="ctr">
                    <a:solidFill>
                      <a:srgbClr val="FFFFFF"/>
                    </a:solidFill>
                  </a:tcPr>
                </a:tc>
                <a:tc>
                  <a:txBody>
                    <a:bodyPr wrap="square"/>
                    <a:lstStyle/>
                    <a:p>
                      <a:pPr algn="ctr"/>
                      <a:r>
                        <a:rPr sz="1100" b="0">
                          <a:solidFill>
                            <a:srgbClr val="35424D"/>
                          </a:solidFill>
                          <a:latin typeface="Calibri"/>
                        </a:rPr>
                        <a:t>1.102</a:t>
                      </a:r>
                    </a:p>
                  </a:txBody>
                  <a:tcPr marL="54864" marR="54864" marT="18288" marB="18288" anchor="ctr">
                    <a:solidFill>
                      <a:srgbClr val="FFFFFF"/>
                    </a:solidFill>
                  </a:tcPr>
                </a:tc>
                <a:tc>
                  <a:txBody>
                    <a:bodyPr wrap="square"/>
                    <a:lstStyle/>
                    <a:p>
                      <a:pPr algn="ctr"/>
                      <a:r>
                        <a:rPr sz="1100" b="0">
                          <a:solidFill>
                            <a:srgbClr val="35424D"/>
                          </a:solidFill>
                          <a:latin typeface="Calibri"/>
                        </a:rPr>
                        <a:t>75.0%</a:t>
                      </a:r>
                    </a:p>
                  </a:txBody>
                  <a:tcPr marL="54864" marR="54864" marT="18288" marB="18288" anchor="ctr">
                    <a:solidFill>
                      <a:srgbClr val="FFFFFF"/>
                    </a:solidFill>
                  </a:tcPr>
                </a:tc>
                <a:tc>
                  <a:txBody>
                    <a:bodyPr wrap="square"/>
                    <a:lstStyle/>
                    <a:p>
                      <a:pPr algn="ctr"/>
                      <a:r>
                        <a:rPr sz="1100" b="0">
                          <a:solidFill>
                            <a:srgbClr val="35424D"/>
                          </a:solidFill>
                          <a:latin typeface="Calibri"/>
                        </a:rPr>
                        <a:t>75.0%</a:t>
                      </a:r>
                    </a:p>
                  </a:txBody>
                  <a:tcPr marL="54864" marR="54864" marT="18288" marB="18288" anchor="ctr">
                    <a:solidFill>
                      <a:srgbClr val="FFFFFF"/>
                    </a:solidFill>
                  </a:tcPr>
                </a:tc>
                <a:tc>
                  <a:txBody>
                    <a:bodyPr wrap="square"/>
                    <a:lstStyle/>
                    <a:p>
                      <a:pPr algn="ctr"/>
                      <a:r>
                        <a:rPr sz="1100" b="0">
                          <a:solidFill>
                            <a:srgbClr val="35424D"/>
                          </a:solidFill>
                          <a:latin typeface="Calibri"/>
                        </a:rPr>
                        <a:t>40.0%</a:t>
                      </a:r>
                    </a:p>
                  </a:txBody>
                  <a:tcPr marL="54864" marR="54864" marT="18288" marB="18288" anchor="ctr">
                    <a:solidFill>
                      <a:srgbClr val="FFFFFF"/>
                    </a:solidFill>
                  </a:tcPr>
                </a:tc>
                <a:tc>
                  <a:txBody>
                    <a:bodyPr wrap="square"/>
                    <a:lstStyle/>
                    <a:p>
                      <a:pPr algn="ctr"/>
                      <a:r>
                        <a:rPr sz="1100" b="0">
                          <a:solidFill>
                            <a:srgbClr val="35424D"/>
                          </a:solidFill>
                          <a:latin typeface="Calibri"/>
                        </a:rPr>
                        <a:t>17.5%</a:t>
                      </a:r>
                    </a:p>
                  </a:txBody>
                  <a:tcPr marL="54864" marR="54864" marT="18288" marB="18288" anchor="ctr">
                    <a:solidFill>
                      <a:srgbClr val="FFFFFF"/>
                    </a:solidFill>
                  </a:tcPr>
                </a:tc>
                <a:tc>
                  <a:txBody>
                    <a:bodyPr wrap="square"/>
                    <a:lstStyle/>
                    <a:p>
                      <a:pPr algn="ctr"/>
                      <a:r>
                        <a:rPr sz="1100" b="0">
                          <a:solidFill>
                            <a:srgbClr val="35424D"/>
                          </a:solidFill>
                          <a:latin typeface="Calibri"/>
                        </a:rPr>
                        <a:t>64 ms</a:t>
                      </a:r>
                    </a:p>
                  </a:txBody>
                  <a:tcPr marL="54864" marR="54864" marT="18288" marB="18288" anchor="ctr">
                    <a:solidFill>
                      <a:srgbClr val="FFFFFF"/>
                    </a:solidFill>
                  </a:tcPr>
                </a:tc>
              </a:tr>
              <a:tr h="274320">
                <a:tc>
                  <a:txBody>
                    <a:bodyPr wrap="square"/>
                    <a:lstStyle/>
                    <a:p>
                      <a:pPr algn="l"/>
                      <a:r>
                        <a:rPr sz="1100" b="0">
                          <a:solidFill>
                            <a:srgbClr val="35424D"/>
                          </a:solidFill>
                          <a:latin typeface="Calibri"/>
                        </a:rPr>
                        <a:t>sponsor</a:t>
                      </a:r>
                    </a:p>
                  </a:txBody>
                  <a:tcPr marL="54864" marR="54864" marT="18288" marB="18288" anchor="ctr">
                    <a:solidFill>
                      <a:srgbClr val="ECF1F4"/>
                    </a:solidFill>
                  </a:tcPr>
                </a:tc>
                <a:tc>
                  <a:txBody>
                    <a:bodyPr wrap="square"/>
                    <a:lstStyle/>
                    <a:p>
                      <a:pPr algn="ctr"/>
                      <a:r>
                        <a:rPr sz="1100" b="0">
                          <a:solidFill>
                            <a:srgbClr val="35424D"/>
                          </a:solidFill>
                          <a:latin typeface="Calibri"/>
                        </a:rPr>
                        <a:t>DriftLock</a:t>
                      </a:r>
                    </a:p>
                  </a:txBody>
                  <a:tcPr marL="54864" marR="54864" marT="18288" marB="18288" anchor="ctr">
                    <a:solidFill>
                      <a:srgbClr val="ECF1F4"/>
                    </a:solidFill>
                  </a:tcPr>
                </a:tc>
                <a:tc>
                  <a:txBody>
                    <a:bodyPr wrap="square"/>
                    <a:lstStyle/>
                    <a:p>
                      <a:pPr algn="ctr"/>
                      <a:r>
                        <a:rPr sz="1100" b="0">
                          <a:solidFill>
                            <a:srgbClr val="35424D"/>
                          </a:solidFill>
                          <a:latin typeface="Calibri"/>
                        </a:rPr>
                        <a:t>25.0%</a:t>
                      </a:r>
                    </a:p>
                  </a:txBody>
                  <a:tcPr marL="54864" marR="54864" marT="18288" marB="18288" anchor="ctr">
                    <a:solidFill>
                      <a:srgbClr val="ECF1F4"/>
                    </a:solidFill>
                  </a:tcPr>
                </a:tc>
                <a:tc>
                  <a:txBody>
                    <a:bodyPr wrap="square"/>
                    <a:lstStyle/>
                    <a:p>
                      <a:pPr algn="ctr"/>
                      <a:r>
                        <a:rPr sz="1100" b="0">
                          <a:solidFill>
                            <a:srgbClr val="35424D"/>
                          </a:solidFill>
                          <a:latin typeface="Calibri"/>
                        </a:rPr>
                        <a:t>0.297</a:t>
                      </a:r>
                    </a:p>
                  </a:txBody>
                  <a:tcPr marL="54864" marR="54864" marT="18288" marB="18288" anchor="ctr">
                    <a:solidFill>
                      <a:srgbClr val="ECF1F4"/>
                    </a:solidFill>
                  </a:tcPr>
                </a:tc>
                <a:tc>
                  <a:txBody>
                    <a:bodyPr wrap="square"/>
                    <a:lstStyle/>
                    <a:p>
                      <a:pPr algn="ctr"/>
                      <a:r>
                        <a:rPr sz="1100" b="0">
                          <a:solidFill>
                            <a:srgbClr val="35424D"/>
                          </a:solidFill>
                          <a:latin typeface="Calibri"/>
                        </a:rPr>
                        <a:t>75.0%</a:t>
                      </a:r>
                    </a:p>
                  </a:txBody>
                  <a:tcPr marL="54864" marR="54864" marT="18288" marB="18288" anchor="ctr">
                    <a:solidFill>
                      <a:srgbClr val="ECF1F4"/>
                    </a:solidFill>
                  </a:tcPr>
                </a:tc>
                <a:tc>
                  <a:txBody>
                    <a:bodyPr wrap="square"/>
                    <a:lstStyle/>
                    <a:p>
                      <a:pPr algn="ctr"/>
                      <a:r>
                        <a:rPr sz="1100" b="0">
                          <a:solidFill>
                            <a:srgbClr val="35424D"/>
                          </a:solidFill>
                          <a:latin typeface="Calibri"/>
                        </a:rPr>
                        <a:t>75.0%</a:t>
                      </a:r>
                    </a:p>
                  </a:txBody>
                  <a:tcPr marL="54864" marR="54864" marT="18288" marB="18288" anchor="ctr">
                    <a:solidFill>
                      <a:srgbClr val="ECF1F4"/>
                    </a:solidFill>
                  </a:tcPr>
                </a:tc>
                <a:tc>
                  <a:txBody>
                    <a:bodyPr wrap="square"/>
                    <a:lstStyle/>
                    <a:p>
                      <a:pPr algn="ctr"/>
                      <a:r>
                        <a:rPr sz="1100" b="0">
                          <a:solidFill>
                            <a:srgbClr val="35424D"/>
                          </a:solidFill>
                          <a:latin typeface="Calibri"/>
                        </a:rPr>
                        <a:t>72.5%</a:t>
                      </a:r>
                    </a:p>
                  </a:txBody>
                  <a:tcPr marL="54864" marR="54864" marT="18288" marB="18288" anchor="ctr">
                    <a:solidFill>
                      <a:srgbClr val="ECF1F4"/>
                    </a:solidFill>
                  </a:tcPr>
                </a:tc>
                <a:tc>
                  <a:txBody>
                    <a:bodyPr wrap="square"/>
                    <a:lstStyle/>
                    <a:p>
                      <a:pPr algn="ctr"/>
                      <a:r>
                        <a:rPr sz="1100" b="0">
                          <a:solidFill>
                            <a:srgbClr val="35424D"/>
                          </a:solidFill>
                          <a:latin typeface="Calibri"/>
                        </a:rPr>
                        <a:t>67.5%</a:t>
                      </a:r>
                    </a:p>
                  </a:txBody>
                  <a:tcPr marL="54864" marR="54864" marT="18288" marB="18288" anchor="ctr">
                    <a:solidFill>
                      <a:srgbClr val="ECF1F4"/>
                    </a:solidFill>
                  </a:tcPr>
                </a:tc>
                <a:tc>
                  <a:txBody>
                    <a:bodyPr wrap="square"/>
                    <a:lstStyle/>
                    <a:p>
                      <a:pPr algn="ctr"/>
                      <a:r>
                        <a:rPr sz="1100" b="0">
                          <a:solidFill>
                            <a:srgbClr val="35424D"/>
                          </a:solidFill>
                          <a:latin typeface="Calibri"/>
                        </a:rPr>
                        <a:t>1228 ms</a:t>
                      </a:r>
                    </a:p>
                  </a:txBody>
                  <a:tcPr marL="54864" marR="54864" marT="18288" marB="18288" anchor="ctr">
                    <a:solidFill>
                      <a:srgbClr val="ECF1F4"/>
                    </a:solidFill>
                  </a:tcPr>
                </a:tc>
              </a:tr>
              <a:tr h="274320">
                <a:tc>
                  <a:txBody>
                    <a:bodyPr wrap="square"/>
                    <a:lstStyle/>
                    <a:p>
                      <a:pPr algn="l"/>
                      <a:r>
                        <a:rPr sz="1100" b="0">
                          <a:solidFill>
                            <a:srgbClr val="35424D"/>
                          </a:solidFill>
                          <a:latin typeface="Calibri"/>
                        </a:rPr>
                        <a:t>bench</a:t>
                      </a:r>
                    </a:p>
                  </a:txBody>
                  <a:tcPr marL="54864" marR="54864" marT="18288" marB="18288" anchor="ctr">
                    <a:solidFill>
                      <a:srgbClr val="FFFFFF"/>
                    </a:solidFill>
                  </a:tcPr>
                </a:tc>
                <a:tc>
                  <a:txBody>
                    <a:bodyPr wrap="square"/>
                    <a:lstStyle/>
                    <a:p>
                      <a:pPr algn="ctr"/>
                      <a:r>
                        <a:rPr sz="1100" b="0">
                          <a:solidFill>
                            <a:srgbClr val="35424D"/>
                          </a:solidFill>
                          <a:latin typeface="Calibri"/>
                        </a:rPr>
                        <a:t>baseline</a:t>
                      </a:r>
                    </a:p>
                  </a:txBody>
                  <a:tcPr marL="54864" marR="54864" marT="18288" marB="18288" anchor="ctr">
                    <a:solidFill>
                      <a:srgbClr val="FFFFFF"/>
                    </a:solidFill>
                  </a:tcPr>
                </a:tc>
                <a:tc>
                  <a:txBody>
                    <a:bodyPr wrap="square"/>
                    <a:lstStyle/>
                    <a:p>
                      <a:pPr algn="ctr"/>
                      <a:r>
                        <a:rPr sz="1100" b="0">
                          <a:solidFill>
                            <a:srgbClr val="35424D"/>
                          </a:solidFill>
                          <a:latin typeface="Calibri"/>
                        </a:rPr>
                        <a:t>76.7%</a:t>
                      </a:r>
                    </a:p>
                  </a:txBody>
                  <a:tcPr marL="54864" marR="54864" marT="18288" marB="18288" anchor="ctr">
                    <a:solidFill>
                      <a:srgbClr val="FFFFFF"/>
                    </a:solidFill>
                  </a:tcPr>
                </a:tc>
                <a:tc>
                  <a:txBody>
                    <a:bodyPr wrap="square"/>
                    <a:lstStyle/>
                    <a:p>
                      <a:pPr algn="ctr"/>
                      <a:r>
                        <a:rPr sz="1100" b="0">
                          <a:solidFill>
                            <a:srgbClr val="35424D"/>
                          </a:solidFill>
                          <a:latin typeface="Calibri"/>
                        </a:rPr>
                        <a:t>326.905</a:t>
                      </a:r>
                    </a:p>
                  </a:txBody>
                  <a:tcPr marL="54864" marR="54864" marT="18288" marB="18288" anchor="ctr">
                    <a:solidFill>
                      <a:srgbClr val="FFFFFF"/>
                    </a:solidFill>
                  </a:tcPr>
                </a:tc>
                <a:tc>
                  <a:txBody>
                    <a:bodyPr wrap="square"/>
                    <a:lstStyle/>
                    <a:p>
                      <a:pPr algn="ctr"/>
                      <a:r>
                        <a:rPr sz="1100" b="0">
                          <a:solidFill>
                            <a:srgbClr val="35424D"/>
                          </a:solidFill>
                          <a:latin typeface="Calibri"/>
                        </a:rPr>
                        <a:t>23.3%</a:t>
                      </a:r>
                    </a:p>
                  </a:txBody>
                  <a:tcPr marL="54864" marR="54864" marT="18288" marB="18288" anchor="ctr">
                    <a:solidFill>
                      <a:srgbClr val="FFFFFF"/>
                    </a:solidFill>
                  </a:tcPr>
                </a:tc>
                <a:tc>
                  <a:txBody>
                    <a:bodyPr wrap="square"/>
                    <a:lstStyle/>
                    <a:p>
                      <a:pPr algn="ctr"/>
                      <a:r>
                        <a:rPr sz="1100" b="0">
                          <a:solidFill>
                            <a:srgbClr val="35424D"/>
                          </a:solidFill>
                          <a:latin typeface="Calibri"/>
                        </a:rPr>
                        <a:t>23.3%</a:t>
                      </a:r>
                    </a:p>
                  </a:txBody>
                  <a:tcPr marL="54864" marR="54864" marT="18288" marB="18288" anchor="ctr">
                    <a:solidFill>
                      <a:srgbClr val="FFFFFF"/>
                    </a:solidFill>
                  </a:tcPr>
                </a:tc>
                <a:tc>
                  <a:txBody>
                    <a:bodyPr wrap="square"/>
                    <a:lstStyle/>
                    <a:p>
                      <a:pPr algn="ctr"/>
                      <a:r>
                        <a:rPr sz="1100" b="0">
                          <a:solidFill>
                            <a:srgbClr val="35424D"/>
                          </a:solidFill>
                          <a:latin typeface="Calibri"/>
                        </a:rPr>
                        <a:t>10.0%</a:t>
                      </a:r>
                    </a:p>
                  </a:txBody>
                  <a:tcPr marL="54864" marR="54864" marT="18288" marB="18288" anchor="ctr">
                    <a:solidFill>
                      <a:srgbClr val="FFFFFF"/>
                    </a:solidFill>
                  </a:tcPr>
                </a:tc>
                <a:tc>
                  <a:txBody>
                    <a:bodyPr wrap="square"/>
                    <a:lstStyle/>
                    <a:p>
                      <a:pPr algn="ctr"/>
                      <a:r>
                        <a:rPr sz="1100" b="0">
                          <a:solidFill>
                            <a:srgbClr val="35424D"/>
                          </a:solidFill>
                          <a:latin typeface="Calibri"/>
                        </a:rPr>
                        <a:t>3.3%</a:t>
                      </a:r>
                    </a:p>
                  </a:txBody>
                  <a:tcPr marL="54864" marR="54864" marT="18288" marB="18288" anchor="ctr">
                    <a:solidFill>
                      <a:srgbClr val="FFFFFF"/>
                    </a:solidFill>
                  </a:tcPr>
                </a:tc>
                <a:tc>
                  <a:txBody>
                    <a:bodyPr wrap="square"/>
                    <a:lstStyle/>
                    <a:p>
                      <a:pPr algn="ctr"/>
                      <a:r>
                        <a:rPr sz="1100" b="0">
                          <a:solidFill>
                            <a:srgbClr val="35424D"/>
                          </a:solidFill>
                          <a:latin typeface="Calibri"/>
                        </a:rPr>
                        <a:t>32 ms</a:t>
                      </a:r>
                    </a:p>
                  </a:txBody>
                  <a:tcPr marL="54864" marR="54864" marT="18288" marB="18288" anchor="ctr">
                    <a:solidFill>
                      <a:srgbClr val="FFFFFF"/>
                    </a:solidFill>
                  </a:tcPr>
                </a:tc>
              </a:tr>
              <a:tr h="274320">
                <a:tc>
                  <a:txBody>
                    <a:bodyPr wrap="square"/>
                    <a:lstStyle/>
                    <a:p>
                      <a:pPr algn="l"/>
                      <a:r>
                        <a:rPr sz="1100" b="0">
                          <a:solidFill>
                            <a:srgbClr val="35424D"/>
                          </a:solidFill>
                          <a:latin typeface="Calibri"/>
                        </a:rPr>
                        <a:t>bench</a:t>
                      </a:r>
                    </a:p>
                  </a:txBody>
                  <a:tcPr marL="54864" marR="54864" marT="18288" marB="18288" anchor="ctr">
                    <a:solidFill>
                      <a:srgbClr val="ECF1F4"/>
                    </a:solidFill>
                  </a:tcPr>
                </a:tc>
                <a:tc>
                  <a:txBody>
                    <a:bodyPr wrap="square"/>
                    <a:lstStyle/>
                    <a:p>
                      <a:pPr algn="ctr"/>
                      <a:r>
                        <a:rPr sz="1100" b="0">
                          <a:solidFill>
                            <a:srgbClr val="35424D"/>
                          </a:solidFill>
                          <a:latin typeface="Calibri"/>
                        </a:rPr>
                        <a:t>DriftLock</a:t>
                      </a:r>
                    </a:p>
                  </a:txBody>
                  <a:tcPr marL="54864" marR="54864" marT="18288" marB="18288" anchor="ctr">
                    <a:solidFill>
                      <a:srgbClr val="ECF1F4"/>
                    </a:solidFill>
                  </a:tcPr>
                </a:tc>
                <a:tc>
                  <a:txBody>
                    <a:bodyPr wrap="square"/>
                    <a:lstStyle/>
                    <a:p>
                      <a:pPr algn="ctr"/>
                      <a:r>
                        <a:rPr sz="1100" b="0">
                          <a:solidFill>
                            <a:srgbClr val="35424D"/>
                          </a:solidFill>
                          <a:latin typeface="Calibri"/>
                        </a:rPr>
                        <a:t>23.3%</a:t>
                      </a:r>
                    </a:p>
                  </a:txBody>
                  <a:tcPr marL="54864" marR="54864" marT="18288" marB="18288" anchor="ctr">
                    <a:solidFill>
                      <a:srgbClr val="ECF1F4"/>
                    </a:solidFill>
                  </a:tcPr>
                </a:tc>
                <a:tc>
                  <a:txBody>
                    <a:bodyPr wrap="square"/>
                    <a:lstStyle/>
                    <a:p>
                      <a:pPr algn="ctr"/>
                      <a:r>
                        <a:rPr sz="1100" b="0">
                          <a:solidFill>
                            <a:srgbClr val="35424D"/>
                          </a:solidFill>
                          <a:latin typeface="Calibri"/>
                        </a:rPr>
                        <a:t>0.343</a:t>
                      </a:r>
                    </a:p>
                  </a:txBody>
                  <a:tcPr marL="54864" marR="54864" marT="18288" marB="18288" anchor="ctr">
                    <a:solidFill>
                      <a:srgbClr val="ECF1F4"/>
                    </a:solidFill>
                  </a:tcPr>
                </a:tc>
                <a:tc>
                  <a:txBody>
                    <a:bodyPr wrap="square"/>
                    <a:lstStyle/>
                    <a:p>
                      <a:pPr algn="ctr"/>
                      <a:r>
                        <a:rPr sz="1100" b="0">
                          <a:solidFill>
                            <a:srgbClr val="35424D"/>
                          </a:solidFill>
                          <a:latin typeface="Calibri"/>
                        </a:rPr>
                        <a:t>76.7%</a:t>
                      </a:r>
                    </a:p>
                  </a:txBody>
                  <a:tcPr marL="54864" marR="54864" marT="18288" marB="18288" anchor="ctr">
                    <a:solidFill>
                      <a:srgbClr val="ECF1F4"/>
                    </a:solidFill>
                  </a:tcPr>
                </a:tc>
                <a:tc>
                  <a:txBody>
                    <a:bodyPr wrap="square"/>
                    <a:lstStyle/>
                    <a:p>
                      <a:pPr algn="ctr"/>
                      <a:r>
                        <a:rPr sz="1100" b="0">
                          <a:solidFill>
                            <a:srgbClr val="35424D"/>
                          </a:solidFill>
                          <a:latin typeface="Calibri"/>
                        </a:rPr>
                        <a:t>73.3%</a:t>
                      </a:r>
                    </a:p>
                  </a:txBody>
                  <a:tcPr marL="54864" marR="54864" marT="18288" marB="18288" anchor="ctr">
                    <a:solidFill>
                      <a:srgbClr val="ECF1F4"/>
                    </a:solidFill>
                  </a:tcPr>
                </a:tc>
                <a:tc>
                  <a:txBody>
                    <a:bodyPr wrap="square"/>
                    <a:lstStyle/>
                    <a:p>
                      <a:pPr algn="ctr"/>
                      <a:r>
                        <a:rPr sz="1100" b="0">
                          <a:solidFill>
                            <a:srgbClr val="35424D"/>
                          </a:solidFill>
                          <a:latin typeface="Calibri"/>
                        </a:rPr>
                        <a:t>73.3%</a:t>
                      </a:r>
                    </a:p>
                  </a:txBody>
                  <a:tcPr marL="54864" marR="54864" marT="18288" marB="18288" anchor="ctr">
                    <a:solidFill>
                      <a:srgbClr val="ECF1F4"/>
                    </a:solidFill>
                  </a:tcPr>
                </a:tc>
                <a:tc>
                  <a:txBody>
                    <a:bodyPr wrap="square"/>
                    <a:lstStyle/>
                    <a:p>
                      <a:pPr algn="ctr"/>
                      <a:r>
                        <a:rPr sz="1100" b="0">
                          <a:solidFill>
                            <a:srgbClr val="35424D"/>
                          </a:solidFill>
                          <a:latin typeface="Calibri"/>
                        </a:rPr>
                        <a:t>63.3%</a:t>
                      </a:r>
                    </a:p>
                  </a:txBody>
                  <a:tcPr marL="54864" marR="54864" marT="18288" marB="18288" anchor="ctr">
                    <a:solidFill>
                      <a:srgbClr val="ECF1F4"/>
                    </a:solidFill>
                  </a:tcPr>
                </a:tc>
                <a:tc>
                  <a:txBody>
                    <a:bodyPr wrap="square"/>
                    <a:lstStyle/>
                    <a:p>
                      <a:pPr algn="ctr"/>
                      <a:r>
                        <a:rPr sz="1100" b="0">
                          <a:solidFill>
                            <a:srgbClr val="35424D"/>
                          </a:solidFill>
                          <a:latin typeface="Calibri"/>
                        </a:rPr>
                        <a:t>1190 ms</a:t>
                      </a:r>
                    </a:p>
                  </a:txBody>
                  <a:tcPr marL="54864" marR="54864" marT="18288" marB="18288" anchor="ctr">
                    <a:solidFill>
                      <a:srgbClr val="ECF1F4"/>
                    </a:solidFill>
                  </a:tcPr>
                </a:tc>
              </a:tr>
              <a:tr h="274320">
                <a:tc>
                  <a:txBody>
                    <a:bodyPr wrap="square"/>
                    <a:lstStyle/>
                    <a:p>
                      <a:pPr algn="l"/>
                      <a:r>
                        <a:rPr sz="1100" b="0">
                          <a:solidFill>
                            <a:srgbClr val="35424D"/>
                          </a:solidFill>
                          <a:latin typeface="Calibri"/>
                        </a:rPr>
                        <a:t>FinFET</a:t>
                      </a:r>
                    </a:p>
                  </a:txBody>
                  <a:tcPr marL="54864" marR="54864" marT="18288" marB="18288" anchor="ctr">
                    <a:solidFill>
                      <a:srgbClr val="FFFFFF"/>
                    </a:solidFill>
                  </a:tcPr>
                </a:tc>
                <a:tc>
                  <a:txBody>
                    <a:bodyPr wrap="square"/>
                    <a:lstStyle/>
                    <a:p>
                      <a:pPr algn="ctr"/>
                      <a:r>
                        <a:rPr sz="1100" b="0">
                          <a:solidFill>
                            <a:srgbClr val="35424D"/>
                          </a:solidFill>
                          <a:latin typeface="Calibri"/>
                        </a:rPr>
                        <a:t>baseline</a:t>
                      </a:r>
                    </a:p>
                  </a:txBody>
                  <a:tcPr marL="54864" marR="54864" marT="18288" marB="18288" anchor="ctr">
                    <a:solidFill>
                      <a:srgbClr val="FFFFFF"/>
                    </a:solidFill>
                  </a:tcPr>
                </a:tc>
                <a:tc>
                  <a:txBody>
                    <a:bodyPr wrap="square"/>
                    <a:lstStyle/>
                    <a:p>
                      <a:pPr algn="ctr"/>
                      <a:r>
                        <a:rPr sz="1100" b="0">
                          <a:solidFill>
                            <a:srgbClr val="35424D"/>
                          </a:solidFill>
                          <a:latin typeface="Calibri"/>
                        </a:rPr>
                        <a:t>90.0%</a:t>
                      </a:r>
                    </a:p>
                  </a:txBody>
                  <a:tcPr marL="54864" marR="54864" marT="18288" marB="18288" anchor="ctr">
                    <a:solidFill>
                      <a:srgbClr val="FFFFFF"/>
                    </a:solidFill>
                  </a:tcPr>
                </a:tc>
                <a:tc>
                  <a:txBody>
                    <a:bodyPr wrap="square"/>
                    <a:lstStyle/>
                    <a:p>
                      <a:pPr algn="ctr"/>
                      <a:r>
                        <a:rPr sz="1100" b="0">
                          <a:solidFill>
                            <a:srgbClr val="35424D"/>
                          </a:solidFill>
                          <a:latin typeface="Calibri"/>
                        </a:rPr>
                        <a:t>359.893</a:t>
                      </a:r>
                    </a:p>
                  </a:txBody>
                  <a:tcPr marL="54864" marR="54864" marT="18288" marB="18288" anchor="ctr">
                    <a:solidFill>
                      <a:srgbClr val="FFFFFF"/>
                    </a:solidFill>
                  </a:tcPr>
                </a:tc>
                <a:tc>
                  <a:txBody>
                    <a:bodyPr wrap="square"/>
                    <a:lstStyle/>
                    <a:p>
                      <a:pPr algn="ctr"/>
                      <a:r>
                        <a:rPr sz="1100" b="0">
                          <a:solidFill>
                            <a:srgbClr val="35424D"/>
                          </a:solidFill>
                          <a:latin typeface="Calibri"/>
                        </a:rPr>
                        <a:t>10.0%</a:t>
                      </a:r>
                    </a:p>
                  </a:txBody>
                  <a:tcPr marL="54864" marR="54864" marT="18288" marB="18288" anchor="ctr">
                    <a:solidFill>
                      <a:srgbClr val="FFFFFF"/>
                    </a:solidFill>
                  </a:tcPr>
                </a:tc>
                <a:tc>
                  <a:txBody>
                    <a:bodyPr wrap="square"/>
                    <a:lstStyle/>
                    <a:p>
                      <a:pPr algn="ctr"/>
                      <a:r>
                        <a:rPr sz="1100" b="0">
                          <a:solidFill>
                            <a:srgbClr val="35424D"/>
                          </a:solidFill>
                          <a:latin typeface="Calibri"/>
                        </a:rPr>
                        <a:t>6.7%</a:t>
                      </a:r>
                    </a:p>
                  </a:txBody>
                  <a:tcPr marL="54864" marR="54864" marT="18288" marB="18288" anchor="ctr">
                    <a:solidFill>
                      <a:srgbClr val="FFFFFF"/>
                    </a:solidFill>
                  </a:tcPr>
                </a:tc>
                <a:tc>
                  <a:txBody>
                    <a:bodyPr wrap="square"/>
                    <a:lstStyle/>
                    <a:p>
                      <a:pPr algn="ctr"/>
                      <a:r>
                        <a:rPr sz="1100" b="0">
                          <a:solidFill>
                            <a:srgbClr val="35424D"/>
                          </a:solidFill>
                          <a:latin typeface="Calibri"/>
                        </a:rPr>
                        <a:t>3.3%</a:t>
                      </a:r>
                    </a:p>
                  </a:txBody>
                  <a:tcPr marL="54864" marR="54864" marT="18288" marB="18288" anchor="ctr">
                    <a:solidFill>
                      <a:srgbClr val="FFFFFF"/>
                    </a:solidFill>
                  </a:tcPr>
                </a:tc>
                <a:tc>
                  <a:txBody>
                    <a:bodyPr wrap="square"/>
                    <a:lstStyle/>
                    <a:p>
                      <a:pPr algn="ctr"/>
                      <a:r>
                        <a:rPr sz="1100" b="0">
                          <a:solidFill>
                            <a:srgbClr val="35424D"/>
                          </a:solidFill>
                          <a:latin typeface="Calibri"/>
                        </a:rPr>
                        <a:t>3.3%</a:t>
                      </a:r>
                    </a:p>
                  </a:txBody>
                  <a:tcPr marL="54864" marR="54864" marT="18288" marB="18288" anchor="ctr">
                    <a:solidFill>
                      <a:srgbClr val="FFFFFF"/>
                    </a:solidFill>
                  </a:tcPr>
                </a:tc>
                <a:tc>
                  <a:txBody>
                    <a:bodyPr wrap="square"/>
                    <a:lstStyle/>
                    <a:p>
                      <a:pPr algn="ctr"/>
                      <a:r>
                        <a:rPr sz="1100" b="0">
                          <a:solidFill>
                            <a:srgbClr val="35424D"/>
                          </a:solidFill>
                          <a:latin typeface="Calibri"/>
                        </a:rPr>
                        <a:t>32 ms</a:t>
                      </a:r>
                    </a:p>
                  </a:txBody>
                  <a:tcPr marL="54864" marR="54864" marT="18288" marB="18288" anchor="ctr">
                    <a:solidFill>
                      <a:srgbClr val="FFFFFF"/>
                    </a:solidFill>
                  </a:tcPr>
                </a:tc>
              </a:tr>
              <a:tr h="274320">
                <a:tc>
                  <a:txBody>
                    <a:bodyPr wrap="square"/>
                    <a:lstStyle/>
                    <a:p>
                      <a:pPr algn="l"/>
                      <a:r>
                        <a:rPr sz="1100" b="0">
                          <a:solidFill>
                            <a:srgbClr val="35424D"/>
                          </a:solidFill>
                          <a:latin typeface="Calibri"/>
                        </a:rPr>
                        <a:t>FinFET</a:t>
                      </a:r>
                    </a:p>
                  </a:txBody>
                  <a:tcPr marL="54864" marR="54864" marT="18288" marB="18288" anchor="ctr">
                    <a:solidFill>
                      <a:srgbClr val="ECF1F4"/>
                    </a:solidFill>
                  </a:tcPr>
                </a:tc>
                <a:tc>
                  <a:txBody>
                    <a:bodyPr wrap="square"/>
                    <a:lstStyle/>
                    <a:p>
                      <a:pPr algn="ctr"/>
                      <a:r>
                        <a:rPr sz="1100" b="0">
                          <a:solidFill>
                            <a:srgbClr val="35424D"/>
                          </a:solidFill>
                          <a:latin typeface="Calibri"/>
                        </a:rPr>
                        <a:t>DriftLock</a:t>
                      </a:r>
                    </a:p>
                  </a:txBody>
                  <a:tcPr marL="54864" marR="54864" marT="18288" marB="18288" anchor="ctr">
                    <a:solidFill>
                      <a:srgbClr val="ECF1F4"/>
                    </a:solidFill>
                  </a:tcPr>
                </a:tc>
                <a:tc>
                  <a:txBody>
                    <a:bodyPr wrap="square"/>
                    <a:lstStyle/>
                    <a:p>
                      <a:pPr algn="ctr"/>
                      <a:r>
                        <a:rPr sz="1100" b="0">
                          <a:solidFill>
                            <a:srgbClr val="35424D"/>
                          </a:solidFill>
                          <a:latin typeface="Calibri"/>
                        </a:rPr>
                        <a:t>16.7%</a:t>
                      </a:r>
                    </a:p>
                  </a:txBody>
                  <a:tcPr marL="54864" marR="54864" marT="18288" marB="18288" anchor="ctr">
                    <a:solidFill>
                      <a:srgbClr val="ECF1F4"/>
                    </a:solidFill>
                  </a:tcPr>
                </a:tc>
                <a:tc>
                  <a:txBody>
                    <a:bodyPr wrap="square"/>
                    <a:lstStyle/>
                    <a:p>
                      <a:pPr algn="ctr"/>
                      <a:r>
                        <a:rPr sz="1100" b="0">
                          <a:solidFill>
                            <a:srgbClr val="35424D"/>
                          </a:solidFill>
                          <a:latin typeface="Calibri"/>
                        </a:rPr>
                        <a:t>0.313</a:t>
                      </a:r>
                    </a:p>
                  </a:txBody>
                  <a:tcPr marL="54864" marR="54864" marT="18288" marB="18288" anchor="ctr">
                    <a:solidFill>
                      <a:srgbClr val="ECF1F4"/>
                    </a:solidFill>
                  </a:tcPr>
                </a:tc>
                <a:tc>
                  <a:txBody>
                    <a:bodyPr wrap="square"/>
                    <a:lstStyle/>
                    <a:p>
                      <a:pPr algn="ctr"/>
                      <a:r>
                        <a:rPr sz="1100" b="0">
                          <a:solidFill>
                            <a:srgbClr val="35424D"/>
                          </a:solidFill>
                          <a:latin typeface="Calibri"/>
                        </a:rPr>
                        <a:t>83.3%</a:t>
                      </a:r>
                    </a:p>
                  </a:txBody>
                  <a:tcPr marL="54864" marR="54864" marT="18288" marB="18288" anchor="ctr">
                    <a:solidFill>
                      <a:srgbClr val="ECF1F4"/>
                    </a:solidFill>
                  </a:tcPr>
                </a:tc>
                <a:tc>
                  <a:txBody>
                    <a:bodyPr wrap="square"/>
                    <a:lstStyle/>
                    <a:p>
                      <a:pPr algn="ctr"/>
                      <a:r>
                        <a:rPr sz="1100" b="0">
                          <a:solidFill>
                            <a:srgbClr val="35424D"/>
                          </a:solidFill>
                          <a:latin typeface="Calibri"/>
                        </a:rPr>
                        <a:t>83.3%</a:t>
                      </a:r>
                    </a:p>
                  </a:txBody>
                  <a:tcPr marL="54864" marR="54864" marT="18288" marB="18288" anchor="ctr">
                    <a:solidFill>
                      <a:srgbClr val="ECF1F4"/>
                    </a:solidFill>
                  </a:tcPr>
                </a:tc>
                <a:tc>
                  <a:txBody>
                    <a:bodyPr wrap="square"/>
                    <a:lstStyle/>
                    <a:p>
                      <a:pPr algn="ctr"/>
                      <a:r>
                        <a:rPr sz="1100" b="0">
                          <a:solidFill>
                            <a:srgbClr val="35424D"/>
                          </a:solidFill>
                          <a:latin typeface="Calibri"/>
                        </a:rPr>
                        <a:t>80.0%</a:t>
                      </a:r>
                    </a:p>
                  </a:txBody>
                  <a:tcPr marL="54864" marR="54864" marT="18288" marB="18288" anchor="ctr">
                    <a:solidFill>
                      <a:srgbClr val="ECF1F4"/>
                    </a:solidFill>
                  </a:tcPr>
                </a:tc>
                <a:tc>
                  <a:txBody>
                    <a:bodyPr wrap="square"/>
                    <a:lstStyle/>
                    <a:p>
                      <a:pPr algn="ctr"/>
                      <a:r>
                        <a:rPr sz="1100" b="0">
                          <a:solidFill>
                            <a:srgbClr val="35424D"/>
                          </a:solidFill>
                          <a:latin typeface="Calibri"/>
                        </a:rPr>
                        <a:t>63.3%</a:t>
                      </a:r>
                    </a:p>
                  </a:txBody>
                  <a:tcPr marL="54864" marR="54864" marT="18288" marB="18288" anchor="ctr">
                    <a:solidFill>
                      <a:srgbClr val="ECF1F4"/>
                    </a:solidFill>
                  </a:tcPr>
                </a:tc>
                <a:tc>
                  <a:txBody>
                    <a:bodyPr wrap="square"/>
                    <a:lstStyle/>
                    <a:p>
                      <a:pPr algn="ctr"/>
                      <a:r>
                        <a:rPr sz="1100" b="0">
                          <a:solidFill>
                            <a:srgbClr val="35424D"/>
                          </a:solidFill>
                          <a:latin typeface="Calibri"/>
                        </a:rPr>
                        <a:t>354 ms</a:t>
                      </a:r>
                    </a:p>
                  </a:txBody>
                  <a:tcPr marL="54864" marR="54864" marT="18288" marB="18288" anchor="ctr">
                    <a:solidFill>
                      <a:srgbClr val="ECF1F4"/>
                    </a:solidFill>
                  </a:tcPr>
                </a:tc>
              </a:tr>
            </a:tbl>
          </a:graphicData>
        </a:graphic>
      </p:graphicFrame>
      <p:sp>
        <p:nvSpPr>
          <p:cNvPr id="5" name="TextBox 4"/>
          <p:cNvSpPr txBox="1"/>
          <p:nvPr/>
        </p:nvSpPr>
        <p:spPr>
          <a:xfrm>
            <a:off x="548640" y="3611880"/>
            <a:ext cx="5394960" cy="292608"/>
          </a:xfrm>
          <a:prstGeom prst="rect">
            <a:avLst/>
          </a:prstGeom>
          <a:noFill/>
        </p:spPr>
        <p:txBody>
          <a:bodyPr wrap="square" lIns="0" rIns="0" tIns="0" bIns="0" anchor="t">
            <a:spAutoFit/>
          </a:bodyPr>
          <a:lstStyle/>
          <a:p>
            <a:pPr algn="l"/>
            <a:r>
              <a:rPr sz="1550" b="1" i="0">
                <a:solidFill>
                  <a:srgbClr val="0F2233"/>
                </a:solidFill>
                <a:latin typeface="Cambria"/>
              </a:rPr>
              <a:t>Reading the table</a:t>
            </a:r>
          </a:p>
        </p:txBody>
      </p:sp>
      <p:sp>
        <p:nvSpPr>
          <p:cNvPr id="6" name="TextBox 5"/>
          <p:cNvSpPr txBox="1"/>
          <p:nvPr/>
        </p:nvSpPr>
        <p:spPr>
          <a:xfrm>
            <a:off x="548640" y="3977640"/>
            <a:ext cx="5394960" cy="1737360"/>
          </a:xfrm>
          <a:prstGeom prst="rect">
            <a:avLst/>
          </a:prstGeom>
          <a:noFill/>
        </p:spPr>
        <p:txBody>
          <a:bodyPr wrap="square" lIns="0" rIns="0" tIns="0" bIns="0" anchor="t">
            <a:spAutoFit/>
          </a:bodyPr>
          <a:lstStyle/>
          <a:p>
            <a:pPr algn="l"/>
            <a:r>
              <a:rPr sz="1150" b="0" i="0">
                <a:solidFill>
                  <a:srgbClr val="5A6B78"/>
                </a:solidFill>
                <a:latin typeface="Calibri"/>
              </a:rPr>
              <a:t>On the sponsor's fixed 10:1 data the task is precision: median error improves from 1.102 px to 0.297 px and the sub-pixel pass rate rises from 17.5% to 67.5%.
On our own data — the 9:1–11:1 and ±2° envelope the problem statement says will be tested — the baseline does not work at all (76.7% mis-lock against 23.3%). That axis is invisible to anyone validating only on the published generator, because it produces neither rotation nor scale variation.</a:t>
            </a:r>
          </a:p>
        </p:txBody>
      </p:sp>
      <p:graphicFrame>
        <p:nvGraphicFramePr>
          <p:cNvPr id="7" name="Chart 6"/>
          <p:cNvGraphicFramePr>
            <a:graphicFrameLocks noGrp="1"/>
          </p:cNvGraphicFramePr>
          <p:nvPr/>
        </p:nvGraphicFramePr>
        <p:xfrm>
          <a:off x="6217920" y="3520440"/>
          <a:ext cx="5394960" cy="2286000"/>
        </p:xfrm>
        <a:graphic>
          <a:graphicData uri="http://schemas.openxmlformats.org/drawingml/2006/chart">
            <c:chart xmlns:c="http://schemas.openxmlformats.org/drawingml/2006/chart" r:id="rId2"/>
          </a:graphicData>
        </a:graphic>
      </p:graphicFrame>
      <p:sp>
        <p:nvSpPr>
          <p:cNvPr id="8" name="TextBox 7"/>
          <p:cNvSpPr txBox="1"/>
          <p:nvPr/>
        </p:nvSpPr>
        <p:spPr>
          <a:xfrm>
            <a:off x="548640" y="6355080"/>
            <a:ext cx="11064240" cy="274320"/>
          </a:xfrm>
          <a:prstGeom prst="rect">
            <a:avLst/>
          </a:prstGeom>
          <a:noFill/>
        </p:spPr>
        <p:txBody>
          <a:bodyPr wrap="square" lIns="0" rIns="0" tIns="0" bIns="0" anchor="t">
            <a:spAutoFit/>
          </a:bodyPr>
          <a:lstStyle/>
          <a:p>
            <a:pPr algn="l"/>
            <a:r>
              <a:rPr sz="900" b="0" i="1">
                <a:solidFill>
                  <a:srgbClr val="5A6B78"/>
                </a:solidFill>
                <a:latin typeface="Calibri"/>
              </a:rPr>
              <a:t>Windows 11 (AMD64) · Intel64 Family 6 Model 170 Stepping 4, Genui · Python 3.14.3 · OpenCV 5.0.0 · time.perf_counter() around load+localize, per pair, OpenCV using 22 thread(s), no warm-up discarded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Ablation and robustness — including everything that failed</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A method we tried and dropped with its measurement attached is evidence; a silently omitted experiment is cherry-picking</a:t>
            </a:r>
          </a:p>
        </p:txBody>
      </p:sp>
      <p:graphicFrame>
        <p:nvGraphicFramePr>
          <p:cNvPr id="4" name="Table 3"/>
          <p:cNvGraphicFramePr>
            <a:graphicFrameLocks noGrp="1"/>
          </p:cNvGraphicFramePr>
          <p:nvPr/>
        </p:nvGraphicFramePr>
        <p:xfrm>
          <a:off x="548640" y="1572768"/>
          <a:ext cx="6949440" cy="3291840"/>
        </p:xfrm>
        <a:graphic>
          <a:graphicData uri="http://schemas.openxmlformats.org/drawingml/2006/table">
            <a:tbl>
              <a:tblPr firstRow="1" bandRow="1">
                <a:tableStyleId>{5C22544A-7EE6-4342-B048-85BDC9FD1C3A}</a:tableStyleId>
              </a:tblPr>
              <a:tblGrid>
                <a:gridCol w="2743200"/>
                <a:gridCol w="1005840"/>
                <a:gridCol w="1005840"/>
                <a:gridCol w="1005840"/>
                <a:gridCol w="1188720"/>
              </a:tblGrid>
              <a:tr h="274320">
                <a:tc>
                  <a:txBody>
                    <a:bodyPr wrap="square"/>
                    <a:lstStyle/>
                    <a:p>
                      <a:pPr algn="l"/>
                      <a:r>
                        <a:rPr sz="1050" b="1">
                          <a:solidFill>
                            <a:srgbClr val="FFFFFF"/>
                          </a:solidFill>
                          <a:latin typeface="Calibri"/>
                        </a:rPr>
                        <a:t>Stage</a:t>
                      </a:r>
                    </a:p>
                  </a:txBody>
                  <a:tcPr marL="54864" marR="54864" marT="18288" marB="18288" anchor="ctr">
                    <a:solidFill>
                      <a:srgbClr val="1B3A50"/>
                    </a:solidFill>
                  </a:tcPr>
                </a:tc>
                <a:tc>
                  <a:txBody>
                    <a:bodyPr wrap="square"/>
                    <a:lstStyle/>
                    <a:p>
                      <a:pPr algn="ctr"/>
                      <a:r>
                        <a:rPr sz="1050" b="1">
                          <a:solidFill>
                            <a:srgbClr val="FFFFFF"/>
                          </a:solidFill>
                          <a:latin typeface="Calibri"/>
                        </a:rPr>
                        <a:t>sponsor</a:t>
                      </a:r>
                    </a:p>
                  </a:txBody>
                  <a:tcPr marL="54864" marR="54864" marT="18288" marB="18288" anchor="ctr">
                    <a:solidFill>
                      <a:srgbClr val="1B3A50"/>
                    </a:solidFill>
                  </a:tcPr>
                </a:tc>
                <a:tc>
                  <a:txBody>
                    <a:bodyPr wrap="square"/>
                    <a:lstStyle/>
                    <a:p>
                      <a:pPr algn="ctr"/>
                      <a:r>
                        <a:rPr sz="1050" b="1">
                          <a:solidFill>
                            <a:srgbClr val="FFFFFF"/>
                          </a:solidFill>
                          <a:latin typeface="Calibri"/>
                        </a:rPr>
                        <a:t>bench</a:t>
                      </a:r>
                    </a:p>
                  </a:txBody>
                  <a:tcPr marL="54864" marR="54864" marT="18288" marB="18288" anchor="ctr">
                    <a:solidFill>
                      <a:srgbClr val="1B3A50"/>
                    </a:solidFill>
                  </a:tcPr>
                </a:tc>
                <a:tc>
                  <a:txBody>
                    <a:bodyPr wrap="square"/>
                    <a:lstStyle/>
                    <a:p>
                      <a:pPr algn="ctr"/>
                      <a:r>
                        <a:rPr sz="1050" b="1">
                          <a:solidFill>
                            <a:srgbClr val="FFFFFF"/>
                          </a:solidFill>
                          <a:latin typeface="Calibri"/>
                        </a:rPr>
                        <a:t>FinFET</a:t>
                      </a:r>
                    </a:p>
                  </a:txBody>
                  <a:tcPr marL="54864" marR="54864" marT="18288" marB="18288" anchor="ctr">
                    <a:solidFill>
                      <a:srgbClr val="1B3A50"/>
                    </a:solidFill>
                  </a:tcPr>
                </a:tc>
                <a:tc>
                  <a:txBody>
                    <a:bodyPr wrap="square"/>
                    <a:lstStyle/>
                    <a:p>
                      <a:pPr algn="ctr"/>
                      <a:r>
                        <a:rPr sz="1050" b="1">
                          <a:solidFill>
                            <a:srgbClr val="FFFFFF"/>
                          </a:solidFill>
                          <a:latin typeface="Calibri"/>
                        </a:rPr>
                        <a:t>Verdict</a:t>
                      </a:r>
                    </a:p>
                  </a:txBody>
                  <a:tcPr marL="54864" marR="54864" marT="18288" marB="18288" anchor="ctr">
                    <a:solidFill>
                      <a:srgbClr val="1B3A50"/>
                    </a:solidFill>
                  </a:tcPr>
                </a:tc>
              </a:tr>
              <a:tr h="274320">
                <a:tc>
                  <a:txBody>
                    <a:bodyPr wrap="square"/>
                    <a:lstStyle/>
                    <a:p>
                      <a:pPr algn="l"/>
                      <a:r>
                        <a:rPr sz="1050" b="0">
                          <a:solidFill>
                            <a:srgbClr val="35424D"/>
                          </a:solidFill>
                          <a:latin typeface="Calibri"/>
                        </a:rPr>
                        <a:t>Baseline: resize + ZNCC argmax</a:t>
                      </a:r>
                    </a:p>
                  </a:txBody>
                  <a:tcPr marL="54864" marR="54864" marT="18288" marB="18288" anchor="ctr">
                    <a:solidFill>
                      <a:srgbClr val="FFFFFF"/>
                    </a:solidFill>
                  </a:tcPr>
                </a:tc>
                <a:tc>
                  <a:txBody>
                    <a:bodyPr wrap="square"/>
                    <a:lstStyle/>
                    <a:p>
                      <a:pPr algn="ctr"/>
                      <a:r>
                        <a:rPr sz="1050" b="0">
                          <a:solidFill>
                            <a:srgbClr val="35424D"/>
                          </a:solidFill>
                          <a:latin typeface="Calibri"/>
                        </a:rPr>
                        <a:t>25.0%</a:t>
                      </a:r>
                    </a:p>
                  </a:txBody>
                  <a:tcPr marL="54864" marR="54864" marT="18288" marB="18288" anchor="ctr">
                    <a:solidFill>
                      <a:srgbClr val="FFFFFF"/>
                    </a:solidFill>
                  </a:tcPr>
                </a:tc>
                <a:tc>
                  <a:txBody>
                    <a:bodyPr wrap="square"/>
                    <a:lstStyle/>
                    <a:p>
                      <a:pPr algn="ctr"/>
                      <a:r>
                        <a:rPr sz="1050" b="0">
                          <a:solidFill>
                            <a:srgbClr val="35424D"/>
                          </a:solidFill>
                          <a:latin typeface="Calibri"/>
                        </a:rPr>
                        <a:t>76.7%</a:t>
                      </a:r>
                    </a:p>
                  </a:txBody>
                  <a:tcPr marL="54864" marR="54864" marT="18288" marB="18288" anchor="ctr">
                    <a:solidFill>
                      <a:srgbClr val="FFFFFF"/>
                    </a:solidFill>
                  </a:tcPr>
                </a:tc>
                <a:tc>
                  <a:txBody>
                    <a:bodyPr wrap="square"/>
                    <a:lstStyle/>
                    <a:p>
                      <a:pPr algn="ctr"/>
                      <a:r>
                        <a:rPr sz="1050" b="0">
                          <a:solidFill>
                            <a:srgbClr val="35424D"/>
                          </a:solidFill>
                          <a:latin typeface="Calibri"/>
                        </a:rPr>
                        <a:t>90.0%</a:t>
                      </a:r>
                    </a:p>
                  </a:txBody>
                  <a:tcPr marL="54864" marR="54864" marT="18288" marB="18288" anchor="ctr">
                    <a:solidFill>
                      <a:srgbClr val="FFFFFF"/>
                    </a:solidFill>
                  </a:tcPr>
                </a:tc>
                <a:tc>
                  <a:txBody>
                    <a:bodyPr wrap="square"/>
                    <a:lstStyle/>
                    <a:p>
                      <a:pPr algn="ctr"/>
                      <a:r>
                        <a:rPr sz="1050" b="0">
                          <a:solidFill>
                            <a:srgbClr val="35424D"/>
                          </a:solidFill>
                          <a:latin typeface="Calibri"/>
                        </a:rPr>
                        <a:t>the floor</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sub-pixel DFT</a:t>
                      </a:r>
                    </a:p>
                  </a:txBody>
                  <a:tcPr marL="54864" marR="54864" marT="18288" marB="18288" anchor="ctr">
                    <a:solidFill>
                      <a:srgbClr val="ECF1F4"/>
                    </a:solidFill>
                  </a:tcPr>
                </a:tc>
                <a:tc>
                  <a:txBody>
                    <a:bodyPr wrap="square"/>
                    <a:lstStyle/>
                    <a:p>
                      <a:pPr algn="ctr"/>
                      <a:r>
                        <a:rPr sz="1050" b="0">
                          <a:solidFill>
                            <a:srgbClr val="35424D"/>
                          </a:solidFill>
                          <a:latin typeface="Calibri"/>
                        </a:rPr>
                        <a:t>25.0%</a:t>
                      </a:r>
                    </a:p>
                  </a:txBody>
                  <a:tcPr marL="54864" marR="54864" marT="18288" marB="18288" anchor="ctr">
                    <a:solidFill>
                      <a:srgbClr val="ECF1F4"/>
                    </a:solidFill>
                  </a:tcPr>
                </a:tc>
                <a:tc>
                  <a:txBody>
                    <a:bodyPr wrap="square"/>
                    <a:lstStyle/>
                    <a:p>
                      <a:pPr algn="ctr"/>
                      <a:r>
                        <a:rPr sz="1050" b="0">
                          <a:solidFill>
                            <a:srgbClr val="35424D"/>
                          </a:solidFill>
                          <a:latin typeface="Calibri"/>
                        </a:rPr>
                        <a:t>76.7%</a:t>
                      </a:r>
                    </a:p>
                  </a:txBody>
                  <a:tcPr marL="54864" marR="54864" marT="18288" marB="18288" anchor="ctr">
                    <a:solidFill>
                      <a:srgbClr val="ECF1F4"/>
                    </a:solidFill>
                  </a:tcPr>
                </a:tc>
                <a:tc>
                  <a:txBody>
                    <a:bodyPr wrap="square"/>
                    <a:lstStyle/>
                    <a:p>
                      <a:pPr algn="ctr"/>
                      <a:r>
                        <a:rPr sz="1050" b="0">
                          <a:solidFill>
                            <a:srgbClr val="35424D"/>
                          </a:solidFill>
                          <a:latin typeface="Calibri"/>
                        </a:rPr>
                        <a:t>90.0%</a:t>
                      </a:r>
                    </a:p>
                  </a:txBody>
                  <a:tcPr marL="54864" marR="54864" marT="18288" marB="18288" anchor="ctr">
                    <a:solidFill>
                      <a:srgbClr val="ECF1F4"/>
                    </a:solidFill>
                  </a:tcPr>
                </a:tc>
                <a:tc>
                  <a:txBody>
                    <a:bodyPr wrap="square"/>
                    <a:lstStyle/>
                    <a:p>
                      <a:pPr algn="ctr"/>
                      <a:r>
                        <a:rPr sz="1050" b="0">
                          <a:solidFill>
                            <a:srgbClr val="35424D"/>
                          </a:solidFill>
                          <a:latin typeface="Calibri"/>
                        </a:rPr>
                        <a:t>precision only</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two-axis drift cancellation</a:t>
                      </a:r>
                    </a:p>
                  </a:txBody>
                  <a:tcPr marL="54864" marR="54864" marT="18288" marB="18288" anchor="ctr">
                    <a:solidFill>
                      <a:srgbClr val="FFFFFF"/>
                    </a:solidFill>
                  </a:tcPr>
                </a:tc>
                <a:tc>
                  <a:txBody>
                    <a:bodyPr wrap="square"/>
                    <a:lstStyle/>
                    <a:p>
                      <a:pPr algn="ctr"/>
                      <a:r>
                        <a:rPr sz="1050" b="0">
                          <a:solidFill>
                            <a:srgbClr val="35424D"/>
                          </a:solidFill>
                          <a:latin typeface="Calibri"/>
                        </a:rPr>
                        <a:t>25.0%</a:t>
                      </a:r>
                    </a:p>
                  </a:txBody>
                  <a:tcPr marL="54864" marR="54864" marT="18288" marB="18288" anchor="ctr">
                    <a:solidFill>
                      <a:srgbClr val="FFFFFF"/>
                    </a:solidFill>
                  </a:tcPr>
                </a:tc>
                <a:tc>
                  <a:txBody>
                    <a:bodyPr wrap="square"/>
                    <a:lstStyle/>
                    <a:p>
                      <a:pPr algn="ctr"/>
                      <a:r>
                        <a:rPr sz="1050" b="0">
                          <a:solidFill>
                            <a:srgbClr val="35424D"/>
                          </a:solidFill>
                          <a:latin typeface="Calibri"/>
                        </a:rPr>
                        <a:t>76.7%</a:t>
                      </a:r>
                    </a:p>
                  </a:txBody>
                  <a:tcPr marL="54864" marR="54864" marT="18288" marB="18288" anchor="ctr">
                    <a:solidFill>
                      <a:srgbClr val="FFFFFF"/>
                    </a:solidFill>
                  </a:tcPr>
                </a:tc>
                <a:tc>
                  <a:txBody>
                    <a:bodyPr wrap="square"/>
                    <a:lstStyle/>
                    <a:p>
                      <a:pPr algn="ctr"/>
                      <a:r>
                        <a:rPr sz="1050" b="0">
                          <a:solidFill>
                            <a:srgbClr val="35424D"/>
                          </a:solidFill>
                          <a:latin typeface="Calibri"/>
                        </a:rPr>
                        <a:t>90.0%</a:t>
                      </a:r>
                    </a:p>
                  </a:txBody>
                  <a:tcPr marL="54864" marR="54864" marT="18288" marB="18288" anchor="ctr">
                    <a:solidFill>
                      <a:srgbClr val="FFFFFF"/>
                    </a:solidFill>
                  </a:tcPr>
                </a:tc>
                <a:tc>
                  <a:txBody>
                    <a:bodyPr wrap="square"/>
                    <a:lstStyle/>
                    <a:p>
                      <a:pPr algn="ctr"/>
                      <a:r>
                        <a:rPr sz="1050" b="0">
                          <a:solidFill>
                            <a:srgbClr val="35424D"/>
                          </a:solidFill>
                          <a:latin typeface="Calibri"/>
                        </a:rPr>
                        <a:t>precision only</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pose: pyramid   ← shipped</a:t>
                      </a:r>
                    </a:p>
                  </a:txBody>
                  <a:tcPr marL="54864" marR="54864" marT="18288" marB="18288" anchor="ctr">
                    <a:solidFill>
                      <a:srgbClr val="ECF1F4"/>
                    </a:solidFill>
                  </a:tcPr>
                </a:tc>
                <a:tc>
                  <a:txBody>
                    <a:bodyPr wrap="square"/>
                    <a:lstStyle/>
                    <a:p>
                      <a:pPr algn="ctr"/>
                      <a:r>
                        <a:rPr sz="1050" b="0">
                          <a:solidFill>
                            <a:srgbClr val="35424D"/>
                          </a:solidFill>
                          <a:latin typeface="Calibri"/>
                        </a:rPr>
                        <a:t>27.5%</a:t>
                      </a:r>
                    </a:p>
                  </a:txBody>
                  <a:tcPr marL="54864" marR="54864" marT="18288" marB="18288" anchor="ctr">
                    <a:solidFill>
                      <a:srgbClr val="ECF1F4"/>
                    </a:solidFill>
                  </a:tcPr>
                </a:tc>
                <a:tc>
                  <a:txBody>
                    <a:bodyPr wrap="square"/>
                    <a:lstStyle/>
                    <a:p>
                      <a:pPr algn="ctr"/>
                      <a:r>
                        <a:rPr sz="1050" b="0">
                          <a:solidFill>
                            <a:srgbClr val="35424D"/>
                          </a:solidFill>
                          <a:latin typeface="Calibri"/>
                        </a:rPr>
                        <a:t>26.7%</a:t>
                      </a:r>
                    </a:p>
                  </a:txBody>
                  <a:tcPr marL="54864" marR="54864" marT="18288" marB="18288" anchor="ctr">
                    <a:solidFill>
                      <a:srgbClr val="ECF1F4"/>
                    </a:solidFill>
                  </a:tcPr>
                </a:tc>
                <a:tc>
                  <a:txBody>
                    <a:bodyPr wrap="square"/>
                    <a:lstStyle/>
                    <a:p>
                      <a:pPr algn="ctr"/>
                      <a:r>
                        <a:rPr sz="1050" b="0">
                          <a:solidFill>
                            <a:srgbClr val="35424D"/>
                          </a:solidFill>
                          <a:latin typeface="Calibri"/>
                        </a:rPr>
                        <a:t>33.3%</a:t>
                      </a:r>
                    </a:p>
                  </a:txBody>
                  <a:tcPr marL="54864" marR="54864" marT="18288" marB="18288" anchor="ctr">
                    <a:solidFill>
                      <a:srgbClr val="ECF1F4"/>
                    </a:solidFill>
                  </a:tcPr>
                </a:tc>
                <a:tc>
                  <a:txBody>
                    <a:bodyPr wrap="square"/>
                    <a:lstStyle/>
                    <a:p>
                      <a:pPr algn="ctr"/>
                      <a:r>
                        <a:rPr sz="1050" b="0">
                          <a:solidFill>
                            <a:srgbClr val="35424D"/>
                          </a:solidFill>
                          <a:latin typeface="Calibri"/>
                        </a:rPr>
                        <a:t>solves rotation/scale</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per-candidate pose refit   ← shipped</a:t>
                      </a:r>
                    </a:p>
                  </a:txBody>
                  <a:tcPr marL="54864" marR="54864" marT="18288" marB="18288" anchor="ctr">
                    <a:solidFill>
                      <a:srgbClr val="FFFFFF"/>
                    </a:solidFill>
                  </a:tcPr>
                </a:tc>
                <a:tc>
                  <a:txBody>
                    <a:bodyPr wrap="square"/>
                    <a:lstStyle/>
                    <a:p>
                      <a:pPr algn="ctr"/>
                      <a:r>
                        <a:rPr sz="1050" b="0">
                          <a:solidFill>
                            <a:srgbClr val="35424D"/>
                          </a:solidFill>
                          <a:latin typeface="Calibri"/>
                        </a:rPr>
                        <a:t>25.0%</a:t>
                      </a:r>
                    </a:p>
                  </a:txBody>
                  <a:tcPr marL="54864" marR="54864" marT="18288" marB="18288" anchor="ctr">
                    <a:solidFill>
                      <a:srgbClr val="FFFFFF"/>
                    </a:solidFill>
                  </a:tcPr>
                </a:tc>
                <a:tc>
                  <a:txBody>
                    <a:bodyPr wrap="square"/>
                    <a:lstStyle/>
                    <a:p>
                      <a:pPr algn="ctr"/>
                      <a:r>
                        <a:rPr sz="1050" b="0">
                          <a:solidFill>
                            <a:srgbClr val="35424D"/>
                          </a:solidFill>
                          <a:latin typeface="Calibri"/>
                        </a:rPr>
                        <a:t>23.3%</a:t>
                      </a:r>
                    </a:p>
                  </a:txBody>
                  <a:tcPr marL="54864" marR="54864" marT="18288" marB="18288" anchor="ctr">
                    <a:solidFill>
                      <a:srgbClr val="FFFFFF"/>
                    </a:solidFill>
                  </a:tcPr>
                </a:tc>
                <a:tc>
                  <a:txBody>
                    <a:bodyPr wrap="square"/>
                    <a:lstStyle/>
                    <a:p>
                      <a:pPr algn="ctr"/>
                      <a:r>
                        <a:rPr sz="1050" b="0">
                          <a:solidFill>
                            <a:srgbClr val="35424D"/>
                          </a:solidFill>
                          <a:latin typeface="Calibri"/>
                        </a:rPr>
                        <a:t>16.7%</a:t>
                      </a:r>
                    </a:p>
                  </a:txBody>
                  <a:tcPr marL="54864" marR="54864" marT="18288" marB="18288" anchor="ctr">
                    <a:solidFill>
                      <a:srgbClr val="FFFFFF"/>
                    </a:solidFill>
                  </a:tcPr>
                </a:tc>
                <a:tc>
                  <a:txBody>
                    <a:bodyPr wrap="square"/>
                    <a:lstStyle/>
                    <a:p>
                      <a:pPr algn="ctr"/>
                      <a:r>
                        <a:rPr sz="1050" b="0">
                          <a:solidFill>
                            <a:srgbClr val="35424D"/>
                          </a:solidFill>
                          <a:latin typeface="Calibri"/>
                        </a:rPr>
                        <a:t>solves selection</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spec's centre rule</a:t>
                      </a:r>
                    </a:p>
                  </a:txBody>
                  <a:tcPr marL="54864" marR="54864" marT="18288" marB="18288" anchor="ctr">
                    <a:solidFill>
                      <a:srgbClr val="ECF1F4"/>
                    </a:solidFill>
                  </a:tcPr>
                </a:tc>
                <a:tc>
                  <a:txBody>
                    <a:bodyPr wrap="square"/>
                    <a:lstStyle/>
                    <a:p>
                      <a:pPr algn="ctr"/>
                      <a:r>
                        <a:rPr sz="1050" b="0">
                          <a:solidFill>
                            <a:srgbClr val="35424D"/>
                          </a:solidFill>
                          <a:latin typeface="Calibri"/>
                        </a:rPr>
                        <a:t>35.0%</a:t>
                      </a:r>
                    </a:p>
                  </a:txBody>
                  <a:tcPr marL="54864" marR="54864" marT="18288" marB="18288" anchor="ctr">
                    <a:solidFill>
                      <a:srgbClr val="ECF1F4"/>
                    </a:solidFill>
                  </a:tcPr>
                </a:tc>
                <a:tc>
                  <a:txBody>
                    <a:bodyPr wrap="square"/>
                    <a:lstStyle/>
                    <a:p>
                      <a:pPr algn="ctr"/>
                      <a:r>
                        <a:rPr sz="1050" b="0">
                          <a:solidFill>
                            <a:srgbClr val="35424D"/>
                          </a:solidFill>
                          <a:latin typeface="Calibri"/>
                        </a:rPr>
                        <a:t>20.0%</a:t>
                      </a:r>
                    </a:p>
                  </a:txBody>
                  <a:tcPr marL="54864" marR="54864" marT="18288" marB="18288" anchor="ctr">
                    <a:solidFill>
                      <a:srgbClr val="ECF1F4"/>
                    </a:solidFill>
                  </a:tcPr>
                </a:tc>
                <a:tc>
                  <a:txBody>
                    <a:bodyPr wrap="square"/>
                    <a:lstStyle/>
                    <a:p>
                      <a:pPr algn="ctr"/>
                      <a:r>
                        <a:rPr sz="1050" b="0">
                          <a:solidFill>
                            <a:srgbClr val="35424D"/>
                          </a:solidFill>
                          <a:latin typeface="Calibri"/>
                        </a:rPr>
                        <a:t>20.0%</a:t>
                      </a:r>
                    </a:p>
                  </a:txBody>
                  <a:tcPr marL="54864" marR="54864" marT="18288" marB="18288" anchor="ctr">
                    <a:solidFill>
                      <a:srgbClr val="ECF1F4"/>
                    </a:solidFill>
                  </a:tcPr>
                </a:tc>
                <a:tc>
                  <a:txBody>
                    <a:bodyPr wrap="square"/>
                    <a:lstStyle/>
                    <a:p>
                      <a:pPr algn="ctr"/>
                      <a:r>
                        <a:rPr sz="1050" b="0">
                          <a:solidFill>
                            <a:srgbClr val="35424D"/>
                          </a:solidFill>
                          <a:latin typeface="Calibri"/>
                        </a:rPr>
                        <a:t>prior absent</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pose: spectral lattice</a:t>
                      </a:r>
                    </a:p>
                  </a:txBody>
                  <a:tcPr marL="54864" marR="54864" marT="18288" marB="18288" anchor="ctr">
                    <a:solidFill>
                      <a:srgbClr val="FFFFFF"/>
                    </a:solidFill>
                  </a:tcPr>
                </a:tc>
                <a:tc>
                  <a:txBody>
                    <a:bodyPr wrap="square"/>
                    <a:lstStyle/>
                    <a:p>
                      <a:pPr algn="ctr"/>
                      <a:r>
                        <a:rPr sz="1050" b="0">
                          <a:solidFill>
                            <a:srgbClr val="35424D"/>
                          </a:solidFill>
                          <a:latin typeface="Calibri"/>
                        </a:rPr>
                        <a:t>22.5%</a:t>
                      </a:r>
                    </a:p>
                  </a:txBody>
                  <a:tcPr marL="54864" marR="54864" marT="18288" marB="18288" anchor="ctr">
                    <a:solidFill>
                      <a:srgbClr val="FFFFFF"/>
                    </a:solidFill>
                  </a:tcPr>
                </a:tc>
                <a:tc>
                  <a:txBody>
                    <a:bodyPr wrap="square"/>
                    <a:lstStyle/>
                    <a:p>
                      <a:pPr algn="ctr"/>
                      <a:r>
                        <a:rPr sz="1050" b="0">
                          <a:solidFill>
                            <a:srgbClr val="35424D"/>
                          </a:solidFill>
                          <a:latin typeface="Calibri"/>
                        </a:rPr>
                        <a:t>46.7%</a:t>
                      </a:r>
                    </a:p>
                  </a:txBody>
                  <a:tcPr marL="54864" marR="54864" marT="18288" marB="18288" anchor="ctr">
                    <a:solidFill>
                      <a:srgbClr val="FFFFFF"/>
                    </a:solidFill>
                  </a:tcPr>
                </a:tc>
                <a:tc>
                  <a:txBody>
                    <a:bodyPr wrap="square"/>
                    <a:lstStyle/>
                    <a:p>
                      <a:pPr algn="ctr"/>
                      <a:r>
                        <a:rPr sz="1050" b="0">
                          <a:solidFill>
                            <a:srgbClr val="35424D"/>
                          </a:solidFill>
                          <a:latin typeface="Calibri"/>
                        </a:rPr>
                        <a:t>60.0%</a:t>
                      </a:r>
                    </a:p>
                  </a:txBody>
                  <a:tcPr marL="54864" marR="54864" marT="18288" marB="18288" anchor="ctr">
                    <a:solidFill>
                      <a:srgbClr val="FFFFFF"/>
                    </a:solidFill>
                  </a:tcPr>
                </a:tc>
                <a:tc>
                  <a:txBody>
                    <a:bodyPr wrap="square"/>
                    <a:lstStyle/>
                    <a:p>
                      <a:pPr algn="ctr"/>
                      <a:r>
                        <a:rPr sz="1050" b="0">
                          <a:solidFill>
                            <a:srgbClr val="35424D"/>
                          </a:solidFill>
                          <a:latin typeface="Calibri"/>
                        </a:rPr>
                        <a:t>less accurate</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PADM residual re-ranking</a:t>
                      </a:r>
                    </a:p>
                  </a:txBody>
                  <a:tcPr marL="54864" marR="54864" marT="18288" marB="18288" anchor="ctr">
                    <a:solidFill>
                      <a:srgbClr val="ECF1F4"/>
                    </a:solidFill>
                  </a:tcPr>
                </a:tc>
                <a:tc>
                  <a:txBody>
                    <a:bodyPr wrap="square"/>
                    <a:lstStyle/>
                    <a:p>
                      <a:pPr algn="ctr"/>
                      <a:r>
                        <a:rPr sz="1050" b="0">
                          <a:solidFill>
                            <a:srgbClr val="35424D"/>
                          </a:solidFill>
                          <a:latin typeface="Calibri"/>
                        </a:rPr>
                        <a:t>27.5%</a:t>
                      </a:r>
                    </a:p>
                  </a:txBody>
                  <a:tcPr marL="54864" marR="54864" marT="18288" marB="18288" anchor="ctr">
                    <a:solidFill>
                      <a:srgbClr val="ECF1F4"/>
                    </a:solidFill>
                  </a:tcPr>
                </a:tc>
                <a:tc>
                  <a:txBody>
                    <a:bodyPr wrap="square"/>
                    <a:lstStyle/>
                    <a:p>
                      <a:pPr algn="ctr"/>
                      <a:r>
                        <a:rPr sz="1050" b="0">
                          <a:solidFill>
                            <a:srgbClr val="35424D"/>
                          </a:solidFill>
                          <a:latin typeface="Calibri"/>
                        </a:rPr>
                        <a:t>70.0%</a:t>
                      </a:r>
                    </a:p>
                  </a:txBody>
                  <a:tcPr marL="54864" marR="54864" marT="18288" marB="18288" anchor="ctr">
                    <a:solidFill>
                      <a:srgbClr val="ECF1F4"/>
                    </a:solidFill>
                  </a:tcPr>
                </a:tc>
                <a:tc>
                  <a:txBody>
                    <a:bodyPr wrap="square"/>
                    <a:lstStyle/>
                    <a:p>
                      <a:pPr algn="ctr"/>
                      <a:r>
                        <a:rPr sz="1050" b="0">
                          <a:solidFill>
                            <a:srgbClr val="35424D"/>
                          </a:solidFill>
                          <a:latin typeface="Calibri"/>
                        </a:rPr>
                        <a:t>73.3%</a:t>
                      </a:r>
                    </a:p>
                  </a:txBody>
                  <a:tcPr marL="54864" marR="54864" marT="18288" marB="18288" anchor="ctr">
                    <a:solidFill>
                      <a:srgbClr val="ECF1F4"/>
                    </a:solidFill>
                  </a:tcPr>
                </a:tc>
                <a:tc>
                  <a:txBody>
                    <a:bodyPr wrap="square"/>
                    <a:lstStyle/>
                    <a:p>
                      <a:pPr algn="ctr"/>
                      <a:r>
                        <a:rPr sz="1050" b="0">
                          <a:solidFill>
                            <a:srgbClr val="35424D"/>
                          </a:solidFill>
                          <a:latin typeface="Calibri"/>
                        </a:rPr>
                        <a:t>overfit</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max-likelihood re-ranking</a:t>
                      </a:r>
                    </a:p>
                  </a:txBody>
                  <a:tcPr marL="54864" marR="54864" marT="18288" marB="18288" anchor="ctr">
                    <a:solidFill>
                      <a:srgbClr val="FFFFFF"/>
                    </a:solidFill>
                  </a:tcPr>
                </a:tc>
                <a:tc>
                  <a:txBody>
                    <a:bodyPr wrap="square"/>
                    <a:lstStyle/>
                    <a:p>
                      <a:pPr algn="ctr"/>
                      <a:r>
                        <a:rPr sz="1050" b="0">
                          <a:solidFill>
                            <a:srgbClr val="35424D"/>
                          </a:solidFill>
                          <a:latin typeface="Calibri"/>
                        </a:rPr>
                        <a:t>22.5%</a:t>
                      </a:r>
                    </a:p>
                  </a:txBody>
                  <a:tcPr marL="54864" marR="54864" marT="18288" marB="18288" anchor="ctr">
                    <a:solidFill>
                      <a:srgbClr val="FFFFFF"/>
                    </a:solidFill>
                  </a:tcPr>
                </a:tc>
                <a:tc>
                  <a:txBody>
                    <a:bodyPr wrap="square"/>
                    <a:lstStyle/>
                    <a:p>
                      <a:pPr algn="ctr"/>
                      <a:r>
                        <a:rPr sz="1050" b="0">
                          <a:solidFill>
                            <a:srgbClr val="35424D"/>
                          </a:solidFill>
                          <a:latin typeface="Calibri"/>
                        </a:rPr>
                        <a:t>36.7%</a:t>
                      </a:r>
                    </a:p>
                  </a:txBody>
                  <a:tcPr marL="54864" marR="54864" marT="18288" marB="18288" anchor="ctr">
                    <a:solidFill>
                      <a:srgbClr val="FFFFFF"/>
                    </a:solidFill>
                  </a:tcPr>
                </a:tc>
                <a:tc>
                  <a:txBody>
                    <a:bodyPr wrap="square"/>
                    <a:lstStyle/>
                    <a:p>
                      <a:pPr algn="ctr"/>
                      <a:r>
                        <a:rPr sz="1050" b="0">
                          <a:solidFill>
                            <a:srgbClr val="35424D"/>
                          </a:solidFill>
                          <a:latin typeface="Calibri"/>
                        </a:rPr>
                        <a:t>50.0%</a:t>
                      </a:r>
                    </a:p>
                  </a:txBody>
                  <a:tcPr marL="54864" marR="54864" marT="18288" marB="18288" anchor="ctr">
                    <a:solidFill>
                      <a:srgbClr val="FFFFFF"/>
                    </a:solidFill>
                  </a:tcPr>
                </a:tc>
                <a:tc>
                  <a:txBody>
                    <a:bodyPr wrap="square"/>
                    <a:lstStyle/>
                    <a:p>
                      <a:pPr algn="ctr"/>
                      <a:r>
                        <a:rPr sz="1050" b="0">
                          <a:solidFill>
                            <a:srgbClr val="35424D"/>
                          </a:solidFill>
                          <a:latin typeface="Calibri"/>
                        </a:rPr>
                        <a:t>no gain</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coarse-level consensus</a:t>
                      </a:r>
                    </a:p>
                  </a:txBody>
                  <a:tcPr marL="54864" marR="54864" marT="18288" marB="18288" anchor="ctr">
                    <a:solidFill>
                      <a:srgbClr val="ECF1F4"/>
                    </a:solidFill>
                  </a:tcPr>
                </a:tc>
                <a:tc>
                  <a:txBody>
                    <a:bodyPr wrap="square"/>
                    <a:lstStyle/>
                    <a:p>
                      <a:pPr algn="ctr"/>
                      <a:r>
                        <a:rPr sz="1050" b="0">
                          <a:solidFill>
                            <a:srgbClr val="35424D"/>
                          </a:solidFill>
                          <a:latin typeface="Calibri"/>
                        </a:rPr>
                        <a:t>62.5%</a:t>
                      </a:r>
                    </a:p>
                  </a:txBody>
                  <a:tcPr marL="54864" marR="54864" marT="18288" marB="18288" anchor="ctr">
                    <a:solidFill>
                      <a:srgbClr val="ECF1F4"/>
                    </a:solidFill>
                  </a:tcPr>
                </a:tc>
                <a:tc>
                  <a:txBody>
                    <a:bodyPr wrap="square"/>
                    <a:lstStyle/>
                    <a:p>
                      <a:pPr algn="ctr"/>
                      <a:r>
                        <a:rPr sz="1050" b="0">
                          <a:solidFill>
                            <a:srgbClr val="35424D"/>
                          </a:solidFill>
                          <a:latin typeface="Calibri"/>
                        </a:rPr>
                        <a:t>73.3%</a:t>
                      </a:r>
                    </a:p>
                  </a:txBody>
                  <a:tcPr marL="54864" marR="54864" marT="18288" marB="18288" anchor="ctr">
                    <a:solidFill>
                      <a:srgbClr val="ECF1F4"/>
                    </a:solidFill>
                  </a:tcPr>
                </a:tc>
                <a:tc>
                  <a:txBody>
                    <a:bodyPr wrap="square"/>
                    <a:lstStyle/>
                    <a:p>
                      <a:pPr algn="ctr"/>
                      <a:r>
                        <a:rPr sz="1050" b="0">
                          <a:solidFill>
                            <a:srgbClr val="35424D"/>
                          </a:solidFill>
                          <a:latin typeface="Calibri"/>
                        </a:rPr>
                        <a:t>36.7%</a:t>
                      </a:r>
                    </a:p>
                  </a:txBody>
                  <a:tcPr marL="54864" marR="54864" marT="18288" marB="18288" anchor="ctr">
                    <a:solidFill>
                      <a:srgbClr val="ECF1F4"/>
                    </a:solidFill>
                  </a:tcPr>
                </a:tc>
                <a:tc>
                  <a:txBody>
                    <a:bodyPr wrap="square"/>
                    <a:lstStyle/>
                    <a:p>
                      <a:pPr algn="ctr"/>
                      <a:r>
                        <a:rPr sz="1050" b="0">
                          <a:solidFill>
                            <a:srgbClr val="35424D"/>
                          </a:solidFill>
                          <a:latin typeface="Calibri"/>
                        </a:rPr>
                        <a:t>harmful</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row destriping</a:t>
                      </a:r>
                    </a:p>
                  </a:txBody>
                  <a:tcPr marL="54864" marR="54864" marT="18288" marB="18288" anchor="ctr">
                    <a:solidFill>
                      <a:srgbClr val="FFFFFF"/>
                    </a:solidFill>
                  </a:tcPr>
                </a:tc>
                <a:tc>
                  <a:txBody>
                    <a:bodyPr wrap="square"/>
                    <a:lstStyle/>
                    <a:p>
                      <a:pPr algn="ctr"/>
                      <a:r>
                        <a:rPr sz="1050" b="0">
                          <a:solidFill>
                            <a:srgbClr val="35424D"/>
                          </a:solidFill>
                          <a:latin typeface="Calibri"/>
                        </a:rPr>
                        <a:t>35.0%</a:t>
                      </a:r>
                    </a:p>
                  </a:txBody>
                  <a:tcPr marL="54864" marR="54864" marT="18288" marB="18288" anchor="ctr">
                    <a:solidFill>
                      <a:srgbClr val="FFFFFF"/>
                    </a:solidFill>
                  </a:tcPr>
                </a:tc>
                <a:tc>
                  <a:txBody>
                    <a:bodyPr wrap="square"/>
                    <a:lstStyle/>
                    <a:p>
                      <a:pPr algn="ctr"/>
                      <a:r>
                        <a:rPr sz="1050" b="0">
                          <a:solidFill>
                            <a:srgbClr val="35424D"/>
                          </a:solidFill>
                          <a:latin typeface="Calibri"/>
                        </a:rPr>
                        <a:t>90.0%</a:t>
                      </a:r>
                    </a:p>
                  </a:txBody>
                  <a:tcPr marL="54864" marR="54864" marT="18288" marB="18288" anchor="ctr">
                    <a:solidFill>
                      <a:srgbClr val="FFFFFF"/>
                    </a:solidFill>
                  </a:tcPr>
                </a:tc>
                <a:tc>
                  <a:txBody>
                    <a:bodyPr wrap="square"/>
                    <a:lstStyle/>
                    <a:p>
                      <a:pPr algn="ctr"/>
                      <a:r>
                        <a:rPr sz="1050" b="0">
                          <a:solidFill>
                            <a:srgbClr val="35424D"/>
                          </a:solidFill>
                          <a:latin typeface="Calibri"/>
                        </a:rPr>
                        <a:t>90.0%</a:t>
                      </a:r>
                    </a:p>
                  </a:txBody>
                  <a:tcPr marL="54864" marR="54864" marT="18288" marB="18288" anchor="ctr">
                    <a:solidFill>
                      <a:srgbClr val="FFFFFF"/>
                    </a:solidFill>
                  </a:tcPr>
                </a:tc>
                <a:tc>
                  <a:txBody>
                    <a:bodyPr wrap="square"/>
                    <a:lstStyle/>
                    <a:p>
                      <a:pPr algn="ctr"/>
                      <a:r>
                        <a:rPr sz="1050" b="0">
                          <a:solidFill>
                            <a:srgbClr val="35424D"/>
                          </a:solidFill>
                          <a:latin typeface="Calibri"/>
                        </a:rPr>
                        <a:t>harmful</a:t>
                      </a:r>
                    </a:p>
                  </a:txBody>
                  <a:tcPr marL="54864" marR="54864" marT="18288" marB="18288" anchor="ctr">
                    <a:solidFill>
                      <a:srgbClr val="FFFFFF"/>
                    </a:solidFill>
                  </a:tcPr>
                </a:tc>
              </a:tr>
            </a:tbl>
          </a:graphicData>
        </a:graphic>
      </p:graphicFrame>
      <p:sp>
        <p:nvSpPr>
          <p:cNvPr id="5" name="TextBox 4"/>
          <p:cNvSpPr txBox="1"/>
          <p:nvPr/>
        </p:nvSpPr>
        <p:spPr>
          <a:xfrm>
            <a:off x="548640" y="4965192"/>
            <a:ext cx="6949440" cy="256032"/>
          </a:xfrm>
          <a:prstGeom prst="rect">
            <a:avLst/>
          </a:prstGeom>
          <a:noFill/>
        </p:spPr>
        <p:txBody>
          <a:bodyPr wrap="square" lIns="0" rIns="0" tIns="0" bIns="0" anchor="t">
            <a:spAutoFit/>
          </a:bodyPr>
          <a:lstStyle/>
          <a:p>
            <a:pPr algn="l"/>
            <a:r>
              <a:rPr sz="950" b="0" i="1">
                <a:solidFill>
                  <a:srgbClr val="5A6B78"/>
                </a:solidFill>
                <a:latin typeface="Calibri"/>
              </a:rPr>
              <a:t>Mis-lock rate. Rows are baseline plus the named stage, not a cumulative chain.</a:t>
            </a:r>
          </a:p>
        </p:txBody>
      </p:sp>
      <p:sp>
        <p:nvSpPr>
          <p:cNvPr id="6" name="Rounded Rectangle 5"/>
          <p:cNvSpPr/>
          <p:nvPr/>
        </p:nvSpPr>
        <p:spPr>
          <a:xfrm>
            <a:off x="7772400" y="1572768"/>
            <a:ext cx="3840480" cy="420624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55648"/>
            <a:ext cx="3383280" cy="502920"/>
          </a:xfrm>
          <a:prstGeom prst="rect">
            <a:avLst/>
          </a:prstGeom>
          <a:noFill/>
        </p:spPr>
        <p:txBody>
          <a:bodyPr wrap="square" lIns="0" rIns="0" tIns="0" bIns="0" anchor="t">
            <a:spAutoFit/>
          </a:bodyPr>
          <a:lstStyle/>
          <a:p>
            <a:pPr algn="l"/>
            <a:r>
              <a:rPr sz="1400" b="1" i="0">
                <a:solidFill>
                  <a:srgbClr val="F2A65A"/>
                </a:solidFill>
                <a:latin typeface="Cambria"/>
              </a:rPr>
              <a:t>Four attempts at selection, and why the fourth worked</a:t>
            </a:r>
          </a:p>
        </p:txBody>
      </p:sp>
      <p:sp>
        <p:nvSpPr>
          <p:cNvPr id="8" name="TextBox 7"/>
          <p:cNvSpPr txBox="1"/>
          <p:nvPr/>
        </p:nvSpPr>
        <p:spPr>
          <a:xfrm>
            <a:off x="8001000" y="2331720"/>
            <a:ext cx="3383280" cy="3383280"/>
          </a:xfrm>
          <a:prstGeom prst="rect">
            <a:avLst/>
          </a:prstGeom>
          <a:noFill/>
        </p:spPr>
        <p:txBody>
          <a:bodyPr wrap="square" lIns="0" rIns="0" tIns="0" bIns="0" anchor="t">
            <a:spAutoFit/>
          </a:bodyPr>
          <a:lstStyle/>
          <a:p>
            <a:pPr algn="l">
              <a:spcAft>
                <a:spcPts val="200"/>
              </a:spcAft>
            </a:pPr>
            <a:r>
              <a:rPr sz="950" b="1" i="0">
                <a:solidFill>
                  <a:srgbClr val="FFFFFF"/>
                </a:solidFill>
                <a:latin typeface="Calibri"/>
              </a:rPr>
              <a:t>PADM residual scoring — overfit</a:t>
            </a:r>
          </a:p>
          <a:p>
            <a:pPr algn="l">
              <a:spcAft>
                <a:spcPts val="200"/>
              </a:spcAft>
            </a:pPr>
            <a:r>
              <a:rPr sz="950" b="0" i="0">
                <a:solidFill>
                  <a:srgbClr val="9FB4C2"/>
                </a:solidFill>
                <a:latin typeface="Calibri"/>
              </a:rPr>
              <a:t>Two tuned constants. Gained on the split it was tuned on, lost on both held-out splits.</a:t>
            </a:r>
          </a:p>
          <a:p>
            <a:pPr algn="l">
              <a:spcAft>
                <a:spcPts val="200"/>
              </a:spcAft>
            </a:pPr>
            <a:r>
              <a:rPr sz="950" b="0" i="0">
                <a:solidFill>
                  <a:srgbClr val="35424D"/>
                </a:solidFill>
                <a:latin typeface="Calibri"/>
              </a:rPr>
              <a:t/>
            </a:r>
          </a:p>
          <a:p>
            <a:pPr algn="l">
              <a:spcAft>
                <a:spcPts val="200"/>
              </a:spcAft>
            </a:pPr>
            <a:r>
              <a:rPr sz="950" b="1" i="0">
                <a:solidFill>
                  <a:srgbClr val="FFFFFF"/>
                </a:solidFill>
                <a:latin typeface="Calibri"/>
              </a:rPr>
              <a:t>Coarse consensus — harmful</a:t>
            </a:r>
          </a:p>
          <a:p>
            <a:pPr algn="l">
              <a:spcAft>
                <a:spcPts val="200"/>
              </a:spcAft>
            </a:pPr>
            <a:r>
              <a:rPr sz="950" b="0" i="0">
                <a:solidFill>
                  <a:srgbClr val="9FB4C2"/>
                </a:solidFill>
                <a:latin typeface="Calibri"/>
              </a:rPr>
              <a:t>Assumed downsampling reveals landmarks. It cannot: the reference's footprint is smaller than a mat, so there is nothing to reveal at any resolution.</a:t>
            </a:r>
          </a:p>
          <a:p>
            <a:pPr algn="l">
              <a:spcAft>
                <a:spcPts val="200"/>
              </a:spcAft>
            </a:pPr>
            <a:r>
              <a:rPr sz="950" b="0" i="0">
                <a:solidFill>
                  <a:srgbClr val="35424D"/>
                </a:solidFill>
                <a:latin typeface="Calibri"/>
              </a:rPr>
              <a:t/>
            </a:r>
          </a:p>
          <a:p>
            <a:pPr algn="l">
              <a:spcAft>
                <a:spcPts val="200"/>
              </a:spcAft>
            </a:pPr>
            <a:r>
              <a:rPr sz="950" b="1" i="0">
                <a:solidFill>
                  <a:srgbClr val="FFFFFF"/>
                </a:solidFill>
                <a:latin typeface="Calibri"/>
              </a:rPr>
              <a:t>Maximum-likelihood — no gain</a:t>
            </a:r>
          </a:p>
          <a:p>
            <a:pPr algn="l">
              <a:spcAft>
                <a:spcPts val="200"/>
              </a:spcAft>
            </a:pPr>
            <a:r>
              <a:rPr sz="950" b="0" i="0">
                <a:solidFill>
                  <a:srgbClr val="9FB4C2"/>
                </a:solidFill>
                <a:latin typeface="Calibri"/>
              </a:rPr>
              <a:t>The noise really is signal-dependent, so ZNCC really is mis-weighted. But model mismatch is larger than photon noise, so weighting by photon variance sharpens the wrong term.</a:t>
            </a:r>
          </a:p>
          <a:p>
            <a:pPr algn="l">
              <a:spcAft>
                <a:spcPts val="200"/>
              </a:spcAft>
            </a:pPr>
            <a:r>
              <a:rPr sz="950" b="0" i="0">
                <a:solidFill>
                  <a:srgbClr val="35424D"/>
                </a:solidFill>
                <a:latin typeface="Calibri"/>
              </a:rPr>
              <a:t/>
            </a:r>
          </a:p>
          <a:p>
            <a:pPr algn="l">
              <a:spcAft>
                <a:spcPts val="200"/>
              </a:spcAft>
            </a:pPr>
            <a:r>
              <a:rPr sz="950" b="1" i="0">
                <a:solidFill>
                  <a:srgbClr val="F2A65A"/>
                </a:solidFill>
                <a:latin typeface="Calibri"/>
              </a:rPr>
              <a:t>Per-candidate pose refit — WORKS</a:t>
            </a:r>
          </a:p>
          <a:p>
            <a:pPr algn="l">
              <a:spcAft>
                <a:spcPts val="200"/>
              </a:spcAft>
            </a:pPr>
            <a:r>
              <a:rPr sz="950" b="0" i="0">
                <a:solidFill>
                  <a:srgbClr val="9FB4C2"/>
                </a:solidFill>
                <a:latin typeface="Calibri"/>
              </a:rPr>
              <a:t>Follows the line above: if mismatch dominates, reduce mismatch. Each candidate is re-SCORED at its own best pose — no new criterion, so it cannot invent a preference.</a:t>
            </a:r>
          </a:p>
        </p:txBody>
      </p:sp>
      <p:sp>
        <p:nvSpPr>
          <p:cNvPr id="9" name="TextBox 8"/>
          <p:cNvSpPr txBox="1"/>
          <p:nvPr/>
        </p:nvSpPr>
        <p:spPr>
          <a:xfrm>
            <a:off x="548640" y="4846320"/>
            <a:ext cx="6949440" cy="914400"/>
          </a:xfrm>
          <a:prstGeom prst="rect">
            <a:avLst/>
          </a:prstGeom>
          <a:noFill/>
        </p:spPr>
        <p:txBody>
          <a:bodyPr wrap="square" lIns="0" rIns="0" tIns="0" bIns="0" anchor="t">
            <a:spAutoFit/>
          </a:bodyPr>
          <a:lstStyle/>
          <a:p>
            <a:pPr algn="l"/>
            <a:r>
              <a:rPr sz="1100" b="1" i="0">
                <a:solidFill>
                  <a:srgbClr val="1C7293"/>
                </a:solidFill>
                <a:latin typeface="Calibri"/>
              </a:rPr>
              <a:t>Two rules these bought. Downsampling is free for measuring pose and ruinous for deciding identity — pose is a global low-frequency property, identity lives only in the full-resolution aperiodic fingerprint. And refinement fails gracefully while re-ranking fails destructively, so a selection stage must remove a handicap rather than introduce a criterion.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Failure analysis — the worst pair, and what it proves</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Not a picture of a wrong answer: a measurement of why it was wrong</a:t>
            </a:r>
          </a:p>
        </p:txBody>
      </p:sp>
      <p:sp>
        <p:nvSpPr>
          <p:cNvPr id="4" name="Rounded Rectangle 3"/>
          <p:cNvSpPr/>
          <p:nvPr/>
        </p:nvSpPr>
        <p:spPr>
          <a:xfrm>
            <a:off x="548640" y="1371600"/>
            <a:ext cx="5486400" cy="2514600"/>
          </a:xfrm>
          <a:prstGeom prst="roundRect">
            <a:avLst>
              <a:gd name="adj" fmla="val 4000"/>
            </a:avLst>
          </a:prstGeom>
          <a:solidFill>
            <a:srgbClr val="FBEDE9"/>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36192"/>
            <a:ext cx="4937760" cy="292608"/>
          </a:xfrm>
          <a:prstGeom prst="rect">
            <a:avLst/>
          </a:prstGeom>
          <a:noFill/>
        </p:spPr>
        <p:txBody>
          <a:bodyPr wrap="square" lIns="0" rIns="0" tIns="0" bIns="0" anchor="t">
            <a:spAutoFit/>
          </a:bodyPr>
          <a:lstStyle/>
          <a:p>
            <a:pPr algn="l"/>
            <a:r>
              <a:rPr sz="1550" b="1" i="0">
                <a:solidFill>
                  <a:srgbClr val="8A2D18"/>
                </a:solidFill>
                <a:latin typeface="Cambria"/>
              </a:rPr>
              <a:t>Worst case on the reported split</a:t>
            </a:r>
          </a:p>
        </p:txBody>
      </p:sp>
      <p:sp>
        <p:nvSpPr>
          <p:cNvPr id="6" name="TextBox 5"/>
          <p:cNvSpPr txBox="1"/>
          <p:nvPr/>
        </p:nvSpPr>
        <p:spPr>
          <a:xfrm>
            <a:off x="822960" y="1938528"/>
            <a:ext cx="4937760" cy="1600200"/>
          </a:xfrm>
          <a:prstGeom prst="rect">
            <a:avLst/>
          </a:prstGeom>
          <a:noFill/>
        </p:spPr>
        <p:txBody>
          <a:bodyPr wrap="square" lIns="0" rIns="0" tIns="0" bIns="0" anchor="t">
            <a:spAutoFit/>
          </a:bodyPr>
          <a:lstStyle/>
          <a:p>
            <a:pPr algn="l">
              <a:spcAft>
                <a:spcPts val="500"/>
              </a:spcAft>
            </a:pPr>
            <a:r>
              <a:rPr sz="1200" b="0" i="0">
                <a:solidFill>
                  <a:srgbClr val="7A3A24"/>
                </a:solidFill>
                <a:latin typeface="Calibri"/>
              </a:rPr>
              <a:t>•  Euclidean error 893.89 px — a different site entirely</a:t>
            </a:r>
          </a:p>
          <a:p>
            <a:pPr algn="l">
              <a:spcAft>
                <a:spcPts val="500"/>
              </a:spcAft>
            </a:pPr>
            <a:r>
              <a:rPr sz="1200" b="0" i="0">
                <a:solidFill>
                  <a:srgbClr val="7A3A24"/>
                </a:solidFill>
                <a:latin typeface="Calibri"/>
              </a:rPr>
              <a:t>•  The true location WAS a candidate, at rank 4</a:t>
            </a:r>
          </a:p>
          <a:p>
            <a:pPr algn="l">
              <a:spcAft>
                <a:spcPts val="500"/>
              </a:spcAft>
            </a:pPr>
            <a:r>
              <a:rPr sz="1200" b="0" i="0">
                <a:solidFill>
                  <a:srgbClr val="7A3A24"/>
                </a:solidFill>
                <a:latin typeface="Calibri"/>
              </a:rPr>
              <a:t>•  It lost by 0.0027 of correlation — 0.32% of the winning score</a:t>
            </a:r>
          </a:p>
          <a:p>
            <a:pPr algn="l">
              <a:spcAft>
                <a:spcPts val="500"/>
              </a:spcAft>
            </a:pPr>
            <a:r>
              <a:rPr sz="1200" b="0" i="0">
                <a:solidFill>
                  <a:srgbClr val="7A3A24"/>
                </a:solidFill>
                <a:latin typeface="Calibri"/>
              </a:rPr>
              <a:t>•  The pair sits in the 'med' ambiguity stratum — no landmark in view</a:t>
            </a:r>
          </a:p>
        </p:txBody>
      </p:sp>
      <p:sp>
        <p:nvSpPr>
          <p:cNvPr id="7" name="TextBox 6"/>
          <p:cNvSpPr txBox="1"/>
          <p:nvPr/>
        </p:nvSpPr>
        <p:spPr>
          <a:xfrm>
            <a:off x="822960" y="3547872"/>
            <a:ext cx="4937760" cy="274320"/>
          </a:xfrm>
          <a:prstGeom prst="rect">
            <a:avLst/>
          </a:prstGeom>
          <a:noFill/>
        </p:spPr>
        <p:txBody>
          <a:bodyPr wrap="square" lIns="0" rIns="0" tIns="0" bIns="0" anchor="t">
            <a:spAutoFit/>
          </a:bodyPr>
          <a:lstStyle/>
          <a:p>
            <a:pPr algn="l"/>
            <a:r>
              <a:rPr sz="1250" b="1" i="0">
                <a:solidFill>
                  <a:srgbClr val="8A2D18"/>
                </a:solidFill>
                <a:latin typeface="Calibri"/>
              </a:rPr>
              <a:t>Root cause: ranking, not candidate generation.</a:t>
            </a:r>
          </a:p>
        </p:txBody>
      </p:sp>
      <p:sp>
        <p:nvSpPr>
          <p:cNvPr id="8" name="Rounded Rectangle 7"/>
          <p:cNvSpPr/>
          <p:nvPr/>
        </p:nvSpPr>
        <p:spPr>
          <a:xfrm>
            <a:off x="6309360" y="1371600"/>
            <a:ext cx="5303520" cy="2514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536192"/>
            <a:ext cx="4754880" cy="566928"/>
          </a:xfrm>
          <a:prstGeom prst="rect">
            <a:avLst/>
          </a:prstGeom>
          <a:noFill/>
        </p:spPr>
        <p:txBody>
          <a:bodyPr wrap="square" lIns="0" rIns="0" tIns="0" bIns="0" anchor="t">
            <a:spAutoFit/>
          </a:bodyPr>
          <a:lstStyle/>
          <a:p>
            <a:pPr algn="l"/>
            <a:r>
              <a:rPr sz="1450" b="1" i="0">
                <a:solidFill>
                  <a:srgbClr val="0F2233"/>
                </a:solidFill>
                <a:latin typeface="Cambria"/>
              </a:rPr>
              <a:t>Failures concentrate exactly where theory says they must</a:t>
            </a:r>
          </a:p>
        </p:txBody>
      </p:sp>
      <p:sp>
        <p:nvSpPr>
          <p:cNvPr id="10" name="TextBox 9"/>
          <p:cNvSpPr txBox="1"/>
          <p:nvPr/>
        </p:nvSpPr>
        <p:spPr>
          <a:xfrm>
            <a:off x="6583680" y="2121408"/>
            <a:ext cx="4754880" cy="384048"/>
          </a:xfrm>
          <a:prstGeom prst="rect">
            <a:avLst/>
          </a:prstGeom>
          <a:noFill/>
        </p:spPr>
        <p:txBody>
          <a:bodyPr wrap="square" lIns="0" rIns="0" tIns="0" bIns="0" anchor="t">
            <a:spAutoFit/>
          </a:bodyPr>
          <a:lstStyle/>
          <a:p>
            <a:pPr algn="l"/>
            <a:r>
              <a:rPr sz="1050" b="0" i="0">
                <a:solidFill>
                  <a:srgbClr val="5A6B78"/>
                </a:solidFill>
                <a:latin typeface="Calibri"/>
              </a:rPr>
              <a:t>Our generator labels each pair by whether an aperiodic landmark is in view. Stratifying the results by that label:</a:t>
            </a:r>
          </a:p>
        </p:txBody>
      </p:sp>
      <p:graphicFrame>
        <p:nvGraphicFramePr>
          <p:cNvPr id="11" name="Table 10"/>
          <p:cNvGraphicFramePr>
            <a:graphicFrameLocks noGrp="1"/>
          </p:cNvGraphicFramePr>
          <p:nvPr/>
        </p:nvGraphicFramePr>
        <p:xfrm>
          <a:off x="6583680" y="2560320"/>
          <a:ext cx="4754880" cy="822960"/>
        </p:xfrm>
        <a:graphic>
          <a:graphicData uri="http://schemas.openxmlformats.org/drawingml/2006/table">
            <a:tbl>
              <a:tblPr firstRow="1" bandRow="1">
                <a:tableStyleId>{5C22544A-7EE6-4342-B048-85BDC9FD1C3A}</a:tableStyleId>
              </a:tblPr>
              <a:tblGrid>
                <a:gridCol w="1920240"/>
                <a:gridCol w="640080"/>
                <a:gridCol w="1097280"/>
                <a:gridCol w="1097280"/>
              </a:tblGrid>
              <a:tr h="274320">
                <a:tc>
                  <a:txBody>
                    <a:bodyPr wrap="square"/>
                    <a:lstStyle/>
                    <a:p>
                      <a:pPr algn="l"/>
                      <a:r>
                        <a:rPr sz="1100" b="1">
                          <a:solidFill>
                            <a:srgbClr val="FFFFFF"/>
                          </a:solidFill>
                          <a:latin typeface="Calibri"/>
                        </a:rPr>
                        <a:t>Crop contains</a:t>
                      </a:r>
                    </a:p>
                  </a:txBody>
                  <a:tcPr marL="54864" marR="54864" marT="18288" marB="18288" anchor="ctr">
                    <a:solidFill>
                      <a:srgbClr val="1B3A50"/>
                    </a:solidFill>
                  </a:tcPr>
                </a:tc>
                <a:tc>
                  <a:txBody>
                    <a:bodyPr wrap="square"/>
                    <a:lstStyle/>
                    <a:p>
                      <a:pPr algn="ctr"/>
                      <a:r>
                        <a:rPr sz="1100" b="1">
                          <a:solidFill>
                            <a:srgbClr val="FFFFFF"/>
                          </a:solidFill>
                          <a:latin typeface="Calibri"/>
                        </a:rPr>
                        <a:t>n</a:t>
                      </a:r>
                    </a:p>
                  </a:txBody>
                  <a:tcPr marL="54864" marR="54864" marT="18288" marB="18288" anchor="ctr">
                    <a:solidFill>
                      <a:srgbClr val="1B3A50"/>
                    </a:solidFill>
                  </a:tcPr>
                </a:tc>
                <a:tc>
                  <a:txBody>
                    <a:bodyPr wrap="square"/>
                    <a:lstStyle/>
                    <a:p>
                      <a:pPr algn="ctr"/>
                      <a:r>
                        <a:rPr sz="1100" b="1">
                          <a:solidFill>
                            <a:srgbClr val="FFFFFF"/>
                          </a:solidFill>
                          <a:latin typeface="Calibri"/>
                        </a:rPr>
                        <a:t>Mis-lock</a:t>
                      </a:r>
                    </a:p>
                  </a:txBody>
                  <a:tcPr marL="54864" marR="54864" marT="18288" marB="18288" anchor="ctr">
                    <a:solidFill>
                      <a:srgbClr val="1B3A50"/>
                    </a:solidFill>
                  </a:tcPr>
                </a:tc>
                <a:tc>
                  <a:txBody>
                    <a:bodyPr wrap="square"/>
                    <a:lstStyle/>
                    <a:p>
                      <a:pPr algn="ctr"/>
                      <a:r>
                        <a:rPr sz="1100" b="1">
                          <a:solidFill>
                            <a:srgbClr val="FFFFFF"/>
                          </a:solidFill>
                          <a:latin typeface="Calibri"/>
                        </a:rPr>
                        <a:t>@1px</a:t>
                      </a:r>
                    </a:p>
                  </a:txBody>
                  <a:tcPr marL="54864" marR="54864" marT="18288" marB="18288" anchor="ctr">
                    <a:solidFill>
                      <a:srgbClr val="1B3A50"/>
                    </a:solidFill>
                  </a:tcPr>
                </a:tc>
              </a:tr>
              <a:tr h="274320">
                <a:tc>
                  <a:txBody>
                    <a:bodyPr wrap="square"/>
                    <a:lstStyle/>
                    <a:p>
                      <a:pPr algn="l"/>
                      <a:r>
                        <a:rPr sz="1100" b="0">
                          <a:solidFill>
                            <a:srgbClr val="35424D"/>
                          </a:solidFill>
                          <a:latin typeface="Calibri"/>
                        </a:rPr>
                        <a:t>a mat boundary</a:t>
                      </a:r>
                    </a:p>
                  </a:txBody>
                  <a:tcPr marL="54864" marR="54864" marT="18288" marB="18288" anchor="ctr">
                    <a:solidFill>
                      <a:srgbClr val="FFFFFF"/>
                    </a:solidFill>
                  </a:tcPr>
                </a:tc>
                <a:tc>
                  <a:txBody>
                    <a:bodyPr wrap="square"/>
                    <a:lstStyle/>
                    <a:p>
                      <a:pPr algn="ctr"/>
                      <a:r>
                        <a:rPr sz="1100" b="0">
                          <a:solidFill>
                            <a:srgbClr val="35424D"/>
                          </a:solidFill>
                          <a:latin typeface="Calibri"/>
                        </a:rPr>
                        <a:t>21</a:t>
                      </a:r>
                    </a:p>
                  </a:txBody>
                  <a:tcPr marL="54864" marR="54864" marT="18288" marB="18288" anchor="ctr">
                    <a:solidFill>
                      <a:srgbClr val="FFFFFF"/>
                    </a:solidFill>
                  </a:tcPr>
                </a:tc>
                <a:tc>
                  <a:txBody>
                    <a:bodyPr wrap="square"/>
                    <a:lstStyle/>
                    <a:p>
                      <a:pPr algn="ctr"/>
                      <a:r>
                        <a:rPr sz="1100" b="0">
                          <a:solidFill>
                            <a:srgbClr val="35424D"/>
                          </a:solidFill>
                          <a:latin typeface="Calibri"/>
                        </a:rPr>
                        <a:t>10%</a:t>
                      </a:r>
                    </a:p>
                  </a:txBody>
                  <a:tcPr marL="54864" marR="54864" marT="18288" marB="18288" anchor="ctr">
                    <a:solidFill>
                      <a:srgbClr val="FFFFFF"/>
                    </a:solidFill>
                  </a:tcPr>
                </a:tc>
                <a:tc>
                  <a:txBody>
                    <a:bodyPr wrap="square"/>
                    <a:lstStyle/>
                    <a:p>
                      <a:pPr algn="ctr"/>
                      <a:r>
                        <a:rPr sz="1100" b="0">
                          <a:solidFill>
                            <a:srgbClr val="35424D"/>
                          </a:solidFill>
                          <a:latin typeface="Calibri"/>
                        </a:rPr>
                        <a:t>90%</a:t>
                      </a:r>
                    </a:p>
                  </a:txBody>
                  <a:tcPr marL="54864" marR="54864" marT="18288" marB="18288" anchor="ctr">
                    <a:solidFill>
                      <a:srgbClr val="FFFFFF"/>
                    </a:solidFill>
                  </a:tcPr>
                </a:tc>
              </a:tr>
              <a:tr h="274320">
                <a:tc>
                  <a:txBody>
                    <a:bodyPr wrap="square"/>
                    <a:lstStyle/>
                    <a:p>
                      <a:pPr algn="l"/>
                      <a:r>
                        <a:rPr sz="1100" b="0">
                          <a:solidFill>
                            <a:srgbClr val="35424D"/>
                          </a:solidFill>
                          <a:latin typeface="Calibri"/>
                        </a:rPr>
                        <a:t>only lattice</a:t>
                      </a:r>
                    </a:p>
                  </a:txBody>
                  <a:tcPr marL="54864" marR="54864" marT="18288" marB="18288" anchor="ctr">
                    <a:solidFill>
                      <a:srgbClr val="ECF1F4"/>
                    </a:solidFill>
                  </a:tcPr>
                </a:tc>
                <a:tc>
                  <a:txBody>
                    <a:bodyPr wrap="square"/>
                    <a:lstStyle/>
                    <a:p>
                      <a:pPr algn="ctr"/>
                      <a:r>
                        <a:rPr sz="1100" b="0">
                          <a:solidFill>
                            <a:srgbClr val="35424D"/>
                          </a:solidFill>
                          <a:latin typeface="Calibri"/>
                        </a:rPr>
                        <a:t>9</a:t>
                      </a:r>
                    </a:p>
                  </a:txBody>
                  <a:tcPr marL="54864" marR="54864" marT="18288" marB="18288" anchor="ctr">
                    <a:solidFill>
                      <a:srgbClr val="ECF1F4"/>
                    </a:solidFill>
                  </a:tcPr>
                </a:tc>
                <a:tc>
                  <a:txBody>
                    <a:bodyPr wrap="square"/>
                    <a:lstStyle/>
                    <a:p>
                      <a:pPr algn="ctr"/>
                      <a:r>
                        <a:rPr sz="1100" b="0">
                          <a:solidFill>
                            <a:srgbClr val="35424D"/>
                          </a:solidFill>
                          <a:latin typeface="Calibri"/>
                        </a:rPr>
                        <a:t>56%</a:t>
                      </a:r>
                    </a:p>
                  </a:txBody>
                  <a:tcPr marL="54864" marR="54864" marT="18288" marB="18288" anchor="ctr">
                    <a:solidFill>
                      <a:srgbClr val="ECF1F4"/>
                    </a:solidFill>
                  </a:tcPr>
                </a:tc>
                <a:tc>
                  <a:txBody>
                    <a:bodyPr wrap="square"/>
                    <a:lstStyle/>
                    <a:p>
                      <a:pPr algn="ctr"/>
                      <a:r>
                        <a:rPr sz="1100" b="0">
                          <a:solidFill>
                            <a:srgbClr val="35424D"/>
                          </a:solidFill>
                          <a:latin typeface="Calibri"/>
                        </a:rPr>
                        <a:t>33%</a:t>
                      </a:r>
                    </a:p>
                  </a:txBody>
                  <a:tcPr marL="54864" marR="54864" marT="18288" marB="18288" anchor="ctr">
                    <a:solidFill>
                      <a:srgbClr val="ECF1F4"/>
                    </a:solidFill>
                  </a:tcPr>
                </a:tc>
              </a:tr>
            </a:tbl>
          </a:graphicData>
        </a:graphic>
      </p:graphicFrame>
      <p:sp>
        <p:nvSpPr>
          <p:cNvPr id="12" name="TextBox 11"/>
          <p:cNvSpPr txBox="1"/>
          <p:nvPr/>
        </p:nvSpPr>
        <p:spPr>
          <a:xfrm>
            <a:off x="6583680" y="3529584"/>
            <a:ext cx="4754880" cy="329184"/>
          </a:xfrm>
          <a:prstGeom prst="rect">
            <a:avLst/>
          </a:prstGeom>
          <a:noFill/>
        </p:spPr>
        <p:txBody>
          <a:bodyPr wrap="square" lIns="0" rIns="0" tIns="0" bIns="0" anchor="t">
            <a:spAutoFit/>
          </a:bodyPr>
          <a:lstStyle/>
          <a:p>
            <a:pPr algn="l"/>
            <a:r>
              <a:rPr sz="950" b="0" i="1">
                <a:solidFill>
                  <a:srgbClr val="5A6B78"/>
                </a:solidFill>
                <a:latin typeface="Calibri"/>
              </a:rPr>
              <a:t>5 of the 7 failures fall in those 9 pairs. The method fails precisely where the information needed to succeed is absent — the honest definition of the problem's limit.</a:t>
            </a:r>
          </a:p>
        </p:txBody>
      </p:sp>
      <p:sp>
        <p:nvSpPr>
          <p:cNvPr id="13" name="TextBox 12"/>
          <p:cNvSpPr txBox="1"/>
          <p:nvPr/>
        </p:nvSpPr>
        <p:spPr>
          <a:xfrm>
            <a:off x="548640" y="4023360"/>
            <a:ext cx="11064240" cy="320040"/>
          </a:xfrm>
          <a:prstGeom prst="rect">
            <a:avLst/>
          </a:prstGeom>
          <a:noFill/>
        </p:spPr>
        <p:txBody>
          <a:bodyPr wrap="square" lIns="0" rIns="0" tIns="0" bIns="0" anchor="t">
            <a:spAutoFit/>
          </a:bodyPr>
          <a:lstStyle/>
          <a:p>
            <a:pPr algn="l"/>
            <a:r>
              <a:rPr sz="1600" b="1" i="0">
                <a:solidFill>
                  <a:srgbClr val="0F2233"/>
                </a:solidFill>
                <a:latin typeface="Cambria"/>
              </a:rPr>
              <a:t>Limitations, stated rather than left to be found</a:t>
            </a:r>
          </a:p>
        </p:txBody>
      </p:sp>
      <p:sp>
        <p:nvSpPr>
          <p:cNvPr id="14" name="Rounded Rectangle 13"/>
          <p:cNvSpPr/>
          <p:nvPr/>
        </p:nvSpPr>
        <p:spPr>
          <a:xfrm>
            <a:off x="548640" y="4480560"/>
            <a:ext cx="3520440" cy="141732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4645152"/>
            <a:ext cx="3154680" cy="274320"/>
          </a:xfrm>
          <a:prstGeom prst="rect">
            <a:avLst/>
          </a:prstGeom>
          <a:noFill/>
        </p:spPr>
        <p:txBody>
          <a:bodyPr wrap="square" lIns="0" rIns="0" tIns="0" bIns="0" anchor="t">
            <a:spAutoFit/>
          </a:bodyPr>
          <a:lstStyle/>
          <a:p>
            <a:pPr algn="l"/>
            <a:r>
              <a:rPr sz="1200" b="1" i="0">
                <a:solidFill>
                  <a:srgbClr val="C4462F"/>
                </a:solidFill>
                <a:latin typeface="Calibri"/>
              </a:rPr>
              <a:t>Selection is still the cap</a:t>
            </a:r>
          </a:p>
        </p:txBody>
      </p:sp>
      <p:sp>
        <p:nvSpPr>
          <p:cNvPr id="16" name="TextBox 15"/>
          <p:cNvSpPr txBox="1"/>
          <p:nvPr/>
        </p:nvSpPr>
        <p:spPr>
          <a:xfrm>
            <a:off x="749808" y="4937760"/>
            <a:ext cx="3154680" cy="868680"/>
          </a:xfrm>
          <a:prstGeom prst="rect">
            <a:avLst/>
          </a:prstGeom>
          <a:noFill/>
        </p:spPr>
        <p:txBody>
          <a:bodyPr wrap="square" lIns="0" rIns="0" tIns="0" bIns="0" anchor="t">
            <a:spAutoFit/>
          </a:bodyPr>
          <a:lstStyle/>
          <a:p>
            <a:pPr algn="l"/>
            <a:r>
              <a:rPr sz="1000" b="0" i="0">
                <a:solidFill>
                  <a:srgbClr val="5A6B78"/>
                </a:solidFill>
                <a:latin typeface="Calibri"/>
              </a:rPr>
              <a:t>Every pass rate is capped by the mis-lock rate. The truth is in the top-20 on 28/30 pairs (93.3%), so a perfect re-ranker would still have room to roughly halve what remains.</a:t>
            </a:r>
          </a:p>
        </p:txBody>
      </p:sp>
      <p:sp>
        <p:nvSpPr>
          <p:cNvPr id="17" name="Rounded Rectangle 16"/>
          <p:cNvSpPr/>
          <p:nvPr/>
        </p:nvSpPr>
        <p:spPr>
          <a:xfrm>
            <a:off x="4343400" y="4480560"/>
            <a:ext cx="3520440" cy="141732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44568" y="4645152"/>
            <a:ext cx="3154680" cy="274320"/>
          </a:xfrm>
          <a:prstGeom prst="rect">
            <a:avLst/>
          </a:prstGeom>
          <a:noFill/>
        </p:spPr>
        <p:txBody>
          <a:bodyPr wrap="square" lIns="0" rIns="0" tIns="0" bIns="0" anchor="t">
            <a:spAutoFit/>
          </a:bodyPr>
          <a:lstStyle/>
          <a:p>
            <a:pPr algn="l"/>
            <a:r>
              <a:rPr sz="1200" b="1" i="0">
                <a:solidFill>
                  <a:srgbClr val="C4462F"/>
                </a:solidFill>
                <a:latin typeface="Calibri"/>
              </a:rPr>
              <a:t>Runtime above our own target</a:t>
            </a:r>
          </a:p>
        </p:txBody>
      </p:sp>
      <p:sp>
        <p:nvSpPr>
          <p:cNvPr id="19" name="TextBox 18"/>
          <p:cNvSpPr txBox="1"/>
          <p:nvPr/>
        </p:nvSpPr>
        <p:spPr>
          <a:xfrm>
            <a:off x="4544568" y="4937760"/>
            <a:ext cx="3154680" cy="868680"/>
          </a:xfrm>
          <a:prstGeom prst="rect">
            <a:avLst/>
          </a:prstGeom>
          <a:noFill/>
        </p:spPr>
        <p:txBody>
          <a:bodyPr wrap="square" lIns="0" rIns="0" tIns="0" bIns="0" anchor="t">
            <a:spAutoFit/>
          </a:bodyPr>
          <a:lstStyle/>
          <a:p>
            <a:pPr algn="l"/>
            <a:r>
              <a:rPr sz="1000" b="0" i="0">
                <a:solidFill>
                  <a:srgbClr val="5A6B78"/>
                </a:solidFill>
                <a:latin typeface="Calibri"/>
              </a:rPr>
              <a:t>About 1190 ms per pair against a 300 ms goal. The per-candidate refit is most of it; top_k is the dial. We took 9 points of mis-lock for the time.</a:t>
            </a:r>
          </a:p>
        </p:txBody>
      </p:sp>
      <p:sp>
        <p:nvSpPr>
          <p:cNvPr id="20" name="Rounded Rectangle 19"/>
          <p:cNvSpPr/>
          <p:nvPr/>
        </p:nvSpPr>
        <p:spPr>
          <a:xfrm>
            <a:off x="8138160" y="4480560"/>
            <a:ext cx="3520440" cy="141732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4645152"/>
            <a:ext cx="3154680" cy="274320"/>
          </a:xfrm>
          <a:prstGeom prst="rect">
            <a:avLst/>
          </a:prstGeom>
          <a:noFill/>
        </p:spPr>
        <p:txBody>
          <a:bodyPr wrap="square" lIns="0" rIns="0" tIns="0" bIns="0" anchor="t">
            <a:spAutoFit/>
          </a:bodyPr>
          <a:lstStyle/>
          <a:p>
            <a:pPr algn="l"/>
            <a:r>
              <a:rPr sz="1200" b="1" i="0">
                <a:solidFill>
                  <a:srgbClr val="C4462F"/>
                </a:solidFill>
                <a:latin typeface="Calibri"/>
              </a:rPr>
              <a:t>Untested axes remain</a:t>
            </a:r>
          </a:p>
        </p:txBody>
      </p:sp>
      <p:sp>
        <p:nvSpPr>
          <p:cNvPr id="22" name="TextBox 21"/>
          <p:cNvSpPr txBox="1"/>
          <p:nvPr/>
        </p:nvSpPr>
        <p:spPr>
          <a:xfrm>
            <a:off x="8339328" y="4937760"/>
            <a:ext cx="3154680" cy="868680"/>
          </a:xfrm>
          <a:prstGeom prst="rect">
            <a:avLst/>
          </a:prstGeom>
          <a:noFill/>
        </p:spPr>
        <p:txBody>
          <a:bodyPr wrap="square" lIns="0" rIns="0" tIns="0" bIns="0" anchor="t">
            <a:spAutoFit/>
          </a:bodyPr>
          <a:lstStyle/>
          <a:p>
            <a:pPr algn="l"/>
            <a:r>
              <a:rPr sz="1000" b="0" i="0">
                <a:solidFill>
                  <a:srgbClr val="5A6B78"/>
                </a:solidFill>
                <a:latin typeface="Calibri"/>
              </a:rPr>
              <a:t>Barrel distortion, astigmatism, charging streaks and impulse noise are modelled but not stratified — untested, not proven harmless.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233"/>
        </a:solidFill>
        <a:effectLst/>
      </p:bgPr>
    </p:bg>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lIns="0" rIns="0" tIns="0" bIns="0" anchor="t">
            <a:spAutoFit/>
          </a:bodyPr>
          <a:lstStyle/>
          <a:p>
            <a:pPr algn="l"/>
            <a:r>
              <a:rPr sz="3100" b="1" i="0">
                <a:solidFill>
                  <a:srgbClr val="FFFFFF"/>
                </a:solidFill>
                <a:latin typeface="Cambria"/>
              </a:rPr>
              <a:t>What we built, and what we learned</a:t>
            </a:r>
          </a:p>
        </p:txBody>
      </p:sp>
      <p:sp>
        <p:nvSpPr>
          <p:cNvPr id="3" name="Rounded Rectangle 2"/>
          <p:cNvSpPr/>
          <p:nvPr/>
        </p:nvSpPr>
        <p:spPr>
          <a:xfrm>
            <a:off x="548640" y="1325880"/>
            <a:ext cx="3520440" cy="1143000"/>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90472"/>
            <a:ext cx="3063240" cy="457200"/>
          </a:xfrm>
          <a:prstGeom prst="rect">
            <a:avLst/>
          </a:prstGeom>
          <a:noFill/>
        </p:spPr>
        <p:txBody>
          <a:bodyPr wrap="square" lIns="0" rIns="0" tIns="0" bIns="0" anchor="t">
            <a:spAutoFit/>
          </a:bodyPr>
          <a:lstStyle/>
          <a:p>
            <a:pPr algn="l"/>
            <a:r>
              <a:rPr sz="2000" b="1" i="0">
                <a:solidFill>
                  <a:srgbClr val="F2A65A"/>
                </a:solidFill>
                <a:latin typeface="Cambria"/>
              </a:rPr>
              <a:t>76.7% → 23.3%</a:t>
            </a:r>
          </a:p>
        </p:txBody>
      </p:sp>
      <p:sp>
        <p:nvSpPr>
          <p:cNvPr id="5" name="TextBox 4"/>
          <p:cNvSpPr txBox="1"/>
          <p:nvPr/>
        </p:nvSpPr>
        <p:spPr>
          <a:xfrm>
            <a:off x="777240" y="1965960"/>
            <a:ext cx="3063240" cy="320040"/>
          </a:xfrm>
          <a:prstGeom prst="rect">
            <a:avLst/>
          </a:prstGeom>
          <a:noFill/>
        </p:spPr>
        <p:txBody>
          <a:bodyPr wrap="square" lIns="0" rIns="0" tIns="0" bIns="0" anchor="t">
            <a:spAutoFit/>
          </a:bodyPr>
          <a:lstStyle/>
          <a:p>
            <a:pPr algn="l"/>
            <a:r>
              <a:rPr sz="1050" b="0" i="0">
                <a:solidFill>
                  <a:srgbClr val="9FB4C2"/>
                </a:solidFill>
                <a:latin typeface="Calibri"/>
              </a:rPr>
              <a:t>Mis-lock, held-out DRAM bench</a:t>
            </a:r>
          </a:p>
        </p:txBody>
      </p:sp>
      <p:sp>
        <p:nvSpPr>
          <p:cNvPr id="6" name="Rounded Rectangle 5"/>
          <p:cNvSpPr/>
          <p:nvPr/>
        </p:nvSpPr>
        <p:spPr>
          <a:xfrm>
            <a:off x="4343400" y="1325880"/>
            <a:ext cx="3520440" cy="1143000"/>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490472"/>
            <a:ext cx="3063240" cy="457200"/>
          </a:xfrm>
          <a:prstGeom prst="rect">
            <a:avLst/>
          </a:prstGeom>
          <a:noFill/>
        </p:spPr>
        <p:txBody>
          <a:bodyPr wrap="square" lIns="0" rIns="0" tIns="0" bIns="0" anchor="t">
            <a:spAutoFit/>
          </a:bodyPr>
          <a:lstStyle/>
          <a:p>
            <a:pPr algn="l"/>
            <a:r>
              <a:rPr sz="2000" b="1" i="0">
                <a:solidFill>
                  <a:srgbClr val="F2A65A"/>
                </a:solidFill>
                <a:latin typeface="Cambria"/>
              </a:rPr>
              <a:t>90.0% → 16.7%</a:t>
            </a:r>
          </a:p>
        </p:txBody>
      </p:sp>
      <p:sp>
        <p:nvSpPr>
          <p:cNvPr id="8" name="TextBox 7"/>
          <p:cNvSpPr txBox="1"/>
          <p:nvPr/>
        </p:nvSpPr>
        <p:spPr>
          <a:xfrm>
            <a:off x="4572000" y="1965960"/>
            <a:ext cx="3063240" cy="320040"/>
          </a:xfrm>
          <a:prstGeom prst="rect">
            <a:avLst/>
          </a:prstGeom>
          <a:noFill/>
        </p:spPr>
        <p:txBody>
          <a:bodyPr wrap="square" lIns="0" rIns="0" tIns="0" bIns="0" anchor="t">
            <a:spAutoFit/>
          </a:bodyPr>
          <a:lstStyle/>
          <a:p>
            <a:pPr algn="l"/>
            <a:r>
              <a:rPr sz="1050" b="0" i="0">
                <a:solidFill>
                  <a:srgbClr val="9FB4C2"/>
                </a:solidFill>
                <a:latin typeface="Calibri"/>
              </a:rPr>
              <a:t>Mis-lock, held-out FinFET</a:t>
            </a:r>
          </a:p>
        </p:txBody>
      </p:sp>
      <p:sp>
        <p:nvSpPr>
          <p:cNvPr id="9" name="Rounded Rectangle 8"/>
          <p:cNvSpPr/>
          <p:nvPr/>
        </p:nvSpPr>
        <p:spPr>
          <a:xfrm>
            <a:off x="8138160" y="1325880"/>
            <a:ext cx="3520440" cy="1143000"/>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490472"/>
            <a:ext cx="3063240" cy="457200"/>
          </a:xfrm>
          <a:prstGeom prst="rect">
            <a:avLst/>
          </a:prstGeom>
          <a:noFill/>
        </p:spPr>
        <p:txBody>
          <a:bodyPr wrap="square" lIns="0" rIns="0" tIns="0" bIns="0" anchor="t">
            <a:spAutoFit/>
          </a:bodyPr>
          <a:lstStyle/>
          <a:p>
            <a:pPr algn="l"/>
            <a:r>
              <a:rPr sz="2000" b="1" i="0">
                <a:solidFill>
                  <a:srgbClr val="F2A65A"/>
                </a:solidFill>
                <a:latin typeface="Cambria"/>
              </a:rPr>
              <a:t>17.5% → 67.5%</a:t>
            </a:r>
          </a:p>
        </p:txBody>
      </p:sp>
      <p:sp>
        <p:nvSpPr>
          <p:cNvPr id="11" name="TextBox 10"/>
          <p:cNvSpPr txBox="1"/>
          <p:nvPr/>
        </p:nvSpPr>
        <p:spPr>
          <a:xfrm>
            <a:off x="8366760" y="1965960"/>
            <a:ext cx="3063240" cy="320040"/>
          </a:xfrm>
          <a:prstGeom prst="rect">
            <a:avLst/>
          </a:prstGeom>
          <a:noFill/>
        </p:spPr>
        <p:txBody>
          <a:bodyPr wrap="square" lIns="0" rIns="0" tIns="0" bIns="0" anchor="t">
            <a:spAutoFit/>
          </a:bodyPr>
          <a:lstStyle/>
          <a:p>
            <a:pPr algn="l"/>
            <a:r>
              <a:rPr sz="1050" b="0" i="0">
                <a:solidFill>
                  <a:srgbClr val="9FB4C2"/>
                </a:solidFill>
                <a:latin typeface="Calibri"/>
              </a:rPr>
              <a:t>Sub-pixel rate, sponsor data</a:t>
            </a:r>
          </a:p>
        </p:txBody>
      </p:sp>
      <p:sp>
        <p:nvSpPr>
          <p:cNvPr id="12" name="TextBox 11"/>
          <p:cNvSpPr txBox="1"/>
          <p:nvPr/>
        </p:nvSpPr>
        <p:spPr>
          <a:xfrm>
            <a:off x="548640" y="2743200"/>
            <a:ext cx="11064240" cy="365760"/>
          </a:xfrm>
          <a:prstGeom prst="rect">
            <a:avLst/>
          </a:prstGeom>
          <a:noFill/>
        </p:spPr>
        <p:txBody>
          <a:bodyPr wrap="square" lIns="0" rIns="0" tIns="0" bIns="0" anchor="t">
            <a:spAutoFit/>
          </a:bodyPr>
          <a:lstStyle/>
          <a:p>
            <a:pPr algn="l"/>
            <a:r>
              <a:rPr sz="1600" b="1" i="0">
                <a:solidFill>
                  <a:srgbClr val="FFFFFF"/>
                </a:solidFill>
                <a:latin typeface="Cambria"/>
              </a:rPr>
              <a:t>The three findings we would carry to any similar problem</a:t>
            </a:r>
          </a:p>
        </p:txBody>
      </p:sp>
      <p:sp>
        <p:nvSpPr>
          <p:cNvPr id="13" name="Oval 12"/>
          <p:cNvSpPr/>
          <p:nvPr/>
        </p:nvSpPr>
        <p:spPr>
          <a:xfrm>
            <a:off x="566928" y="3200400"/>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14" name="TextBox 13"/>
          <p:cNvSpPr txBox="1"/>
          <p:nvPr/>
        </p:nvSpPr>
        <p:spPr>
          <a:xfrm>
            <a:off x="1097280" y="3182112"/>
            <a:ext cx="10332720" cy="274320"/>
          </a:xfrm>
          <a:prstGeom prst="rect">
            <a:avLst/>
          </a:prstGeom>
          <a:noFill/>
        </p:spPr>
        <p:txBody>
          <a:bodyPr wrap="square" lIns="0" rIns="0" tIns="0" bIns="0" anchor="t">
            <a:spAutoFit/>
          </a:bodyPr>
          <a:lstStyle/>
          <a:p>
            <a:pPr algn="l"/>
            <a:r>
              <a:rPr sz="1250" b="1" i="0">
                <a:solidFill>
                  <a:srgbClr val="FFFFFF"/>
                </a:solidFill>
                <a:latin typeface="Calibri"/>
              </a:rPr>
              <a:t>Own the generator, or you cannot see your own blind spots.</a:t>
            </a:r>
          </a:p>
        </p:txBody>
      </p:sp>
      <p:sp>
        <p:nvSpPr>
          <p:cNvPr id="15" name="TextBox 14"/>
          <p:cNvSpPr txBox="1"/>
          <p:nvPr/>
        </p:nvSpPr>
        <p:spPr>
          <a:xfrm>
            <a:off x="1097280" y="3447288"/>
            <a:ext cx="10332720" cy="566928"/>
          </a:xfrm>
          <a:prstGeom prst="rect">
            <a:avLst/>
          </a:prstGeom>
          <a:noFill/>
        </p:spPr>
        <p:txBody>
          <a:bodyPr wrap="square" lIns="0" rIns="0" tIns="0" bIns="0" anchor="t">
            <a:spAutoFit/>
          </a:bodyPr>
          <a:lstStyle/>
          <a:p>
            <a:pPr algn="l"/>
            <a:r>
              <a:rPr sz="1000" b="0" i="0">
                <a:solidFill>
                  <a:srgbClr val="9FB4C2"/>
                </a:solidFill>
                <a:latin typeface="Calibri"/>
              </a:rPr>
              <a:t>Two bugs were structurally invisible in the published data — a half-pixel ground-truth convention, and a drift estimator that silently mistook rotation for drift. Neither could ever have surfaced on a generator that produces no rotation.</a:t>
            </a:r>
          </a:p>
        </p:txBody>
      </p:sp>
      <p:sp>
        <p:nvSpPr>
          <p:cNvPr id="16" name="Oval 15"/>
          <p:cNvSpPr/>
          <p:nvPr/>
        </p:nvSpPr>
        <p:spPr>
          <a:xfrm>
            <a:off x="566928" y="4133087"/>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17" name="TextBox 16"/>
          <p:cNvSpPr txBox="1"/>
          <p:nvPr/>
        </p:nvSpPr>
        <p:spPr>
          <a:xfrm>
            <a:off x="1097280" y="4114800"/>
            <a:ext cx="10332720" cy="274320"/>
          </a:xfrm>
          <a:prstGeom prst="rect">
            <a:avLst/>
          </a:prstGeom>
          <a:noFill/>
        </p:spPr>
        <p:txBody>
          <a:bodyPr wrap="square" lIns="0" rIns="0" tIns="0" bIns="0" anchor="t">
            <a:spAutoFit/>
          </a:bodyPr>
          <a:lstStyle/>
          <a:p>
            <a:pPr algn="l"/>
            <a:r>
              <a:rPr sz="1250" b="1" i="0">
                <a:solidFill>
                  <a:srgbClr val="FFFFFF"/>
                </a:solidFill>
                <a:latin typeface="Calibri"/>
              </a:rPr>
              <a:t>Ask what makes two effects physically different, not how to estimate one better.</a:t>
            </a:r>
          </a:p>
        </p:txBody>
      </p:sp>
      <p:sp>
        <p:nvSpPr>
          <p:cNvPr id="18" name="TextBox 17"/>
          <p:cNvSpPr txBox="1"/>
          <p:nvPr/>
        </p:nvSpPr>
        <p:spPr>
          <a:xfrm>
            <a:off x="1097280" y="4379975"/>
            <a:ext cx="10332720" cy="566928"/>
          </a:xfrm>
          <a:prstGeom prst="rect">
            <a:avLst/>
          </a:prstGeom>
          <a:noFill/>
        </p:spPr>
        <p:txBody>
          <a:bodyPr wrap="square" lIns="0" rIns="0" tIns="0" bIns="0" anchor="t">
            <a:spAutoFit/>
          </a:bodyPr>
          <a:lstStyle/>
          <a:p>
            <a:pPr algn="l"/>
            <a:r>
              <a:rPr sz="1000" b="0" i="0">
                <a:solidFill>
                  <a:srgbClr val="9FB4C2"/>
                </a:solidFill>
                <a:latin typeface="Calibri"/>
              </a:rPr>
              <a:t>Drift and rotation were inseparable by any single measurement, and subtracting an estimate made things worse than doing nothing. Measuring both axes made the tilt cancel exactly, with no parameter to tune.</a:t>
            </a:r>
          </a:p>
        </p:txBody>
      </p:sp>
      <p:sp>
        <p:nvSpPr>
          <p:cNvPr id="19" name="Oval 18"/>
          <p:cNvSpPr/>
          <p:nvPr/>
        </p:nvSpPr>
        <p:spPr>
          <a:xfrm>
            <a:off x="566928" y="5065776"/>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20" name="TextBox 19"/>
          <p:cNvSpPr txBox="1"/>
          <p:nvPr/>
        </p:nvSpPr>
        <p:spPr>
          <a:xfrm>
            <a:off x="1097280" y="5047488"/>
            <a:ext cx="10332720" cy="274320"/>
          </a:xfrm>
          <a:prstGeom prst="rect">
            <a:avLst/>
          </a:prstGeom>
          <a:noFill/>
        </p:spPr>
        <p:txBody>
          <a:bodyPr wrap="square" lIns="0" rIns="0" tIns="0" bIns="0" anchor="t">
            <a:spAutoFit/>
          </a:bodyPr>
          <a:lstStyle/>
          <a:p>
            <a:pPr algn="l"/>
            <a:r>
              <a:rPr sz="1250" b="1" i="0">
                <a:solidFill>
                  <a:srgbClr val="FFFFFF"/>
                </a:solidFill>
                <a:latin typeface="Calibri"/>
              </a:rPr>
              <a:t>The elegant method has to win on measurement like everything else.</a:t>
            </a:r>
          </a:p>
        </p:txBody>
      </p:sp>
      <p:sp>
        <p:nvSpPr>
          <p:cNvPr id="21" name="TextBox 20"/>
          <p:cNvSpPr txBox="1"/>
          <p:nvPr/>
        </p:nvSpPr>
        <p:spPr>
          <a:xfrm>
            <a:off x="1097280" y="5312664"/>
            <a:ext cx="10332720" cy="566928"/>
          </a:xfrm>
          <a:prstGeom prst="rect">
            <a:avLst/>
          </a:prstGeom>
          <a:noFill/>
        </p:spPr>
        <p:txBody>
          <a:bodyPr wrap="square" lIns="0" rIns="0" tIns="0" bIns="0" anchor="t">
            <a:spAutoFit/>
          </a:bodyPr>
          <a:lstStyle/>
          <a:p>
            <a:pPr algn="l"/>
            <a:r>
              <a:rPr sz="1000" b="0" i="0">
                <a:solidFill>
                  <a:srgbClr val="9FB4C2"/>
                </a:solidFill>
                <a:latin typeface="Calibri"/>
              </a:rPr>
              <a:t>Reading magnification off the lattice is the idea this project is named for. It lost to a coarse pyramid search, because a 1000 nm reference spans as few as four lattice periods — a fine ruler, but a short one.</a:t>
            </a:r>
          </a:p>
        </p:txBody>
      </p:sp>
      <p:sp>
        <p:nvSpPr>
          <p:cNvPr id="22" name="TextBox 21"/>
          <p:cNvSpPr txBox="1"/>
          <p:nvPr/>
        </p:nvSpPr>
        <p:spPr>
          <a:xfrm>
            <a:off x="548640" y="6080760"/>
            <a:ext cx="11064240" cy="320040"/>
          </a:xfrm>
          <a:prstGeom prst="rect">
            <a:avLst/>
          </a:prstGeom>
          <a:noFill/>
        </p:spPr>
        <p:txBody>
          <a:bodyPr wrap="square" lIns="0" rIns="0" tIns="0" bIns="0" anchor="t">
            <a:spAutoFit/>
          </a:bodyPr>
          <a:lstStyle/>
          <a:p>
            <a:pPr algn="l"/>
            <a:r>
              <a:rPr sz="1150" b="0" i="1">
                <a:solidFill>
                  <a:srgbClr val="F2A65A"/>
                </a:solidFill>
                <a:latin typeface="Calibri"/>
              </a:rPr>
              <a:t>Next: the correct answer is still in the candidate set on 28/30 pairs, so selection remains the cap — and the one stage that beat it did so by removing a handicap, not by scoring harder.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